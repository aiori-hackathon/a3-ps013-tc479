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05CC6C1-5C1F-CF3E-4DD2-ACFAE503AF9E}">
          <p14:sldIdLst>
            <p14:sldId id="256"/>
          </p14:sldIdLst>
        </p14:section>
        <p14:section name="Abstract" id="{7597BB81-840B-098A-1648-6C9F27242760}">
          <p14:sldIdLst>
            <p14:sldId id="257"/>
          </p14:sldIdLst>
        </p14:section>
        <p14:section name="Background" id="{B4C4E1E5-6A60-585E-0A8D-EE3181377858}">
          <p14:sldIdLst>
            <p14:sldId id="258"/>
          </p14:sldIdLst>
        </p14:section>
        <p14:section name="Literature &amp; RFC Review" id="{563DE401-5579-AF91-EF24-D9FEE86AF1A6}">
          <p14:sldIdLst>
            <p14:sldId id="259"/>
          </p14:sldIdLst>
        </p14:section>
        <p14:section name="Proposed Solution" id="{DA625525-51CE-98C0-E8FF-656700651AFE}">
          <p14:sldIdLst>
            <p14:sldId id="260"/>
          </p14:sldIdLst>
        </p14:section>
        <p14:section name="Solution Optimization" id="{8276C24B-F2FF-70E2-297E-CEBD6FE581B3}">
          <p14:sldIdLst>
            <p14:sldId id="261"/>
          </p14:sldIdLst>
        </p14:section>
        <p14:section name="Architecture Design (UML Diagram)" id="{C4A26B99-8775-AE3D-0DF0-72BBBB2567B0}">
          <p14:sldIdLst>
            <p14:sldId id="262"/>
          </p14:sldIdLst>
        </p14:section>
        <p14:section name="Data Flow Diagram" id="{C9E8CDAF-EB31-F1E5-3522-F84EBC56C954}">
          <p14:sldIdLst>
            <p14:sldId id="263"/>
          </p14:sldIdLst>
        </p14:section>
        <p14:section name="Deployment Timeline" id="{6E549780-BEB5-393F-0608-3919DABF21F1}">
          <p14:sldIdLst>
            <p14:sldId id="264"/>
          </p14:sldIdLst>
        </p14:section>
        <p14:section name="Bibliography" id="{58597661-6589-16C9-CA76-52FA22CCEAA6}">
          <p14:sldIdLst>
            <p14:sldId id="265"/>
          </p14:sldIdLst>
        </p14:section>
        <p14:section name="Thank You" id="{F31FB23D-2091-E17F-3060-972F2FAA946C}">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1A1A2E"/>
                </a:solidFill>
                <a:latin typeface="+mn-lt"/>
              </a:defRPr>
            </a:pPr>
            <a:r>
              <a:rPr sz="1050" b="0" i="0" u="none" strike="noStrike">
                <a:solidFill>
                  <a:srgbClr val="1A1A2E"/>
                </a:solidFill>
                <a:latin typeface="+mn-lt"/>
              </a:rPr>
              <a:t>IPs flagged as scanners (real Nginx log, 51,462 lines)</a:t>
            </a:r>
          </a:p>
        </c:rich>
      </c:tx>
      <c:overlay val="0"/>
    </c:title>
    <c:autoTitleDeleted val="0"/>
    <c:plotArea>
      <c:layout/>
      <c:barChart>
        <c:barDir val="col"/>
        <c:grouping val="clustered"/>
        <c:varyColors val="0"/>
        <c:ser>
          <c:idx val="0"/>
          <c:order val="0"/>
          <c:tx>
            <c:strRef>
              <c:f>Sheet1!$B$1</c:f>
              <c:strCache>
                <c:ptCount val="1"/>
                <c:pt idx="0">
                  <c:v>IPs flagged</c:v>
                </c:pt>
              </c:strCache>
            </c:strRef>
          </c:tx>
          <c:spPr>
            <a:solidFill>
              <a:srgbClr val="B91C1C"/>
            </a:solidFill>
            <a:effectLst/>
          </c:spPr>
          <c:invertIfNegative val="0"/>
          <c:dPt>
            <c:idx val="0"/>
            <c:invertIfNegative val="0"/>
            <c:bubble3D val="0"/>
            <c:extLst>
              <c:ext xmlns:c16="http://schemas.microsoft.com/office/drawing/2014/chart" uri="{C3380CC4-5D6E-409C-BE32-E72D297353CC}">
                <c16:uniqueId val="{00000001-1CDC-4C4F-BB80-FBE103D5BEB3}"/>
              </c:ext>
            </c:extLst>
          </c:dPt>
          <c:dPt>
            <c:idx val="1"/>
            <c:invertIfNegative val="0"/>
            <c:bubble3D val="0"/>
            <c:spPr>
              <a:solidFill>
                <a:srgbClr val="15803D"/>
              </a:solidFill>
              <a:effectLst/>
            </c:spPr>
            <c:extLst>
              <c:ext xmlns:c16="http://schemas.microsoft.com/office/drawing/2014/chart" uri="{C3380CC4-5D6E-409C-BE32-E72D297353CC}">
                <c16:uniqueId val="{00000003-1CDC-4C4F-BB80-FBE103D5BEB3}"/>
              </c:ext>
            </c:extLst>
          </c:dPt>
          <c:dLbls>
            <c:numFmt formatCode="#,##0" sourceLinked="0"/>
            <c:spPr>
              <a:noFill/>
              <a:ln>
                <a:noFill/>
              </a:ln>
              <a:effectLst/>
            </c:spPr>
            <c:txPr>
              <a:bodyPr/>
              <a:lstStyle/>
              <a:p>
                <a:pPr>
                  <a:defRPr sz="1200" b="1" i="0" u="none" strike="noStrike">
                    <a:solidFill>
                      <a:srgbClr val="1A1A2E"/>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Naive 404 rule</c:v>
                </c:pt>
                <c:pt idx="1">
                  <c:v>ARIXA R3 (≥ 8 paths)</c:v>
                </c:pt>
              </c:strCache>
            </c:strRef>
          </c:cat>
          <c:val>
            <c:numRef>
              <c:f>Sheet1!$B$2:$B$3</c:f>
              <c:numCache>
                <c:formatCode>General</c:formatCode>
                <c:ptCount val="2"/>
                <c:pt idx="0">
                  <c:v>624</c:v>
                </c:pt>
                <c:pt idx="1">
                  <c:v>0</c:v>
                </c:pt>
              </c:numCache>
            </c:numRef>
          </c:val>
          <c:extLst>
            <c:ext xmlns:c16="http://schemas.microsoft.com/office/drawing/2014/chart" uri="{C3380CC4-5D6E-409C-BE32-E72D297353CC}">
              <c16:uniqueId val="{00000004-1CDC-4C4F-BB80-FBE103D5BEB3}"/>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A1A2E"/>
                </a:solidFill>
                <a:latin typeface="+mn-lt"/>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163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Team A3-PS013-TC479, problem statement PS-013: Incident Timeline and Evidence Collection for Small Teams. Our solution is ARIXA Forensic Timeline. The panel on the right is real output of the tool on sample scenario 1: every event on one UTC clock, each labelled with a MITRE ATT&amp;CK technique.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Six key issues: evidence on many servers, different formats, syslog with no year or zone, drifting clocks, no integrity record, and lines that are silently dropped. On the right, our scenario 3: read as written, the database login looks nine and a half hours before the web shell, so the attacker's pivot is invisible. The bar at the bottom states the PS-013 objective and our keywords.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Top: the four NIST forensic phases and the ARIXA module for each. Bottom left: why time is hard: no year or zone in syslog, mixed offsets, daylight saving, drifting clocks. Bottom right: our scenario 3. Only the corrected UTC view shows the login 25 seconds after the web shell, which is the lateral movement.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and RFC review. The table lists the standards and RFCs that shaped ARIXA and how each one is applied. On the right, existing approaches and their limits for a small team, and the gap ARIXA fills: one lightweight, explainable workflow.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solution. Six stages from collection to report. Eight explainable rules, each labelled with a MITRE ATT&amp;CK technique. The screenshot is the real dashboard on our sample scenarios: KPIs, the kill chain reaching all eight tactics, and the attack graph. An optional Gemini copilot explains the incident, with redaction and validated citations.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Optimisation. The table compares manual triage with ARIXA. The chart shows a real-data optimisation: a naive scan rule flagged 624 innocent IPs on a real Nginx log, and requiring eight different paths removed all of them. The tiles show the validation scorecard, and on the right the real-world tests and AI safeguards. The 45-minute manual figure is our estimate; the tool time is measured.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as a UML component diagram. Presentation: dashboard, CLI and browser edition. Application services: one module per job, orchestrated by the pipeline. Data layer, all local: evidence store, custody log, SQLite timeline, gaps file and reports. The only external system is the optional Gemini API, reached over HTTPS with redacted data.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 diagram, level 1. Processes 1 to 7 and data stores D1 to D3. Collection writes the read-only copy and a custody entry before parsing starts. Parsing writes unreadable lines as gaps. Normalised events go to the SQLite timeline, which feeds detection, the dashboard, the AI assistant and the report. Only redacted flagged events ever go to Gemini.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timeline. Six sprints: requirements and standards, evidence and parsers, time and storage, detection and ATT&amp;CK, dashboard, reports and AI, then validation and the browser edition. Demo, documentation and the team video are in progress. Version 2 adds Windows Event Logs, Sigma rules and automatic skew estimation. Below: the two ways to deploy and the quality gates every release passes.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NIST, ISO and IETF standards, MITRE ATT&amp;CK and the kill chain, forensic timeline research, the real-world datasets and the tools we compared against.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Questions are welcome. The browser edition is live at the link shown; the full tool runs offline on a laptop.</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a:effectLst/>
      </p:bgPr>
    </p:bg>
    <p:spTree>
      <p:nvGrpSpPr>
        <p:cNvPr id="1" name=""/>
        <p:cNvGrpSpPr/>
        <p:nvPr/>
      </p:nvGrpSpPr>
      <p:grpSpPr>
        <a:xfrm>
          <a:off x="0" y="0"/>
          <a:ext cx="0" cy="0"/>
          <a:chOff x="0" y="0"/>
          <a:chExt cx="0" cy="0"/>
        </a:xfrm>
      </p:grpSpPr>
      <p:pic>
        <p:nvPicPr>
          <p:cNvPr id="2" name="Image 0" descr="AIORI - Advanced Internet Operations Research in India logo"/>
          <p:cNvPicPr>
            <a:picLocks noChangeAspect="1"/>
          </p:cNvPicPr>
          <p:nvPr/>
        </p:nvPicPr>
        <p:blipFill>
          <a:blip r:embed="rId2"/>
          <a:stretch>
            <a:fillRect/>
          </a:stretch>
        </p:blipFill>
        <p:spPr>
          <a:xfrm>
            <a:off x="548640" y="457200"/>
            <a:ext cx="987552" cy="978408"/>
          </a:xfrm>
          <a:prstGeom prst="rect">
            <a:avLst/>
          </a:prstGeom>
        </p:spPr>
      </p:pic>
      <p:sp>
        <p:nvSpPr>
          <p:cNvPr id="3" name="Text 0"/>
          <p:cNvSpPr>
            <a:spLocks noGrp="1"/>
          </p:cNvSpPr>
          <p:nvPr>
            <p:ph type="title" idx="101" hasCustomPrompt="1"/>
          </p:nvPr>
        </p:nvSpPr>
        <p:spPr>
          <a:xfrm>
            <a:off x="548640" y="1783080"/>
            <a:ext cx="6949440" cy="822960"/>
          </a:xfrm>
          <a:prstGeom prst="rect">
            <a:avLst/>
          </a:prstGeom>
          <a:noFill/>
          <a:ln/>
        </p:spPr>
        <p:txBody>
          <a:bodyPr wrap="square" rtlCol="0"/>
          <a:lstStyle>
            <a:lvl1pPr marL="0" indent="0" algn="l">
              <a:buNone/>
              <a:defRPr lang="en-US" sz="4400" b="1" dirty="0">
                <a:solidFill>
                  <a:schemeClr val="accent1"/>
                </a:solidFill>
              </a:defRPr>
            </a:lvl1pPr>
          </a:lstStyle>
          <a:p>
            <a:pPr marL="0" indent="0" algn="l">
              <a:buNone/>
            </a:pPr>
            <a:endParaRPr lang="en-US" sz="4400" dirty="0"/>
          </a:p>
        </p:txBody>
      </p:sp>
      <p:sp>
        <p:nvSpPr>
          <p:cNvPr id="4" name="Text 0"/>
          <p:cNvSpPr>
            <a:spLocks noGrp="1"/>
          </p:cNvSpPr>
          <p:nvPr>
            <p:ph type="body" idx="102" hasCustomPrompt="1"/>
          </p:nvPr>
        </p:nvSpPr>
        <p:spPr>
          <a:xfrm>
            <a:off x="548640" y="2697480"/>
            <a:ext cx="6949440" cy="868680"/>
          </a:xfrm>
          <a:prstGeom prst="rect">
            <a:avLst/>
          </a:prstGeom>
          <a:noFill/>
          <a:ln/>
        </p:spPr>
        <p:txBody>
          <a:bodyPr wrap="square" rtlCol="0"/>
          <a:lstStyle>
            <a:lvl1pPr marL="0" indent="0" algn="l">
              <a:buNone/>
              <a:defRPr lang="en-US" sz="2200" dirty="0">
                <a:solidFill>
                  <a:schemeClr val="tx1"/>
                </a:solidFill>
              </a:defRPr>
            </a:lvl1pPr>
          </a:lstStyle>
          <a:p>
            <a:pPr marL="0" indent="0" algn="l">
              <a:buNone/>
            </a:pPr>
            <a:endParaRPr lang="en-US" sz="2200" dirty="0"/>
          </a:p>
        </p:txBody>
      </p:sp>
      <p:sp>
        <p:nvSpPr>
          <p:cNvPr id="5" name="Text 0"/>
          <p:cNvSpPr>
            <a:spLocks noGrp="1"/>
          </p:cNvSpPr>
          <p:nvPr>
            <p:ph type="body" idx="103" hasCustomPrompt="1"/>
          </p:nvPr>
        </p:nvSpPr>
        <p:spPr>
          <a:xfrm>
            <a:off x="548640" y="3639312"/>
            <a:ext cx="6858000" cy="731520"/>
          </a:xfrm>
          <a:prstGeom prst="rect">
            <a:avLst/>
          </a:prstGeom>
          <a:noFill/>
          <a:ln/>
        </p:spPr>
        <p:txBody>
          <a:bodyPr wrap="square" rtlCol="0"/>
          <a:lstStyle>
            <a:lvl1pPr marL="0" indent="0" algn="l">
              <a:buNone/>
              <a:defRPr lang="en-US" sz="1400" i="1" dirty="0">
                <a:solidFill>
                  <a:schemeClr val="accent6"/>
                </a:solidFill>
              </a:defRPr>
            </a:lvl1pPr>
          </a:lstStyle>
          <a:p>
            <a:pPr marL="0" indent="0" algn="l">
              <a:buNone/>
            </a:pPr>
            <a:endParaRPr lang="en-US" sz="1400" dirty="0"/>
          </a:p>
        </p:txBody>
      </p:sp>
      <p:sp>
        <p:nvSpPr>
          <p:cNvPr id="6" name="Text 0"/>
          <p:cNvSpPr>
            <a:spLocks noGrp="1"/>
          </p:cNvSpPr>
          <p:nvPr>
            <p:ph type="body" idx="104" hasCustomPrompt="1"/>
          </p:nvPr>
        </p:nvSpPr>
        <p:spPr>
          <a:xfrm>
            <a:off x="548640" y="4526280"/>
            <a:ext cx="6858000" cy="914400"/>
          </a:xfrm>
          <a:prstGeom prst="rect">
            <a:avLst/>
          </a:prstGeom>
          <a:noFill/>
          <a:ln/>
        </p:spPr>
        <p:txBody>
          <a:bodyPr wrap="square" rtlCol="0"/>
          <a:lstStyle>
            <a:lvl1pPr marL="0" indent="0" algn="l">
              <a:buNone/>
              <a:defRPr lang="en-US" sz="1400" dirty="0">
                <a:solidFill>
                  <a:schemeClr val="tx1"/>
                </a:solidFill>
              </a:defRPr>
            </a:lvl1pPr>
          </a:lstStyle>
          <a:p>
            <a:pPr marL="0" indent="0" algn="l">
              <a:buNone/>
            </a:pPr>
            <a:endParaRPr lang="en-US" sz="1400" dirty="0"/>
          </a:p>
        </p:txBody>
      </p:sp>
      <p:sp>
        <p:nvSpPr>
          <p:cNvPr id="7" name="Text 0"/>
          <p:cNvSpPr>
            <a:spLocks noGrp="1"/>
          </p:cNvSpPr>
          <p:nvPr>
            <p:ph type="body" idx="105" hasCustomPrompt="1"/>
          </p:nvPr>
        </p:nvSpPr>
        <p:spPr>
          <a:xfrm>
            <a:off x="548640" y="5577840"/>
            <a:ext cx="6858000" cy="685800"/>
          </a:xfrm>
          <a:prstGeom prst="rect">
            <a:avLst/>
          </a:prstGeom>
          <a:noFill/>
          <a:ln/>
        </p:spPr>
        <p:txBody>
          <a:bodyPr wrap="square" rtlCol="0"/>
          <a:lstStyle>
            <a:lvl1pPr marL="0" indent="0" algn="l">
              <a:buNone/>
              <a:defRPr lang="en-US" sz="1300" dirty="0">
                <a:solidFill>
                  <a:schemeClr val="tx1"/>
                </a:solidFill>
              </a:defRPr>
            </a:lvl1pPr>
          </a:lstStyle>
          <a:p>
            <a:pPr marL="0" indent="0" algn="l">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rtlCol="0"/>
          <a:lstStyle>
            <a:lvl1pPr marL="0" indent="0" algn="ctr">
              <a:buNone/>
              <a:defRPr lang="en-US" sz="1000" dirty="0">
                <a:solidFill>
                  <a:schemeClr val="accent1"/>
                </a:solidFill>
              </a:defRPr>
            </a:lvl1pPr>
          </a:lstStyle>
          <a:p>
            <a:pPr marL="0" indent="0" algn="ctr">
              <a:buNone/>
            </a:pP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rtlCol="0"/>
          <a:lstStyle>
            <a:lvl1pPr marL="0" indent="0" algn="l">
              <a:buNone/>
              <a:defRPr lang="en-US" sz="3000" b="1" dirty="0">
                <a:solidFill>
                  <a:schemeClr val="accent1"/>
                </a:solidFill>
              </a:defRPr>
            </a:lvl1pPr>
          </a:lstStyle>
          <a:p>
            <a:pPr marL="0" indent="0" algn="l">
              <a:buNone/>
            </a:pP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rtlCol="0"/>
          <a:lstStyle>
            <a:lvl1pPr marL="0" indent="0" algn="l">
              <a:buNone/>
              <a:defRPr lang="en-US" sz="1600" b="1" dirty="0">
                <a:solidFill>
                  <a:schemeClr val="tx1"/>
                </a:solidFill>
              </a:defRPr>
            </a:lvl1pPr>
          </a:lstStyle>
          <a:p>
            <a:pPr marL="0" indent="0" algn="l">
              <a:buNone/>
            </a:pPr>
            <a:endParaRPr lang="en-US" sz="1600" dirty="0"/>
          </a:p>
        </p:txBody>
      </p:sp>
      <p:sp>
        <p:nvSpPr>
          <p:cNvPr id="5" name="Text 0"/>
          <p:cNvSpPr/>
          <p:nvPr/>
        </p:nvSpPr>
        <p:spPr>
          <a:xfrm>
            <a:off x="548640" y="6473952"/>
            <a:ext cx="8229600" cy="256032"/>
          </a:xfrm>
          <a:prstGeom prst="rect">
            <a:avLst/>
          </a:prstGeom>
          <a:noFill/>
          <a:ln/>
        </p:spPr>
        <p:txBody>
          <a:bodyPr wrap="square" lIns="0" tIns="0" rIns="0" bIns="0" rtlCol="0" anchor="t"/>
          <a:lstStyle/>
          <a:p>
            <a:pPr marL="0" indent="0">
              <a:buNone/>
            </a:pPr>
            <a:r>
              <a:rPr lang="en-US" sz="900" dirty="0">
                <a:solidFill>
                  <a:schemeClr val="accent1"/>
                </a:solidFill>
              </a:rPr>
              <a:t>K. Ganjave, Y. Bhosale  •  A3-PS013-TC479  •  October 14, 2026</a:t>
            </a:r>
            <a:endParaRPr lang="en-US" sz="900" dirty="0"/>
          </a:p>
        </p:txBody>
      </p:sp>
      <p:sp>
        <p:nvSpPr>
          <p:cNvPr id="6" name="Text 1"/>
          <p:cNvSpPr/>
          <p:nvPr/>
        </p:nvSpPr>
        <p:spPr>
          <a:xfrm>
            <a:off x="11082528" y="6473952"/>
            <a:ext cx="548640" cy="256032"/>
          </a:xfrm>
          <a:prstGeom prst="rect">
            <a:avLst/>
          </a:prstGeom>
          <a:noFill/>
          <a:ln/>
        </p:spPr>
        <p:txBody>
          <a:bodyPr wrap="square" lIns="0" tIns="0" rIns="0" bIns="0" rtlCol="0" anchor="t"/>
          <a:lstStyle/>
          <a:p>
            <a:pPr marL="0" indent="0" algn="l">
              <a:buNone/>
            </a:pPr>
            <a:r>
              <a:rPr lang="en-US" sz="900" dirty="0">
                <a:solidFill>
                  <a:schemeClr val="accent1"/>
                </a:solidFill>
              </a:rPr>
              <a:t> / 11</a:t>
            </a:r>
            <a:endParaRPr lang="en-US" sz="900" dirty="0"/>
          </a:p>
        </p:txBody>
      </p:sp>
      <p:sp>
        <p:nvSpPr>
          <p:cNvPr id="2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11094415" cy="822960"/>
          </a:xfrm>
          <a:prstGeom prst="rect">
            <a:avLst/>
          </a:prstGeom>
          <a:noFill/>
          <a:ln/>
        </p:spPr>
        <p:txBody>
          <a:bodyPr wrap="square" rtlCol="0"/>
          <a:lstStyle>
            <a:lvl1pPr marL="0" indent="0" algn="ctr">
              <a:buNone/>
              <a:defRPr lang="en-US" sz="3600" b="1" dirty="0">
                <a:solidFill>
                  <a:schemeClr val="accent1"/>
                </a:solidFill>
              </a:defRPr>
            </a:lvl1pPr>
          </a:lstStyle>
          <a:p>
            <a:pPr marL="0" indent="0" algn="ctr">
              <a:buNone/>
            </a:pPr>
            <a:endParaRPr lang="en-US" sz="3600" dirty="0"/>
          </a:p>
        </p:txBody>
      </p:sp>
      <p:sp>
        <p:nvSpPr>
          <p:cNvPr id="3" name="Text 0"/>
          <p:cNvSpPr>
            <a:spLocks noGrp="1"/>
          </p:cNvSpPr>
          <p:nvPr>
            <p:ph type="body" idx="101" hasCustomPrompt="1"/>
          </p:nvPr>
        </p:nvSpPr>
        <p:spPr>
          <a:xfrm>
            <a:off x="1463040" y="3108960"/>
            <a:ext cx="9262872" cy="2194560"/>
          </a:xfrm>
          <a:prstGeom prst="rect">
            <a:avLst/>
          </a:prstGeom>
          <a:noFill/>
          <a:ln/>
        </p:spPr>
        <p:txBody>
          <a:bodyPr wrap="square" rtlCol="0"/>
          <a:lstStyle>
            <a:lvl1pPr marL="0" indent="0" algn="ctr">
              <a:buNone/>
              <a:defRPr lang="en-US" sz="1600" dirty="0">
                <a:solidFill>
                  <a:schemeClr val="tx1"/>
                </a:solidFill>
              </a:defRPr>
            </a:lvl1pPr>
          </a:lstStyle>
          <a:p>
            <a:pPr marL="0" indent="0" algn="ctr">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omalganjave32@gmail.com"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mailto:bhagyashrit@isquareit.edu.in" TargetMode="External"/><Relationship Id="rId4" Type="http://schemas.openxmlformats.org/officeDocument/2006/relationships/hyperlink" Target="mailto:yashbhosale2403@gmail.com"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hyperlink" Target="https://forensic-timeline-showcase-xwfgup.v2.appdeploy.ai/" TargetMode="Externa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forensic-timeline-showcase-xwfgup.v2.appdeploy.ai/"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1783080"/>
            <a:ext cx="6949440" cy="822960"/>
          </a:xfrm>
          <a:prstGeom prst="rect">
            <a:avLst/>
          </a:prstGeom>
          <a:noFill/>
          <a:ln/>
        </p:spPr>
        <p:txBody>
          <a:bodyPr wrap="square" lIns="0" tIns="0" rIns="0" bIns="0" rtlCol="0" anchor="b"/>
          <a:lstStyle/>
          <a:p>
            <a:pPr marL="0" indent="0" algn="l">
              <a:buNone/>
            </a:pPr>
            <a:r>
              <a:rPr lang="en-US" sz="4400" b="1" dirty="0">
                <a:solidFill>
                  <a:schemeClr val="accent1"/>
                </a:solidFill>
              </a:rPr>
              <a:t>A3-PS013-TC479</a:t>
            </a:r>
            <a:endParaRPr lang="en-US" sz="4400" dirty="0"/>
          </a:p>
        </p:txBody>
      </p:sp>
      <p:sp>
        <p:nvSpPr>
          <p:cNvPr id="3" name="Text 0"/>
          <p:cNvSpPr>
            <a:spLocks noGrp="1"/>
          </p:cNvSpPr>
          <p:nvPr>
            <p:ph type="body" idx="102" hasCustomPrompt="1"/>
          </p:nvPr>
        </p:nvSpPr>
        <p:spPr>
          <a:xfrm>
            <a:off x="548640" y="2697480"/>
            <a:ext cx="6949440" cy="868680"/>
          </a:xfrm>
          <a:prstGeom prst="rect">
            <a:avLst/>
          </a:prstGeom>
          <a:noFill/>
          <a:ln/>
        </p:spPr>
        <p:txBody>
          <a:bodyPr wrap="square" lIns="0" tIns="0" rIns="0" bIns="0" rtlCol="0" anchor="t"/>
          <a:lstStyle/>
          <a:p>
            <a:pPr marL="0" indent="0" algn="l">
              <a:buNone/>
            </a:pPr>
            <a:r>
              <a:rPr lang="en-US" sz="2200" dirty="0">
                <a:solidFill>
                  <a:schemeClr val="tx1"/>
                </a:solidFill>
              </a:rPr>
              <a:t>Incident Timeline and Evidence Collection for Small Teams</a:t>
            </a:r>
            <a:endParaRPr lang="en-US" sz="2200" dirty="0"/>
          </a:p>
        </p:txBody>
      </p:sp>
      <p:sp>
        <p:nvSpPr>
          <p:cNvPr id="4" name="Text 0"/>
          <p:cNvSpPr>
            <a:spLocks noGrp="1"/>
          </p:cNvSpPr>
          <p:nvPr>
            <p:ph type="body" idx="103" hasCustomPrompt="1"/>
          </p:nvPr>
        </p:nvSpPr>
        <p:spPr>
          <a:xfrm>
            <a:off x="548640" y="3086100"/>
            <a:ext cx="6858000" cy="731520"/>
          </a:xfrm>
          <a:prstGeom prst="rect">
            <a:avLst/>
          </a:prstGeom>
          <a:noFill/>
          <a:ln/>
        </p:spPr>
        <p:txBody>
          <a:bodyPr wrap="square" lIns="0" tIns="0" rIns="0" bIns="0" rtlCol="0" anchor="t"/>
          <a:lstStyle/>
          <a:p>
            <a:pPr marL="0" indent="0" algn="l">
              <a:buNone/>
            </a:pPr>
            <a:r>
              <a:rPr lang="en-US" sz="1400" i="1" dirty="0">
                <a:solidFill>
                  <a:schemeClr val="accent6"/>
                </a:solidFill>
              </a:rPr>
              <a:t>ARIXA Forensic Timeline: SHA-256 evidence integrity and chain of custody, UTC normalisation with time-zone, DST and clock-skew correction, and MITRE ATT&amp;CK-mapped detection</a:t>
            </a:r>
            <a:endParaRPr lang="en-US" sz="1400" dirty="0"/>
          </a:p>
        </p:txBody>
      </p:sp>
      <p:sp>
        <p:nvSpPr>
          <p:cNvPr id="6" name="Text 0"/>
          <p:cNvSpPr>
            <a:spLocks noGrp="1"/>
          </p:cNvSpPr>
          <p:nvPr>
            <p:ph type="body" idx="105" hasCustomPrompt="1"/>
          </p:nvPr>
        </p:nvSpPr>
        <p:spPr>
          <a:xfrm>
            <a:off x="537334" y="5911916"/>
            <a:ext cx="6858000" cy="685800"/>
          </a:xfrm>
          <a:prstGeom prst="rect">
            <a:avLst/>
          </a:prstGeom>
          <a:noFill/>
          <a:ln/>
        </p:spPr>
        <p:txBody>
          <a:bodyPr wrap="square" lIns="0" tIns="0" rIns="0" bIns="0" rtlCol="0" anchor="t"/>
          <a:lstStyle/>
          <a:p>
            <a:pPr marL="0" indent="0" algn="l">
              <a:buNone/>
            </a:pPr>
            <a:r>
              <a:rPr lang="en-US" sz="1300" dirty="0">
                <a:solidFill>
                  <a:schemeClr val="tx1"/>
                </a:solidFill>
              </a:rPr>
              <a:t>AIORI Hackathon 3  ·  Problem Statement PS-013</a:t>
            </a:r>
            <a:endParaRPr lang="en-US" sz="1300" dirty="0"/>
          </a:p>
          <a:p>
            <a:pPr marL="0" indent="0" algn="l">
              <a:buNone/>
            </a:pPr>
            <a:r>
              <a:rPr lang="en-US" sz="1300" dirty="0">
                <a:solidFill>
                  <a:schemeClr val="tx1"/>
                </a:solidFill>
              </a:rPr>
              <a:t>October 14, 2026</a:t>
            </a:r>
            <a:endParaRPr lang="en-US" sz="1300" dirty="0"/>
          </a:p>
        </p:txBody>
      </p:sp>
      <p:sp>
        <p:nvSpPr>
          <p:cNvPr id="7" name="Timeline preview card"/>
          <p:cNvSpPr/>
          <p:nvPr/>
        </p:nvSpPr>
        <p:spPr>
          <a:xfrm>
            <a:off x="7818120" y="868680"/>
            <a:ext cx="3822192" cy="5349240"/>
          </a:xfrm>
          <a:prstGeom prst="roundRect">
            <a:avLst>
              <a:gd name="adj" fmla="val 2392"/>
            </a:avLst>
          </a:prstGeom>
          <a:solidFill>
            <a:schemeClr val="bg2"/>
          </a:solidFill>
          <a:ln/>
        </p:spPr>
      </p:sp>
      <p:sp>
        <p:nvSpPr>
          <p:cNvPr id="8" name="Text 6"/>
          <p:cNvSpPr txBox="1"/>
          <p:nvPr/>
        </p:nvSpPr>
        <p:spPr>
          <a:xfrm>
            <a:off x="8065008" y="1024128"/>
            <a:ext cx="3429000" cy="310896"/>
          </a:xfrm>
          <a:prstGeom prst="rect">
            <a:avLst/>
          </a:prstGeom>
          <a:noFill/>
          <a:ln/>
        </p:spPr>
        <p:txBody>
          <a:bodyPr wrap="square" lIns="0" tIns="0" rIns="0" bIns="0" rtlCol="0" anchor="t"/>
          <a:lstStyle/>
          <a:p>
            <a:pPr marL="0" indent="0" algn="l">
              <a:buNone/>
            </a:pPr>
            <a:r>
              <a:rPr lang="en-US" sz="1400" b="1" dirty="0">
                <a:solidFill>
                  <a:schemeClr val="accent1"/>
                </a:solidFill>
              </a:rPr>
              <a:t>Reconstructed incident timeline (UTC)</a:t>
            </a:r>
            <a:endParaRPr lang="en-US" sz="1400" dirty="0"/>
          </a:p>
        </p:txBody>
      </p:sp>
      <p:sp>
        <p:nvSpPr>
          <p:cNvPr id="9" name="Text 7"/>
          <p:cNvSpPr txBox="1"/>
          <p:nvPr/>
        </p:nvSpPr>
        <p:spPr>
          <a:xfrm>
            <a:off x="8065008" y="1325880"/>
            <a:ext cx="3429000" cy="274320"/>
          </a:xfrm>
          <a:prstGeom prst="rect">
            <a:avLst/>
          </a:prstGeom>
          <a:noFill/>
          <a:ln/>
        </p:spPr>
        <p:txBody>
          <a:bodyPr wrap="square" lIns="0" tIns="0" rIns="0" bIns="0" rtlCol="0" anchor="t"/>
          <a:lstStyle/>
          <a:p>
            <a:pPr marL="0" indent="0" algn="l">
              <a:buNone/>
            </a:pPr>
            <a:r>
              <a:rPr lang="en-US" sz="1100" dirty="0">
                <a:solidFill>
                  <a:schemeClr val="accent6"/>
                </a:solidFill>
              </a:rPr>
              <a:t>ARIXA output · sample scenario 1 · SSH brute force</a:t>
            </a:r>
            <a:endParaRPr lang="en-US" sz="1100" dirty="0"/>
          </a:p>
        </p:txBody>
      </p:sp>
      <p:sp>
        <p:nvSpPr>
          <p:cNvPr id="10" name="Shape 8"/>
          <p:cNvSpPr/>
          <p:nvPr/>
        </p:nvSpPr>
        <p:spPr>
          <a:xfrm>
            <a:off x="8229600" y="1828800"/>
            <a:ext cx="0" cy="3886200"/>
          </a:xfrm>
          <a:prstGeom prst="line">
            <a:avLst/>
          </a:prstGeom>
          <a:noFill/>
          <a:ln w="25400">
            <a:solidFill>
              <a:schemeClr val="accent1"/>
            </a:solidFill>
            <a:prstDash val="solid"/>
          </a:ln>
        </p:spPr>
      </p:sp>
      <p:sp>
        <p:nvSpPr>
          <p:cNvPr id="11" name="Shape 9"/>
          <p:cNvSpPr/>
          <p:nvPr/>
        </p:nvSpPr>
        <p:spPr>
          <a:xfrm>
            <a:off x="8138160" y="1892808"/>
            <a:ext cx="182880" cy="182880"/>
          </a:xfrm>
          <a:prstGeom prst="ellipse">
            <a:avLst/>
          </a:prstGeom>
          <a:solidFill>
            <a:schemeClr val="accent3"/>
          </a:solidFill>
          <a:ln w="19050">
            <a:solidFill>
              <a:srgbClr val="FFFFFF"/>
            </a:solidFill>
            <a:prstDash val="solid"/>
          </a:ln>
        </p:spPr>
      </p:sp>
      <p:sp>
        <p:nvSpPr>
          <p:cNvPr id="12" name="Text 10"/>
          <p:cNvSpPr txBox="1"/>
          <p:nvPr/>
        </p:nvSpPr>
        <p:spPr>
          <a:xfrm>
            <a:off x="8458200" y="1837944"/>
            <a:ext cx="3108960" cy="274320"/>
          </a:xfrm>
          <a:prstGeom prst="rect">
            <a:avLst/>
          </a:prstGeom>
          <a:noFill/>
          <a:ln/>
        </p:spPr>
        <p:txBody>
          <a:bodyPr wrap="square" lIns="0" tIns="0" rIns="0" bIns="0" rtlCol="0" anchor="t"/>
          <a:lstStyle/>
          <a:p>
            <a:pPr marL="0" indent="0" algn="l">
              <a:buNone/>
            </a:pPr>
            <a:r>
              <a:rPr lang="en-US" sz="1200" b="1" dirty="0">
                <a:solidFill>
                  <a:schemeClr val="tx1"/>
                </a:solidFill>
              </a:rPr>
              <a:t>21:01:07Z</a:t>
            </a:r>
            <a:r>
              <a:rPr lang="en-US" sz="1200" b="1" dirty="0">
                <a:solidFill>
                  <a:schemeClr val="accent3"/>
                </a:solidFill>
              </a:rPr>
              <a:t>   T1110 · HIGH</a:t>
            </a:r>
            <a:endParaRPr lang="en-US" sz="1200" dirty="0"/>
          </a:p>
        </p:txBody>
      </p:sp>
      <p:sp>
        <p:nvSpPr>
          <p:cNvPr id="13" name="Text 11"/>
          <p:cNvSpPr txBox="1"/>
          <p:nvPr/>
        </p:nvSpPr>
        <p:spPr>
          <a:xfrm>
            <a:off x="8458200" y="2093976"/>
            <a:ext cx="3108960" cy="457200"/>
          </a:xfrm>
          <a:prstGeom prst="rect">
            <a:avLst/>
          </a:prstGeom>
          <a:noFill/>
          <a:ln/>
        </p:spPr>
        <p:txBody>
          <a:bodyPr wrap="square" lIns="0" tIns="0" rIns="0" bIns="0" rtlCol="0" anchor="t"/>
          <a:lstStyle/>
          <a:p>
            <a:pPr marL="0" indent="0" algn="l">
              <a:buNone/>
            </a:pPr>
            <a:r>
              <a:rPr lang="en-US" sz="1200" dirty="0">
                <a:solidFill>
                  <a:schemeClr val="tx1"/>
                </a:solidFill>
              </a:rPr>
              <a:t>Brute force: 15 failed SSH logins from 203.0.113.45</a:t>
            </a:r>
            <a:endParaRPr lang="en-US" sz="1200" dirty="0"/>
          </a:p>
        </p:txBody>
      </p:sp>
      <p:sp>
        <p:nvSpPr>
          <p:cNvPr id="14" name="Shape 12"/>
          <p:cNvSpPr/>
          <p:nvPr/>
        </p:nvSpPr>
        <p:spPr>
          <a:xfrm>
            <a:off x="8138160" y="2670048"/>
            <a:ext cx="182880" cy="182880"/>
          </a:xfrm>
          <a:prstGeom prst="ellipse">
            <a:avLst/>
          </a:prstGeom>
          <a:solidFill>
            <a:schemeClr val="accent4"/>
          </a:solidFill>
          <a:ln w="19050">
            <a:solidFill>
              <a:srgbClr val="FFFFFF"/>
            </a:solidFill>
            <a:prstDash val="solid"/>
          </a:ln>
        </p:spPr>
      </p:sp>
      <p:sp>
        <p:nvSpPr>
          <p:cNvPr id="15" name="Text 13"/>
          <p:cNvSpPr txBox="1"/>
          <p:nvPr/>
        </p:nvSpPr>
        <p:spPr>
          <a:xfrm>
            <a:off x="8458200" y="2615184"/>
            <a:ext cx="3108960" cy="274320"/>
          </a:xfrm>
          <a:prstGeom prst="rect">
            <a:avLst/>
          </a:prstGeom>
          <a:noFill/>
          <a:ln/>
        </p:spPr>
        <p:txBody>
          <a:bodyPr wrap="square" lIns="0" tIns="0" rIns="0" bIns="0" rtlCol="0" anchor="t"/>
          <a:lstStyle/>
          <a:p>
            <a:pPr marL="0" indent="0" algn="l">
              <a:buNone/>
            </a:pPr>
            <a:r>
              <a:rPr lang="en-US" sz="1200" b="1" dirty="0">
                <a:solidFill>
                  <a:schemeClr val="tx1"/>
                </a:solidFill>
              </a:rPr>
              <a:t>21:03:20Z</a:t>
            </a:r>
            <a:r>
              <a:rPr lang="en-US" sz="1200" b="1" dirty="0">
                <a:solidFill>
                  <a:schemeClr val="accent4"/>
                </a:solidFill>
              </a:rPr>
              <a:t>   T1078 · CRITICAL</a:t>
            </a:r>
            <a:endParaRPr lang="en-US" sz="1200" dirty="0"/>
          </a:p>
        </p:txBody>
      </p:sp>
      <p:sp>
        <p:nvSpPr>
          <p:cNvPr id="16" name="Text 14"/>
          <p:cNvSpPr txBox="1"/>
          <p:nvPr/>
        </p:nvSpPr>
        <p:spPr>
          <a:xfrm>
            <a:off x="8458200" y="2871216"/>
            <a:ext cx="3108960" cy="457200"/>
          </a:xfrm>
          <a:prstGeom prst="rect">
            <a:avLst/>
          </a:prstGeom>
          <a:noFill/>
          <a:ln/>
        </p:spPr>
        <p:txBody>
          <a:bodyPr wrap="square" lIns="0" tIns="0" rIns="0" bIns="0" rtlCol="0" anchor="t"/>
          <a:lstStyle/>
          <a:p>
            <a:pPr marL="0" indent="0" algn="l">
              <a:buNone/>
            </a:pPr>
            <a:r>
              <a:rPr lang="en-US" sz="1200" dirty="0">
                <a:solidFill>
                  <a:schemeClr val="tx1"/>
                </a:solidFill>
              </a:rPr>
              <a:t>Login as 'deploy' right after the failures</a:t>
            </a:r>
            <a:endParaRPr lang="en-US" sz="1200" dirty="0"/>
          </a:p>
        </p:txBody>
      </p:sp>
      <p:sp>
        <p:nvSpPr>
          <p:cNvPr id="17" name="Shape 15"/>
          <p:cNvSpPr/>
          <p:nvPr/>
        </p:nvSpPr>
        <p:spPr>
          <a:xfrm>
            <a:off x="8138160" y="3447288"/>
            <a:ext cx="182880" cy="182880"/>
          </a:xfrm>
          <a:prstGeom prst="ellipse">
            <a:avLst/>
          </a:prstGeom>
          <a:solidFill>
            <a:schemeClr val="accent3"/>
          </a:solidFill>
          <a:ln w="19050">
            <a:solidFill>
              <a:srgbClr val="FFFFFF"/>
            </a:solidFill>
            <a:prstDash val="solid"/>
          </a:ln>
        </p:spPr>
      </p:sp>
      <p:sp>
        <p:nvSpPr>
          <p:cNvPr id="18" name="Text 16"/>
          <p:cNvSpPr txBox="1"/>
          <p:nvPr/>
        </p:nvSpPr>
        <p:spPr>
          <a:xfrm>
            <a:off x="8458200" y="3392424"/>
            <a:ext cx="3108960" cy="274320"/>
          </a:xfrm>
          <a:prstGeom prst="rect">
            <a:avLst/>
          </a:prstGeom>
          <a:noFill/>
          <a:ln/>
        </p:spPr>
        <p:txBody>
          <a:bodyPr wrap="square" lIns="0" tIns="0" rIns="0" bIns="0" rtlCol="0" anchor="t"/>
          <a:lstStyle/>
          <a:p>
            <a:pPr marL="0" indent="0" algn="l">
              <a:buNone/>
            </a:pPr>
            <a:r>
              <a:rPr lang="en-US" sz="1200" b="1" dirty="0">
                <a:solidFill>
                  <a:schemeClr val="tx1"/>
                </a:solidFill>
              </a:rPr>
              <a:t>21:03:20Z</a:t>
            </a:r>
            <a:r>
              <a:rPr lang="en-US" sz="1200" b="1" dirty="0">
                <a:solidFill>
                  <a:schemeClr val="accent3"/>
                </a:solidFill>
              </a:rPr>
              <a:t>   T1548 · HIGH</a:t>
            </a:r>
            <a:endParaRPr lang="en-US" sz="1200" dirty="0"/>
          </a:p>
        </p:txBody>
      </p:sp>
      <p:sp>
        <p:nvSpPr>
          <p:cNvPr id="19" name="Text 17"/>
          <p:cNvSpPr txBox="1"/>
          <p:nvPr/>
        </p:nvSpPr>
        <p:spPr>
          <a:xfrm>
            <a:off x="8458200" y="3648456"/>
            <a:ext cx="3108960" cy="457200"/>
          </a:xfrm>
          <a:prstGeom prst="rect">
            <a:avLst/>
          </a:prstGeom>
          <a:noFill/>
          <a:ln/>
        </p:spPr>
        <p:txBody>
          <a:bodyPr wrap="square" lIns="0" tIns="0" rIns="0" bIns="0" rtlCol="0" anchor="t"/>
          <a:lstStyle/>
          <a:p>
            <a:pPr marL="0" indent="0" algn="l">
              <a:buNone/>
            </a:pPr>
            <a:r>
              <a:rPr lang="en-US" sz="1200" dirty="0">
                <a:solidFill>
                  <a:schemeClr val="tx1"/>
                </a:solidFill>
              </a:rPr>
              <a:t>sudo used after the suspicious login</a:t>
            </a:r>
            <a:endParaRPr lang="en-US" sz="1200" dirty="0"/>
          </a:p>
        </p:txBody>
      </p:sp>
      <p:sp>
        <p:nvSpPr>
          <p:cNvPr id="20" name="Shape 18"/>
          <p:cNvSpPr/>
          <p:nvPr/>
        </p:nvSpPr>
        <p:spPr>
          <a:xfrm>
            <a:off x="8138160" y="4224528"/>
            <a:ext cx="182880" cy="182880"/>
          </a:xfrm>
          <a:prstGeom prst="ellipse">
            <a:avLst/>
          </a:prstGeom>
          <a:solidFill>
            <a:schemeClr val="accent3"/>
          </a:solidFill>
          <a:ln w="19050">
            <a:solidFill>
              <a:srgbClr val="FFFFFF"/>
            </a:solidFill>
            <a:prstDash val="solid"/>
          </a:ln>
        </p:spPr>
      </p:sp>
      <p:sp>
        <p:nvSpPr>
          <p:cNvPr id="21" name="Text 19"/>
          <p:cNvSpPr txBox="1"/>
          <p:nvPr/>
        </p:nvSpPr>
        <p:spPr>
          <a:xfrm>
            <a:off x="8458200" y="4169664"/>
            <a:ext cx="3108960" cy="274320"/>
          </a:xfrm>
          <a:prstGeom prst="rect">
            <a:avLst/>
          </a:prstGeom>
          <a:noFill/>
          <a:ln/>
        </p:spPr>
        <p:txBody>
          <a:bodyPr wrap="square" lIns="0" tIns="0" rIns="0" bIns="0" rtlCol="0" anchor="t"/>
          <a:lstStyle/>
          <a:p>
            <a:pPr marL="0" indent="0" algn="l">
              <a:buNone/>
            </a:pPr>
            <a:r>
              <a:rPr lang="en-US" sz="1200" b="1" dirty="0">
                <a:solidFill>
                  <a:schemeClr val="tx1"/>
                </a:solidFill>
              </a:rPr>
              <a:t>21:05:02Z</a:t>
            </a:r>
            <a:r>
              <a:rPr lang="en-US" sz="1200" b="1" dirty="0">
                <a:solidFill>
                  <a:schemeClr val="accent3"/>
                </a:solidFill>
              </a:rPr>
              <a:t>   T1003.008 · HIGH</a:t>
            </a:r>
            <a:endParaRPr lang="en-US" sz="1200" dirty="0"/>
          </a:p>
        </p:txBody>
      </p:sp>
      <p:sp>
        <p:nvSpPr>
          <p:cNvPr id="22" name="Text 20"/>
          <p:cNvSpPr txBox="1"/>
          <p:nvPr/>
        </p:nvSpPr>
        <p:spPr>
          <a:xfrm>
            <a:off x="8458200" y="4425696"/>
            <a:ext cx="3108960" cy="457200"/>
          </a:xfrm>
          <a:prstGeom prst="rect">
            <a:avLst/>
          </a:prstGeom>
          <a:noFill/>
          <a:ln/>
        </p:spPr>
        <p:txBody>
          <a:bodyPr wrap="square" lIns="0" tIns="0" rIns="0" bIns="0" rtlCol="0" anchor="t"/>
          <a:lstStyle/>
          <a:p>
            <a:pPr marL="0" indent="0" algn="l">
              <a:buNone/>
            </a:pPr>
            <a:r>
              <a:rPr lang="en-US" sz="1200" dirty="0">
                <a:solidFill>
                  <a:schemeClr val="tx1"/>
                </a:solidFill>
              </a:rPr>
              <a:t>Password hashes read (/etc/shadow)</a:t>
            </a:r>
            <a:endParaRPr lang="en-US" sz="1200" dirty="0"/>
          </a:p>
        </p:txBody>
      </p:sp>
      <p:sp>
        <p:nvSpPr>
          <p:cNvPr id="23" name="Shape 21"/>
          <p:cNvSpPr/>
          <p:nvPr/>
        </p:nvSpPr>
        <p:spPr>
          <a:xfrm>
            <a:off x="8138160" y="5001768"/>
            <a:ext cx="182880" cy="182880"/>
          </a:xfrm>
          <a:prstGeom prst="ellipse">
            <a:avLst/>
          </a:prstGeom>
          <a:solidFill>
            <a:schemeClr val="accent3"/>
          </a:solidFill>
          <a:ln w="19050">
            <a:solidFill>
              <a:srgbClr val="FFFFFF"/>
            </a:solidFill>
            <a:prstDash val="solid"/>
          </a:ln>
        </p:spPr>
      </p:sp>
      <p:sp>
        <p:nvSpPr>
          <p:cNvPr id="24" name="Text 22"/>
          <p:cNvSpPr txBox="1"/>
          <p:nvPr/>
        </p:nvSpPr>
        <p:spPr>
          <a:xfrm>
            <a:off x="8458200" y="4946904"/>
            <a:ext cx="3108960" cy="274320"/>
          </a:xfrm>
          <a:prstGeom prst="rect">
            <a:avLst/>
          </a:prstGeom>
          <a:noFill/>
          <a:ln/>
        </p:spPr>
        <p:txBody>
          <a:bodyPr wrap="square" lIns="0" tIns="0" rIns="0" bIns="0" rtlCol="0" anchor="t"/>
          <a:lstStyle/>
          <a:p>
            <a:pPr marL="0" indent="0" algn="l">
              <a:buNone/>
            </a:pPr>
            <a:r>
              <a:rPr lang="en-US" sz="1200" b="1" dirty="0">
                <a:solidFill>
                  <a:schemeClr val="tx1"/>
                </a:solidFill>
              </a:rPr>
              <a:t>21:06:40Z</a:t>
            </a:r>
            <a:r>
              <a:rPr lang="en-US" sz="1200" b="1" dirty="0">
                <a:solidFill>
                  <a:schemeClr val="accent3"/>
                </a:solidFill>
              </a:rPr>
              <a:t>   T1136.001 · HIGH</a:t>
            </a:r>
            <a:endParaRPr lang="en-US" sz="1200" dirty="0"/>
          </a:p>
        </p:txBody>
      </p:sp>
      <p:sp>
        <p:nvSpPr>
          <p:cNvPr id="25" name="Text 23"/>
          <p:cNvSpPr txBox="1"/>
          <p:nvPr/>
        </p:nvSpPr>
        <p:spPr>
          <a:xfrm>
            <a:off x="8458200" y="5202936"/>
            <a:ext cx="3108960" cy="457200"/>
          </a:xfrm>
          <a:prstGeom prst="rect">
            <a:avLst/>
          </a:prstGeom>
          <a:noFill/>
          <a:ln/>
        </p:spPr>
        <p:txBody>
          <a:bodyPr wrap="square" lIns="0" tIns="0" rIns="0" bIns="0" rtlCol="0" anchor="t"/>
          <a:lstStyle/>
          <a:p>
            <a:pPr marL="0" indent="0" algn="l">
              <a:buNone/>
            </a:pPr>
            <a:r>
              <a:rPr lang="en-US" sz="1200" dirty="0">
                <a:solidFill>
                  <a:schemeClr val="tx1"/>
                </a:solidFill>
              </a:rPr>
              <a:t>Local account created (useradd)</a:t>
            </a:r>
            <a:endParaRPr lang="en-US" sz="1200" dirty="0"/>
          </a:p>
        </p:txBody>
      </p:sp>
      <p:sp>
        <p:nvSpPr>
          <p:cNvPr id="26" name="Text 0">
            <a:extLst>
              <a:ext uri="{FF2B5EF4-FFF2-40B4-BE49-F238E27FC236}">
                <a16:creationId xmlns:a16="http://schemas.microsoft.com/office/drawing/2014/main" id="{7C6D11E7-E470-C2F3-4D47-A541BDE97DD8}"/>
              </a:ext>
            </a:extLst>
          </p:cNvPr>
          <p:cNvSpPr txBox="1">
            <a:spLocks/>
          </p:cNvSpPr>
          <p:nvPr/>
        </p:nvSpPr>
        <p:spPr>
          <a:xfrm>
            <a:off x="526027" y="3767488"/>
            <a:ext cx="6858000" cy="2286000"/>
          </a:xfrm>
          <a:prstGeom prst="rect">
            <a:avLst/>
          </a:prstGeom>
          <a:noFill/>
          <a:ln/>
        </p:spPr>
        <p:txBody>
          <a:bodyPr wrap="square" lIns="0" tIns="0" rIns="0" bIns="0" rtlCol="0" anchor="t"/>
          <a:lstStyle>
            <a:lvl1pPr marL="0" indent="0" algn="l" defTabSz="914400" rtl="0" eaLnBrk="1" latinLnBrk="0" hangingPunct="1">
              <a:spcBef>
                <a:spcPct val="20000"/>
              </a:spcBef>
              <a:buFont typeface="Arial" pitchFamily="34" charset="0"/>
              <a:buNone/>
              <a:defRPr lang="en-US" sz="1400" kern="1200" dirty="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Komal </a:t>
            </a:r>
            <a:r>
              <a:rPr lang="en-US" b="1" dirty="0" err="1"/>
              <a:t>Ganjave</a:t>
            </a:r>
            <a:r>
              <a:rPr lang="en-US" dirty="0"/>
              <a:t> : Team Lead</a:t>
            </a:r>
          </a:p>
          <a:p>
            <a:r>
              <a:rPr lang="en-US" dirty="0">
                <a:hlinkClick r:id="rId3"/>
              </a:rPr>
              <a:t>Komalganjave32@gmail.com</a:t>
            </a:r>
            <a:endParaRPr lang="en-US" dirty="0"/>
          </a:p>
          <a:p>
            <a:endParaRPr lang="en-US" dirty="0"/>
          </a:p>
          <a:p>
            <a:r>
              <a:rPr lang="en-US" b="1" dirty="0"/>
              <a:t>Yash Bhosale : </a:t>
            </a:r>
            <a:r>
              <a:rPr lang="en-US" dirty="0"/>
              <a:t>Team Member</a:t>
            </a:r>
          </a:p>
          <a:p>
            <a:r>
              <a:rPr lang="en-US" dirty="0">
                <a:hlinkClick r:id="rId4"/>
              </a:rPr>
              <a:t>yashbhosale2403@gmail.com</a:t>
            </a:r>
            <a:endParaRPr lang="en-US" dirty="0"/>
          </a:p>
          <a:p>
            <a:endParaRPr lang="en-US" dirty="0"/>
          </a:p>
          <a:p>
            <a:r>
              <a:rPr lang="en-US" b="1" dirty="0"/>
              <a:t>Bhagyashri Thorat : </a:t>
            </a:r>
            <a:r>
              <a:rPr lang="en-US" dirty="0"/>
              <a:t>Faculty Member</a:t>
            </a:r>
          </a:p>
          <a:p>
            <a:r>
              <a:rPr lang="en-US" dirty="0">
                <a:hlinkClick r:id="rId5"/>
              </a:rPr>
              <a:t>bhagyashrit@isquareit.edu.in</a:t>
            </a:r>
            <a:endParaRPr lang="en-US" dirty="0"/>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Abstract</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Problem Description</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Small teams must rebuild “what happened, and when” from scattered logs, with no SIEM, no forensic lab and no room for error</a:t>
            </a:r>
            <a:endParaRPr lang="en-US" sz="1600" dirty="0"/>
          </a:p>
        </p:txBody>
      </p:sp>
      <p:sp>
        <p:nvSpPr>
          <p:cNvPr id="6" name="Shape 3"/>
          <p:cNvSpPr/>
          <p:nvPr/>
        </p:nvSpPr>
        <p:spPr>
          <a:xfrm>
            <a:off x="548640" y="1709928"/>
            <a:ext cx="438912" cy="438912"/>
          </a:xfrm>
          <a:prstGeom prst="ellipse">
            <a:avLst/>
          </a:prstGeom>
          <a:solidFill>
            <a:schemeClr val="accent1"/>
          </a:solidFill>
          <a:ln/>
        </p:spPr>
      </p:sp>
      <p:pic>
        <p:nvPicPr>
          <p:cNvPr id="7" name="Image 0" descr="Server icon"/>
          <p:cNvPicPr>
            <a:picLocks noChangeAspect="1"/>
          </p:cNvPicPr>
          <p:nvPr/>
        </p:nvPicPr>
        <p:blipFill>
          <a:blip r:embed="rId3"/>
          <a:stretch>
            <a:fillRect/>
          </a:stretch>
        </p:blipFill>
        <p:spPr>
          <a:xfrm>
            <a:off x="653979" y="1815267"/>
            <a:ext cx="228234" cy="228234"/>
          </a:xfrm>
          <a:prstGeom prst="rect">
            <a:avLst/>
          </a:prstGeom>
        </p:spPr>
      </p:pic>
      <p:sp>
        <p:nvSpPr>
          <p:cNvPr id="8" name="Text 4"/>
          <p:cNvSpPr txBox="1"/>
          <p:nvPr/>
        </p:nvSpPr>
        <p:spPr>
          <a:xfrm>
            <a:off x="1143000" y="1664208"/>
            <a:ext cx="5852160" cy="274320"/>
          </a:xfrm>
          <a:prstGeom prst="rect">
            <a:avLst/>
          </a:prstGeom>
          <a:noFill/>
          <a:ln/>
        </p:spPr>
        <p:txBody>
          <a:bodyPr wrap="square" lIns="0" tIns="0" rIns="0" bIns="0" rtlCol="0" anchor="t"/>
          <a:lstStyle/>
          <a:p>
            <a:pPr marL="0" indent="0" algn="l">
              <a:buNone/>
            </a:pPr>
            <a:r>
              <a:rPr lang="en-US" sz="1400" b="1" dirty="0">
                <a:solidFill>
                  <a:schemeClr val="accent1"/>
                </a:solidFill>
              </a:rPr>
              <a:t>Fragmented evidence</a:t>
            </a:r>
            <a:endParaRPr lang="en-US" sz="1400" dirty="0"/>
          </a:p>
        </p:txBody>
      </p:sp>
      <p:sp>
        <p:nvSpPr>
          <p:cNvPr id="9" name="Text 5"/>
          <p:cNvSpPr txBox="1"/>
          <p:nvPr/>
        </p:nvSpPr>
        <p:spPr>
          <a:xfrm>
            <a:off x="1143000" y="1929384"/>
            <a:ext cx="5989320" cy="310896"/>
          </a:xfrm>
          <a:prstGeom prst="rect">
            <a:avLst/>
          </a:prstGeom>
          <a:noFill/>
          <a:ln/>
        </p:spPr>
        <p:txBody>
          <a:bodyPr wrap="square" lIns="0" tIns="0" rIns="0" bIns="0" rtlCol="0" anchor="t"/>
          <a:lstStyle/>
          <a:p>
            <a:pPr marL="0" indent="0" algn="l">
              <a:buNone/>
            </a:pPr>
            <a:r>
              <a:rPr lang="en-US" sz="1300" dirty="0">
                <a:solidFill>
                  <a:schemeClr val="tx1"/>
                </a:solidFill>
              </a:rPr>
              <a:t>Logs sit on many servers (SSH bastion, web, database) with no single view</a:t>
            </a:r>
            <a:endParaRPr lang="en-US" sz="1300" dirty="0"/>
          </a:p>
        </p:txBody>
      </p:sp>
      <p:sp>
        <p:nvSpPr>
          <p:cNvPr id="10" name="Shape 6"/>
          <p:cNvSpPr/>
          <p:nvPr/>
        </p:nvSpPr>
        <p:spPr>
          <a:xfrm>
            <a:off x="548640" y="2340864"/>
            <a:ext cx="438912" cy="438912"/>
          </a:xfrm>
          <a:prstGeom prst="ellipse">
            <a:avLst/>
          </a:prstGeom>
          <a:solidFill>
            <a:schemeClr val="accent1"/>
          </a:solidFill>
          <a:ln/>
        </p:spPr>
      </p:sp>
      <p:pic>
        <p:nvPicPr>
          <p:cNvPr id="11" name="Image 1" descr="FileAlt icon"/>
          <p:cNvPicPr>
            <a:picLocks noChangeAspect="1"/>
          </p:cNvPicPr>
          <p:nvPr/>
        </p:nvPicPr>
        <p:blipFill>
          <a:blip r:embed="rId4"/>
          <a:stretch>
            <a:fillRect/>
          </a:stretch>
        </p:blipFill>
        <p:spPr>
          <a:xfrm>
            <a:off x="653979" y="2446203"/>
            <a:ext cx="228234" cy="228234"/>
          </a:xfrm>
          <a:prstGeom prst="rect">
            <a:avLst/>
          </a:prstGeom>
        </p:spPr>
      </p:pic>
      <p:sp>
        <p:nvSpPr>
          <p:cNvPr id="12" name="Text 7"/>
          <p:cNvSpPr txBox="1"/>
          <p:nvPr/>
        </p:nvSpPr>
        <p:spPr>
          <a:xfrm>
            <a:off x="1143000" y="2295144"/>
            <a:ext cx="5852160" cy="274320"/>
          </a:xfrm>
          <a:prstGeom prst="rect">
            <a:avLst/>
          </a:prstGeom>
          <a:noFill/>
          <a:ln/>
        </p:spPr>
        <p:txBody>
          <a:bodyPr wrap="square" lIns="0" tIns="0" rIns="0" bIns="0" rtlCol="0" anchor="t"/>
          <a:lstStyle/>
          <a:p>
            <a:pPr marL="0" indent="0" algn="l">
              <a:buNone/>
            </a:pPr>
            <a:r>
              <a:rPr lang="en-US" sz="1400" b="1" dirty="0">
                <a:solidFill>
                  <a:schemeClr val="accent1"/>
                </a:solidFill>
              </a:rPr>
              <a:t>Different log formats</a:t>
            </a:r>
            <a:endParaRPr lang="en-US" sz="1400" dirty="0"/>
          </a:p>
        </p:txBody>
      </p:sp>
      <p:sp>
        <p:nvSpPr>
          <p:cNvPr id="13" name="Text 8"/>
          <p:cNvSpPr txBox="1"/>
          <p:nvPr/>
        </p:nvSpPr>
        <p:spPr>
          <a:xfrm>
            <a:off x="1143000" y="2560320"/>
            <a:ext cx="5989320" cy="310896"/>
          </a:xfrm>
          <a:prstGeom prst="rect">
            <a:avLst/>
          </a:prstGeom>
          <a:noFill/>
          <a:ln/>
        </p:spPr>
        <p:txBody>
          <a:bodyPr wrap="square" lIns="0" tIns="0" rIns="0" bIns="0" rtlCol="0" anchor="t"/>
          <a:lstStyle/>
          <a:p>
            <a:pPr marL="0" indent="0" algn="l">
              <a:buNone/>
            </a:pPr>
            <a:r>
              <a:rPr lang="en-US" sz="1300" dirty="0">
                <a:solidFill>
                  <a:schemeClr val="tx1"/>
                </a:solidFill>
              </a:rPr>
              <a:t>Linux auth.log (syslog) and Nginx/Apache access.log use different fields</a:t>
            </a:r>
            <a:endParaRPr lang="en-US" sz="1300" dirty="0"/>
          </a:p>
        </p:txBody>
      </p:sp>
      <p:sp>
        <p:nvSpPr>
          <p:cNvPr id="14" name="Shape 9"/>
          <p:cNvSpPr/>
          <p:nvPr/>
        </p:nvSpPr>
        <p:spPr>
          <a:xfrm>
            <a:off x="548640" y="2971800"/>
            <a:ext cx="438912" cy="438912"/>
          </a:xfrm>
          <a:prstGeom prst="ellipse">
            <a:avLst/>
          </a:prstGeom>
          <a:solidFill>
            <a:schemeClr val="accent1"/>
          </a:solidFill>
          <a:ln/>
        </p:spPr>
      </p:sp>
      <p:pic>
        <p:nvPicPr>
          <p:cNvPr id="15" name="Image 2" descr="Globe icon"/>
          <p:cNvPicPr>
            <a:picLocks noChangeAspect="1"/>
          </p:cNvPicPr>
          <p:nvPr/>
        </p:nvPicPr>
        <p:blipFill>
          <a:blip r:embed="rId5"/>
          <a:stretch>
            <a:fillRect/>
          </a:stretch>
        </p:blipFill>
        <p:spPr>
          <a:xfrm>
            <a:off x="653979" y="3077139"/>
            <a:ext cx="228234" cy="228234"/>
          </a:xfrm>
          <a:prstGeom prst="rect">
            <a:avLst/>
          </a:prstGeom>
        </p:spPr>
      </p:pic>
      <p:sp>
        <p:nvSpPr>
          <p:cNvPr id="16" name="Text 10"/>
          <p:cNvSpPr txBox="1"/>
          <p:nvPr/>
        </p:nvSpPr>
        <p:spPr>
          <a:xfrm>
            <a:off x="1143000" y="2926080"/>
            <a:ext cx="5852160" cy="274320"/>
          </a:xfrm>
          <a:prstGeom prst="rect">
            <a:avLst/>
          </a:prstGeom>
          <a:noFill/>
          <a:ln/>
        </p:spPr>
        <p:txBody>
          <a:bodyPr wrap="square" lIns="0" tIns="0" rIns="0" bIns="0" rtlCol="0" anchor="t"/>
          <a:lstStyle/>
          <a:p>
            <a:pPr marL="0" indent="0" algn="l">
              <a:buNone/>
            </a:pPr>
            <a:r>
              <a:rPr lang="en-US" sz="1400" b="1" dirty="0">
                <a:solidFill>
                  <a:schemeClr val="accent1"/>
                </a:solidFill>
              </a:rPr>
              <a:t>Ambiguous time</a:t>
            </a:r>
            <a:endParaRPr lang="en-US" sz="1400" dirty="0"/>
          </a:p>
        </p:txBody>
      </p:sp>
      <p:sp>
        <p:nvSpPr>
          <p:cNvPr id="17" name="Text 11"/>
          <p:cNvSpPr txBox="1"/>
          <p:nvPr/>
        </p:nvSpPr>
        <p:spPr>
          <a:xfrm>
            <a:off x="1143000" y="3191256"/>
            <a:ext cx="5989320" cy="310896"/>
          </a:xfrm>
          <a:prstGeom prst="rect">
            <a:avLst/>
          </a:prstGeom>
          <a:noFill/>
          <a:ln/>
        </p:spPr>
        <p:txBody>
          <a:bodyPr wrap="square" lIns="0" tIns="0" rIns="0" bIns="0" rtlCol="0" anchor="t"/>
          <a:lstStyle/>
          <a:p>
            <a:pPr marL="0" indent="0" algn="l">
              <a:buNone/>
            </a:pPr>
            <a:r>
              <a:rPr lang="en-US" sz="1300" dirty="0">
                <a:solidFill>
                  <a:schemeClr val="tx1"/>
                </a:solidFill>
              </a:rPr>
              <a:t>Syslog (RFC 3164) has no year or zone; servers use different zones and DST</a:t>
            </a:r>
            <a:endParaRPr lang="en-US" sz="1300" dirty="0"/>
          </a:p>
        </p:txBody>
      </p:sp>
      <p:sp>
        <p:nvSpPr>
          <p:cNvPr id="18" name="Shape 12"/>
          <p:cNvSpPr/>
          <p:nvPr/>
        </p:nvSpPr>
        <p:spPr>
          <a:xfrm>
            <a:off x="548640" y="3602736"/>
            <a:ext cx="438912" cy="438912"/>
          </a:xfrm>
          <a:prstGeom prst="ellipse">
            <a:avLst/>
          </a:prstGeom>
          <a:solidFill>
            <a:schemeClr val="accent1"/>
          </a:solidFill>
          <a:ln/>
        </p:spPr>
      </p:sp>
      <p:pic>
        <p:nvPicPr>
          <p:cNvPr id="19" name="Image 3" descr="Clock icon"/>
          <p:cNvPicPr>
            <a:picLocks noChangeAspect="1"/>
          </p:cNvPicPr>
          <p:nvPr/>
        </p:nvPicPr>
        <p:blipFill>
          <a:blip r:embed="rId6"/>
          <a:stretch>
            <a:fillRect/>
          </a:stretch>
        </p:blipFill>
        <p:spPr>
          <a:xfrm>
            <a:off x="653979" y="3708075"/>
            <a:ext cx="228234" cy="228234"/>
          </a:xfrm>
          <a:prstGeom prst="rect">
            <a:avLst/>
          </a:prstGeom>
        </p:spPr>
      </p:pic>
      <p:sp>
        <p:nvSpPr>
          <p:cNvPr id="20" name="Text 13"/>
          <p:cNvSpPr txBox="1"/>
          <p:nvPr/>
        </p:nvSpPr>
        <p:spPr>
          <a:xfrm>
            <a:off x="1143000" y="3557016"/>
            <a:ext cx="5852160" cy="274320"/>
          </a:xfrm>
          <a:prstGeom prst="rect">
            <a:avLst/>
          </a:prstGeom>
          <a:noFill/>
          <a:ln/>
        </p:spPr>
        <p:txBody>
          <a:bodyPr wrap="square" lIns="0" tIns="0" rIns="0" bIns="0" rtlCol="0" anchor="t"/>
          <a:lstStyle/>
          <a:p>
            <a:pPr marL="0" indent="0" algn="l">
              <a:buNone/>
            </a:pPr>
            <a:r>
              <a:rPr lang="en-US" sz="1400" b="1" dirty="0">
                <a:solidFill>
                  <a:schemeClr val="accent1"/>
                </a:solidFill>
              </a:rPr>
              <a:t>Clock skew</a:t>
            </a:r>
            <a:endParaRPr lang="en-US" sz="1400" dirty="0"/>
          </a:p>
        </p:txBody>
      </p:sp>
      <p:sp>
        <p:nvSpPr>
          <p:cNvPr id="21" name="Text 14"/>
          <p:cNvSpPr txBox="1"/>
          <p:nvPr/>
        </p:nvSpPr>
        <p:spPr>
          <a:xfrm>
            <a:off x="1143000" y="3822192"/>
            <a:ext cx="5989320" cy="310896"/>
          </a:xfrm>
          <a:prstGeom prst="rect">
            <a:avLst/>
          </a:prstGeom>
          <a:noFill/>
          <a:ln/>
        </p:spPr>
        <p:txBody>
          <a:bodyPr wrap="square" lIns="0" tIns="0" rIns="0" bIns="0" rtlCol="0" anchor="t"/>
          <a:lstStyle/>
          <a:p>
            <a:pPr marL="0" indent="0" algn="l">
              <a:buNone/>
            </a:pPr>
            <a:r>
              <a:rPr lang="en-US" sz="1300" dirty="0">
                <a:solidFill>
                  <a:schemeClr val="tx1"/>
                </a:solidFill>
              </a:rPr>
              <a:t>Unsynchronised clocks drift by minutes, enough to reverse an attack’s order</a:t>
            </a:r>
            <a:endParaRPr lang="en-US" sz="1300" dirty="0"/>
          </a:p>
        </p:txBody>
      </p:sp>
      <p:sp>
        <p:nvSpPr>
          <p:cNvPr id="22" name="Shape 15"/>
          <p:cNvSpPr/>
          <p:nvPr/>
        </p:nvSpPr>
        <p:spPr>
          <a:xfrm>
            <a:off x="548640" y="4233672"/>
            <a:ext cx="438912" cy="438912"/>
          </a:xfrm>
          <a:prstGeom prst="ellipse">
            <a:avLst/>
          </a:prstGeom>
          <a:solidFill>
            <a:schemeClr val="accent1"/>
          </a:solidFill>
          <a:ln/>
        </p:spPr>
      </p:sp>
      <p:pic>
        <p:nvPicPr>
          <p:cNvPr id="23" name="Image 4" descr="Fingerprint icon"/>
          <p:cNvPicPr>
            <a:picLocks noChangeAspect="1"/>
          </p:cNvPicPr>
          <p:nvPr/>
        </p:nvPicPr>
        <p:blipFill>
          <a:blip r:embed="rId7"/>
          <a:stretch>
            <a:fillRect/>
          </a:stretch>
        </p:blipFill>
        <p:spPr>
          <a:xfrm>
            <a:off x="653979" y="4339011"/>
            <a:ext cx="228234" cy="228234"/>
          </a:xfrm>
          <a:prstGeom prst="rect">
            <a:avLst/>
          </a:prstGeom>
        </p:spPr>
      </p:pic>
      <p:sp>
        <p:nvSpPr>
          <p:cNvPr id="24" name="Text 16"/>
          <p:cNvSpPr txBox="1"/>
          <p:nvPr/>
        </p:nvSpPr>
        <p:spPr>
          <a:xfrm>
            <a:off x="1143000" y="4187952"/>
            <a:ext cx="5852160" cy="274320"/>
          </a:xfrm>
          <a:prstGeom prst="rect">
            <a:avLst/>
          </a:prstGeom>
          <a:noFill/>
          <a:ln/>
        </p:spPr>
        <p:txBody>
          <a:bodyPr wrap="square" lIns="0" tIns="0" rIns="0" bIns="0" rtlCol="0" anchor="t"/>
          <a:lstStyle/>
          <a:p>
            <a:pPr marL="0" indent="0" algn="l">
              <a:buNone/>
            </a:pPr>
            <a:r>
              <a:rPr lang="en-US" sz="1400" b="1" dirty="0">
                <a:solidFill>
                  <a:schemeClr val="accent1"/>
                </a:solidFill>
              </a:rPr>
              <a:t>No evidence integrity</a:t>
            </a:r>
            <a:endParaRPr lang="en-US" sz="1400" dirty="0"/>
          </a:p>
        </p:txBody>
      </p:sp>
      <p:sp>
        <p:nvSpPr>
          <p:cNvPr id="25" name="Text 17"/>
          <p:cNvSpPr txBox="1"/>
          <p:nvPr/>
        </p:nvSpPr>
        <p:spPr>
          <a:xfrm>
            <a:off x="1143000" y="4453128"/>
            <a:ext cx="5989320" cy="310896"/>
          </a:xfrm>
          <a:prstGeom prst="rect">
            <a:avLst/>
          </a:prstGeom>
          <a:noFill/>
          <a:ln/>
        </p:spPr>
        <p:txBody>
          <a:bodyPr wrap="square" lIns="0" tIns="0" rIns="0" bIns="0" rtlCol="0" anchor="t"/>
          <a:lstStyle/>
          <a:p>
            <a:pPr marL="0" indent="0" algn="l">
              <a:buNone/>
            </a:pPr>
            <a:r>
              <a:rPr lang="en-US" sz="1300" dirty="0">
                <a:solidFill>
                  <a:schemeClr val="tx1"/>
                </a:solidFill>
              </a:rPr>
              <a:t>Without hashing and a chain of custody, findings can be challenged</a:t>
            </a:r>
            <a:endParaRPr lang="en-US" sz="1300" dirty="0"/>
          </a:p>
        </p:txBody>
      </p:sp>
      <p:sp>
        <p:nvSpPr>
          <p:cNvPr id="26" name="Shape 18"/>
          <p:cNvSpPr/>
          <p:nvPr/>
        </p:nvSpPr>
        <p:spPr>
          <a:xfrm>
            <a:off x="548640" y="4864608"/>
            <a:ext cx="438912" cy="438912"/>
          </a:xfrm>
          <a:prstGeom prst="ellipse">
            <a:avLst/>
          </a:prstGeom>
          <a:solidFill>
            <a:schemeClr val="accent1"/>
          </a:solidFill>
          <a:ln/>
        </p:spPr>
      </p:sp>
      <p:pic>
        <p:nvPicPr>
          <p:cNvPr id="27" name="Image 5" descr="HourglassHalf icon"/>
          <p:cNvPicPr>
            <a:picLocks noChangeAspect="1"/>
          </p:cNvPicPr>
          <p:nvPr/>
        </p:nvPicPr>
        <p:blipFill>
          <a:blip r:embed="rId8"/>
          <a:stretch>
            <a:fillRect/>
          </a:stretch>
        </p:blipFill>
        <p:spPr>
          <a:xfrm>
            <a:off x="653979" y="4969947"/>
            <a:ext cx="228234" cy="228234"/>
          </a:xfrm>
          <a:prstGeom prst="rect">
            <a:avLst/>
          </a:prstGeom>
        </p:spPr>
      </p:pic>
      <p:sp>
        <p:nvSpPr>
          <p:cNvPr id="28" name="Text 19"/>
          <p:cNvSpPr txBox="1"/>
          <p:nvPr/>
        </p:nvSpPr>
        <p:spPr>
          <a:xfrm>
            <a:off x="1143000" y="4818888"/>
            <a:ext cx="5852160" cy="274320"/>
          </a:xfrm>
          <a:prstGeom prst="rect">
            <a:avLst/>
          </a:prstGeom>
          <a:noFill/>
          <a:ln/>
        </p:spPr>
        <p:txBody>
          <a:bodyPr wrap="square" lIns="0" tIns="0" rIns="0" bIns="0" rtlCol="0" anchor="t"/>
          <a:lstStyle/>
          <a:p>
            <a:pPr marL="0" indent="0" algn="l">
              <a:buNone/>
            </a:pPr>
            <a:r>
              <a:rPr lang="en-US" sz="1400" b="1" dirty="0">
                <a:solidFill>
                  <a:schemeClr val="accent1"/>
                </a:solidFill>
              </a:rPr>
              <a:t>Silent data loss, slow triage</a:t>
            </a:r>
            <a:endParaRPr lang="en-US" sz="1400" dirty="0"/>
          </a:p>
        </p:txBody>
      </p:sp>
      <p:sp>
        <p:nvSpPr>
          <p:cNvPr id="29" name="Text 20"/>
          <p:cNvSpPr txBox="1"/>
          <p:nvPr/>
        </p:nvSpPr>
        <p:spPr>
          <a:xfrm>
            <a:off x="1143000" y="5084064"/>
            <a:ext cx="5989320" cy="310896"/>
          </a:xfrm>
          <a:prstGeom prst="rect">
            <a:avLst/>
          </a:prstGeom>
          <a:noFill/>
          <a:ln/>
        </p:spPr>
        <p:txBody>
          <a:bodyPr wrap="square" lIns="0" tIns="0" rIns="0" bIns="0" rtlCol="0" anchor="t"/>
          <a:lstStyle/>
          <a:p>
            <a:pPr marL="0" indent="0" algn="l">
              <a:buNone/>
            </a:pPr>
            <a:r>
              <a:rPr lang="en-US" sz="1300" dirty="0">
                <a:solidFill>
                  <a:schemeClr val="tx1"/>
                </a:solidFill>
              </a:rPr>
              <a:t>Unreadable lines are skipped unnoticed; manual work takes ~45 min</a:t>
            </a:r>
            <a:endParaRPr lang="en-US" sz="1300" dirty="0"/>
          </a:p>
        </p:txBody>
      </p:sp>
      <p:sp>
        <p:nvSpPr>
          <p:cNvPr id="30" name="Text 21"/>
          <p:cNvSpPr txBox="1"/>
          <p:nvPr/>
        </p:nvSpPr>
        <p:spPr>
          <a:xfrm>
            <a:off x="7406640" y="1645920"/>
            <a:ext cx="4233672" cy="292608"/>
          </a:xfrm>
          <a:prstGeom prst="rect">
            <a:avLst/>
          </a:prstGeom>
          <a:noFill/>
          <a:ln/>
        </p:spPr>
        <p:txBody>
          <a:bodyPr wrap="square" lIns="0" tIns="0" rIns="0" bIns="0" rtlCol="0" anchor="t"/>
          <a:lstStyle/>
          <a:p>
            <a:pPr marL="0" indent="0" algn="l">
              <a:buNone/>
            </a:pPr>
            <a:r>
              <a:rPr lang="en-US" sz="1300" b="1" dirty="0">
                <a:solidFill>
                  <a:schemeClr val="tx1"/>
                </a:solidFill>
              </a:rPr>
              <a:t>Same attack, two servers, two clocks (scenario 3)</a:t>
            </a:r>
            <a:endParaRPr lang="en-US" sz="1300" dirty="0"/>
          </a:p>
        </p:txBody>
      </p:sp>
      <p:sp>
        <p:nvSpPr>
          <p:cNvPr id="31" name="Shape 22"/>
          <p:cNvSpPr/>
          <p:nvPr/>
        </p:nvSpPr>
        <p:spPr>
          <a:xfrm>
            <a:off x="7406640" y="1993392"/>
            <a:ext cx="4233672" cy="914400"/>
          </a:xfrm>
          <a:prstGeom prst="roundRect">
            <a:avLst>
              <a:gd name="adj" fmla="val 8000"/>
            </a:avLst>
          </a:prstGeom>
          <a:solidFill>
            <a:schemeClr val="bg2"/>
          </a:solidFill>
          <a:ln/>
        </p:spPr>
      </p:sp>
      <p:sp>
        <p:nvSpPr>
          <p:cNvPr id="32" name="Text 23"/>
          <p:cNvSpPr txBox="1"/>
          <p:nvPr/>
        </p:nvSpPr>
        <p:spPr>
          <a:xfrm>
            <a:off x="7543800" y="2048256"/>
            <a:ext cx="3977640" cy="256032"/>
          </a:xfrm>
          <a:prstGeom prst="rect">
            <a:avLst/>
          </a:prstGeom>
          <a:noFill/>
          <a:ln/>
        </p:spPr>
        <p:txBody>
          <a:bodyPr wrap="square" lIns="0" tIns="0" rIns="0" bIns="0" rtlCol="0" anchor="t"/>
          <a:lstStyle/>
          <a:p>
            <a:pPr marL="0" indent="0" algn="l">
              <a:buNone/>
            </a:pPr>
            <a:r>
              <a:rPr lang="en-US" sz="1200" b="1" dirty="0">
                <a:solidFill>
                  <a:schemeClr val="accent1"/>
                </a:solidFill>
              </a:rPr>
              <a:t>web01  ·  Asia/Kolkata (UTC+05:30)</a:t>
            </a:r>
            <a:endParaRPr lang="en-US" sz="1200" dirty="0"/>
          </a:p>
        </p:txBody>
      </p:sp>
      <p:sp>
        <p:nvSpPr>
          <p:cNvPr id="33" name="Text 24"/>
          <p:cNvSpPr txBox="1"/>
          <p:nvPr/>
        </p:nvSpPr>
        <p:spPr>
          <a:xfrm>
            <a:off x="7543800" y="2313432"/>
            <a:ext cx="4023360" cy="548640"/>
          </a:xfrm>
          <a:prstGeom prst="rect">
            <a:avLst/>
          </a:prstGeom>
          <a:noFill/>
          <a:ln/>
        </p:spPr>
        <p:txBody>
          <a:bodyPr wrap="square" lIns="0" tIns="0" rIns="0" bIns="0" rtlCol="0" anchor="t"/>
          <a:lstStyle/>
          <a:p>
            <a:pPr marL="0" indent="0" algn="l">
              <a:buNone/>
            </a:pPr>
            <a:r>
              <a:rPr lang="en-US" sz="1050" dirty="0">
                <a:solidFill>
                  <a:schemeClr val="tx1"/>
                </a:solidFill>
                <a:latin typeface="Courier New" pitchFamily="34" charset="0"/>
                <a:ea typeface="Courier New" pitchFamily="34" charset="-122"/>
                <a:cs typeface="Courier New" pitchFamily="34" charset="-120"/>
              </a:rPr>
              <a:t>[09/Oct/2026:14:02:10 +0530] "GET /static/img/avatar.php?cmd=id"</a:t>
            </a:r>
            <a:endParaRPr lang="en-US" sz="1050" dirty="0"/>
          </a:p>
        </p:txBody>
      </p:sp>
      <p:sp>
        <p:nvSpPr>
          <p:cNvPr id="34" name="Shape 25"/>
          <p:cNvSpPr/>
          <p:nvPr/>
        </p:nvSpPr>
        <p:spPr>
          <a:xfrm>
            <a:off x="7406640" y="2999232"/>
            <a:ext cx="4233672" cy="914400"/>
          </a:xfrm>
          <a:prstGeom prst="roundRect">
            <a:avLst>
              <a:gd name="adj" fmla="val 8000"/>
            </a:avLst>
          </a:prstGeom>
          <a:solidFill>
            <a:schemeClr val="bg2"/>
          </a:solidFill>
          <a:ln/>
        </p:spPr>
      </p:sp>
      <p:sp>
        <p:nvSpPr>
          <p:cNvPr id="35" name="Text 26"/>
          <p:cNvSpPr txBox="1"/>
          <p:nvPr/>
        </p:nvSpPr>
        <p:spPr>
          <a:xfrm>
            <a:off x="7543800" y="3054096"/>
            <a:ext cx="3977640" cy="256032"/>
          </a:xfrm>
          <a:prstGeom prst="rect">
            <a:avLst/>
          </a:prstGeom>
          <a:noFill/>
          <a:ln/>
        </p:spPr>
        <p:txBody>
          <a:bodyPr wrap="square" lIns="0" tIns="0" rIns="0" bIns="0" rtlCol="0" anchor="t"/>
          <a:lstStyle/>
          <a:p>
            <a:pPr marL="0" indent="0" algn="l">
              <a:buNone/>
            </a:pPr>
            <a:r>
              <a:rPr lang="en-US" sz="1200" b="1" dirty="0">
                <a:solidFill>
                  <a:schemeClr val="accent1"/>
                </a:solidFill>
              </a:rPr>
              <a:t>db01  ·  America/New_York  ·  clock 3 min slow</a:t>
            </a:r>
            <a:endParaRPr lang="en-US" sz="1200" dirty="0"/>
          </a:p>
        </p:txBody>
      </p:sp>
      <p:sp>
        <p:nvSpPr>
          <p:cNvPr id="36" name="Text 27"/>
          <p:cNvSpPr txBox="1"/>
          <p:nvPr/>
        </p:nvSpPr>
        <p:spPr>
          <a:xfrm>
            <a:off x="7543800" y="3319272"/>
            <a:ext cx="4023360" cy="548640"/>
          </a:xfrm>
          <a:prstGeom prst="rect">
            <a:avLst/>
          </a:prstGeom>
          <a:noFill/>
          <a:ln/>
        </p:spPr>
        <p:txBody>
          <a:bodyPr wrap="square" lIns="0" tIns="0" rIns="0" bIns="0" rtlCol="0" anchor="t"/>
          <a:lstStyle/>
          <a:p>
            <a:pPr marL="0" indent="0" algn="l">
              <a:buNone/>
            </a:pPr>
            <a:r>
              <a:rPr lang="en-US" sz="1050" dirty="0">
                <a:solidFill>
                  <a:schemeClr val="tx1"/>
                </a:solidFill>
                <a:latin typeface="Courier New" pitchFamily="34" charset="0"/>
                <a:ea typeface="Courier New" pitchFamily="34" charset="-122"/>
                <a:cs typeface="Courier New" pitchFamily="34" charset="-120"/>
              </a:rPr>
              <a:t>Oct  9 04:30:05 db01 sshd: Accepted password for dbadmin</a:t>
            </a:r>
            <a:endParaRPr lang="en-US" sz="1050" dirty="0"/>
          </a:p>
        </p:txBody>
      </p:sp>
      <p:sp>
        <p:nvSpPr>
          <p:cNvPr id="37" name="Shape 28"/>
          <p:cNvSpPr/>
          <p:nvPr/>
        </p:nvSpPr>
        <p:spPr>
          <a:xfrm>
            <a:off x="7406640" y="4023360"/>
            <a:ext cx="4233672" cy="1188720"/>
          </a:xfrm>
          <a:prstGeom prst="roundRect">
            <a:avLst>
              <a:gd name="adj" fmla="val 6154"/>
            </a:avLst>
          </a:prstGeom>
          <a:solidFill>
            <a:srgbClr val="FEF2F2"/>
          </a:solidFill>
          <a:ln w="12700">
            <a:solidFill>
              <a:srgbClr val="B91C1C"/>
            </a:solidFill>
            <a:prstDash val="solid"/>
          </a:ln>
        </p:spPr>
      </p:sp>
      <p:sp>
        <p:nvSpPr>
          <p:cNvPr id="38" name="Text 29"/>
          <p:cNvSpPr txBox="1"/>
          <p:nvPr/>
        </p:nvSpPr>
        <p:spPr>
          <a:xfrm>
            <a:off x="7543800" y="4087368"/>
            <a:ext cx="3977640" cy="1060704"/>
          </a:xfrm>
          <a:prstGeom prst="rect">
            <a:avLst/>
          </a:prstGeom>
          <a:noFill/>
          <a:ln/>
        </p:spPr>
        <p:txBody>
          <a:bodyPr wrap="square" lIns="0" tIns="0" rIns="0" bIns="0" rtlCol="0" anchor="t"/>
          <a:lstStyle/>
          <a:p>
            <a:pPr marL="0" indent="0" algn="l">
              <a:buNone/>
            </a:pPr>
            <a:r>
              <a:rPr lang="en-US" sz="1300" dirty="0">
                <a:solidFill>
                  <a:schemeClr val="tx1"/>
                </a:solidFill>
              </a:rPr>
              <a:t>Read as written, the login (04:30) looks </a:t>
            </a:r>
            <a:r>
              <a:rPr lang="en-US" sz="1300" b="1" dirty="0">
                <a:solidFill>
                  <a:schemeClr val="accent4"/>
                </a:solidFill>
              </a:rPr>
              <a:t>9 h 32 min BEFORE</a:t>
            </a:r>
            <a:r>
              <a:rPr lang="en-US" sz="1300" dirty="0">
                <a:solidFill>
                  <a:schemeClr val="tx1"/>
                </a:solidFill>
              </a:rPr>
              <a:t> the web shell (14:02). The attacker’s pivot from web01 to db01 is invisible, and converting by hand is slow and error-prone.</a:t>
            </a:r>
            <a:endParaRPr lang="en-US" sz="1300" dirty="0"/>
          </a:p>
        </p:txBody>
      </p:sp>
      <p:sp>
        <p:nvSpPr>
          <p:cNvPr id="39" name="Shape 30"/>
          <p:cNvSpPr/>
          <p:nvPr/>
        </p:nvSpPr>
        <p:spPr>
          <a:xfrm>
            <a:off x="548640" y="5559552"/>
            <a:ext cx="11094415" cy="749808"/>
          </a:xfrm>
          <a:prstGeom prst="roundRect">
            <a:avLst>
              <a:gd name="adj" fmla="val 9756"/>
            </a:avLst>
          </a:prstGeom>
          <a:solidFill>
            <a:srgbClr val="FFFFFF"/>
          </a:solidFill>
          <a:ln w="12700">
            <a:solidFill>
              <a:srgbClr val="D5DBF5"/>
            </a:solidFill>
            <a:prstDash val="solid"/>
          </a:ln>
        </p:spPr>
      </p:sp>
      <p:sp>
        <p:nvSpPr>
          <p:cNvPr id="40" name="Text 31"/>
          <p:cNvSpPr txBox="1"/>
          <p:nvPr/>
        </p:nvSpPr>
        <p:spPr>
          <a:xfrm>
            <a:off x="685800" y="5586984"/>
            <a:ext cx="10820095" cy="694944"/>
          </a:xfrm>
          <a:prstGeom prst="rect">
            <a:avLst/>
          </a:prstGeom>
          <a:noFill/>
          <a:ln/>
        </p:spPr>
        <p:txBody>
          <a:bodyPr wrap="square" lIns="0" tIns="0" rIns="0" bIns="0" rtlCol="0" anchor="ctr"/>
          <a:lstStyle/>
          <a:p>
            <a:pPr marL="0" indent="0" algn="l">
              <a:buNone/>
            </a:pPr>
            <a:r>
              <a:rPr lang="en-US" sz="1200" b="1" dirty="0">
                <a:solidFill>
                  <a:schemeClr val="accent1"/>
                </a:solidFill>
              </a:rPr>
              <a:t>Objective (PS-013): </a:t>
            </a:r>
            <a:r>
              <a:rPr lang="en-US" sz="1200" dirty="0">
                <a:solidFill>
                  <a:schemeClr val="tx1"/>
                </a:solidFill>
              </a:rPr>
              <a:t>preserve evidence (SHA-256, custody), parse two log formats, build one UTC timeline, flag attacks with ATT&amp;CK, report, log every unreadable line.</a:t>
            </a:r>
            <a:endParaRPr lang="en-US" sz="1200" dirty="0"/>
          </a:p>
          <a:p>
            <a:pPr marL="0" indent="0" algn="l">
              <a:buNone/>
            </a:pPr>
            <a:r>
              <a:rPr lang="en-US" sz="1200" b="1" dirty="0">
                <a:solidFill>
                  <a:schemeClr val="accent1"/>
                </a:solidFill>
              </a:rPr>
              <a:t>Keywords: </a:t>
            </a:r>
            <a:r>
              <a:rPr lang="en-US" sz="1200" dirty="0">
                <a:solidFill>
                  <a:schemeClr val="tx1"/>
                </a:solidFill>
              </a:rPr>
              <a:t>DFIR, incident timeline, evidence collection, chain of custody, SHA-256, log analysis, UTC, DST, clock skew, MITRE ATT&amp;CK, SOC, small teams</a:t>
            </a:r>
            <a:endParaRPr lang="en-US" sz="1200" dirty="0"/>
          </a:p>
        </p:txBody>
      </p:sp>
      <p:sp>
        <p:nvSpPr>
          <p:cNvPr id="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Background</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Background</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Incident response needs one correct timeline: NIST defines the forensic process [1], but syslog has no year or zone and clocks drift</a:t>
            </a:r>
            <a:endParaRPr lang="en-US" sz="1600" dirty="0"/>
          </a:p>
        </p:txBody>
      </p:sp>
      <p:sp>
        <p:nvSpPr>
          <p:cNvPr id="6" name="Text 3"/>
          <p:cNvSpPr txBox="1"/>
          <p:nvPr/>
        </p:nvSpPr>
        <p:spPr>
          <a:xfrm>
            <a:off x="548640" y="1627632"/>
            <a:ext cx="11094415" cy="274320"/>
          </a:xfrm>
          <a:prstGeom prst="rect">
            <a:avLst/>
          </a:prstGeom>
          <a:noFill/>
          <a:ln/>
        </p:spPr>
        <p:txBody>
          <a:bodyPr wrap="square" lIns="0" tIns="0" rIns="0" bIns="0" rtlCol="0" anchor="t"/>
          <a:lstStyle/>
          <a:p>
            <a:pPr marL="0" indent="0" algn="l">
              <a:buNone/>
            </a:pPr>
            <a:r>
              <a:rPr lang="en-US" sz="1300" b="1" dirty="0">
                <a:solidFill>
                  <a:schemeClr val="tx1"/>
                </a:solidFill>
              </a:rPr>
              <a:t>Forensic process (NIST SP 800-86) mapped to ARIXA modules [1]</a:t>
            </a:r>
            <a:endParaRPr lang="en-US" sz="1300" dirty="0"/>
          </a:p>
        </p:txBody>
      </p:sp>
      <p:sp>
        <p:nvSpPr>
          <p:cNvPr id="7" name="Text 4"/>
          <p:cNvSpPr/>
          <p:nvPr/>
        </p:nvSpPr>
        <p:spPr>
          <a:xfrm>
            <a:off x="548640" y="1938528"/>
            <a:ext cx="2651760" cy="420624"/>
          </a:xfrm>
          <a:prstGeom prst="homePlate">
            <a:avLst/>
          </a:prstGeom>
          <a:solidFill>
            <a:schemeClr val="accent1"/>
          </a:solidFill>
          <a:ln/>
        </p:spPr>
        <p:txBody>
          <a:bodyPr wrap="square" lIns="0" tIns="0" rIns="0" bIns="0" rtlCol="0" anchor="ctr"/>
          <a:lstStyle/>
          <a:p>
            <a:pPr marL="0" indent="0" algn="ctr">
              <a:buNone/>
            </a:pPr>
            <a:r>
              <a:rPr lang="en-US" sz="1400" b="1" dirty="0">
                <a:solidFill>
                  <a:srgbClr val="FFFFFF"/>
                </a:solidFill>
              </a:rPr>
              <a:t>Collection</a:t>
            </a:r>
            <a:endParaRPr lang="en-US" sz="1400" dirty="0"/>
          </a:p>
        </p:txBody>
      </p:sp>
      <p:sp>
        <p:nvSpPr>
          <p:cNvPr id="8" name="Text 5"/>
          <p:cNvSpPr txBox="1"/>
          <p:nvPr/>
        </p:nvSpPr>
        <p:spPr>
          <a:xfrm>
            <a:off x="594360" y="2414016"/>
            <a:ext cx="2560320" cy="475488"/>
          </a:xfrm>
          <a:prstGeom prst="rect">
            <a:avLst/>
          </a:prstGeom>
          <a:noFill/>
          <a:ln/>
        </p:spPr>
        <p:txBody>
          <a:bodyPr wrap="square" lIns="0" tIns="0" rIns="0" bIns="0" rtlCol="0" anchor="t"/>
          <a:lstStyle/>
          <a:p>
            <a:pPr marL="0" indent="0" algn="l">
              <a:buNone/>
            </a:pPr>
            <a:r>
              <a:rPr lang="en-US" sz="1200" dirty="0">
                <a:solidFill>
                  <a:schemeClr val="tx1"/>
                </a:solidFill>
              </a:rPr>
              <a:t>evidence.py: SHA-256, read-only copy, manifest, custody log</a:t>
            </a:r>
            <a:endParaRPr lang="en-US" sz="1200" dirty="0"/>
          </a:p>
        </p:txBody>
      </p:sp>
      <p:sp>
        <p:nvSpPr>
          <p:cNvPr id="9" name="Text 6"/>
          <p:cNvSpPr/>
          <p:nvPr/>
        </p:nvSpPr>
        <p:spPr>
          <a:xfrm>
            <a:off x="3364992" y="1938528"/>
            <a:ext cx="2651760" cy="420624"/>
          </a:xfrm>
          <a:prstGeom prst="chevron">
            <a:avLst/>
          </a:prstGeom>
          <a:solidFill>
            <a:schemeClr val="accent1"/>
          </a:solidFill>
          <a:ln/>
        </p:spPr>
        <p:txBody>
          <a:bodyPr wrap="square" lIns="0" tIns="0" rIns="0" bIns="0" rtlCol="0" anchor="ctr"/>
          <a:lstStyle/>
          <a:p>
            <a:pPr marL="0" indent="0" algn="ctr">
              <a:buNone/>
            </a:pPr>
            <a:r>
              <a:rPr lang="en-US" sz="1400" b="1" dirty="0">
                <a:solidFill>
                  <a:srgbClr val="FFFFFF"/>
                </a:solidFill>
              </a:rPr>
              <a:t>Examination</a:t>
            </a:r>
            <a:endParaRPr lang="en-US" sz="1400" dirty="0"/>
          </a:p>
        </p:txBody>
      </p:sp>
      <p:sp>
        <p:nvSpPr>
          <p:cNvPr id="10" name="Text 7"/>
          <p:cNvSpPr txBox="1"/>
          <p:nvPr/>
        </p:nvSpPr>
        <p:spPr>
          <a:xfrm>
            <a:off x="3410712" y="2414016"/>
            <a:ext cx="2560320" cy="475488"/>
          </a:xfrm>
          <a:prstGeom prst="rect">
            <a:avLst/>
          </a:prstGeom>
          <a:noFill/>
          <a:ln/>
        </p:spPr>
        <p:txBody>
          <a:bodyPr wrap="square" lIns="0" tIns="0" rIns="0" bIns="0" rtlCol="0" anchor="t"/>
          <a:lstStyle/>
          <a:p>
            <a:pPr marL="0" indent="0" algn="l">
              <a:buNone/>
            </a:pPr>
            <a:r>
              <a:rPr lang="en-US" sz="1200" dirty="0">
                <a:solidFill>
                  <a:schemeClr val="tx1"/>
                </a:solidFill>
              </a:rPr>
              <a:t>parsers.py + normalize.py: fields, UTC time, parsing gaps</a:t>
            </a:r>
            <a:endParaRPr lang="en-US" sz="1200" dirty="0"/>
          </a:p>
        </p:txBody>
      </p:sp>
      <p:sp>
        <p:nvSpPr>
          <p:cNvPr id="11" name="Text 8"/>
          <p:cNvSpPr/>
          <p:nvPr/>
        </p:nvSpPr>
        <p:spPr>
          <a:xfrm>
            <a:off x="6181344" y="1938528"/>
            <a:ext cx="2651760" cy="420624"/>
          </a:xfrm>
          <a:prstGeom prst="chevron">
            <a:avLst/>
          </a:prstGeom>
          <a:solidFill>
            <a:schemeClr val="accent1"/>
          </a:solidFill>
          <a:ln/>
        </p:spPr>
        <p:txBody>
          <a:bodyPr wrap="square" lIns="0" tIns="0" rIns="0" bIns="0" rtlCol="0" anchor="ctr"/>
          <a:lstStyle/>
          <a:p>
            <a:pPr marL="0" indent="0" algn="ctr">
              <a:buNone/>
            </a:pPr>
            <a:r>
              <a:rPr lang="en-US" sz="1400" b="1" dirty="0">
                <a:solidFill>
                  <a:srgbClr val="FFFFFF"/>
                </a:solidFill>
              </a:rPr>
              <a:t>Analysis</a:t>
            </a:r>
            <a:endParaRPr lang="en-US" sz="1400" dirty="0"/>
          </a:p>
        </p:txBody>
      </p:sp>
      <p:sp>
        <p:nvSpPr>
          <p:cNvPr id="12" name="Text 9"/>
          <p:cNvSpPr txBox="1"/>
          <p:nvPr/>
        </p:nvSpPr>
        <p:spPr>
          <a:xfrm>
            <a:off x="6227064" y="2414016"/>
            <a:ext cx="2560320" cy="475488"/>
          </a:xfrm>
          <a:prstGeom prst="rect">
            <a:avLst/>
          </a:prstGeom>
          <a:noFill/>
          <a:ln/>
        </p:spPr>
        <p:txBody>
          <a:bodyPr wrap="square" lIns="0" tIns="0" rIns="0" bIns="0" rtlCol="0" anchor="t"/>
          <a:lstStyle/>
          <a:p>
            <a:pPr marL="0" indent="0" algn="l">
              <a:buNone/>
            </a:pPr>
            <a:r>
              <a:rPr lang="en-US" sz="1200" dirty="0">
                <a:solidFill>
                  <a:schemeClr val="tx1"/>
                </a:solidFill>
              </a:rPr>
              <a:t>detect.py + attack_map.py: rules R1–R8, kill chain, graph</a:t>
            </a:r>
            <a:endParaRPr lang="en-US" sz="1200" dirty="0"/>
          </a:p>
        </p:txBody>
      </p:sp>
      <p:sp>
        <p:nvSpPr>
          <p:cNvPr id="13" name="Text 10"/>
          <p:cNvSpPr/>
          <p:nvPr/>
        </p:nvSpPr>
        <p:spPr>
          <a:xfrm>
            <a:off x="8997696" y="1938528"/>
            <a:ext cx="2651760" cy="420624"/>
          </a:xfrm>
          <a:prstGeom prst="chevron">
            <a:avLst/>
          </a:prstGeom>
          <a:solidFill>
            <a:schemeClr val="accent1"/>
          </a:solidFill>
          <a:ln/>
        </p:spPr>
        <p:txBody>
          <a:bodyPr wrap="square" lIns="0" tIns="0" rIns="0" bIns="0" rtlCol="0" anchor="ctr"/>
          <a:lstStyle/>
          <a:p>
            <a:pPr marL="0" indent="0" algn="ctr">
              <a:buNone/>
            </a:pPr>
            <a:r>
              <a:rPr lang="en-US" sz="1400" b="1" dirty="0">
                <a:solidFill>
                  <a:srgbClr val="FFFFFF"/>
                </a:solidFill>
              </a:rPr>
              <a:t>Reporting</a:t>
            </a:r>
            <a:endParaRPr lang="en-US" sz="1400" dirty="0"/>
          </a:p>
        </p:txBody>
      </p:sp>
      <p:sp>
        <p:nvSpPr>
          <p:cNvPr id="14" name="Text 11"/>
          <p:cNvSpPr txBox="1"/>
          <p:nvPr/>
        </p:nvSpPr>
        <p:spPr>
          <a:xfrm>
            <a:off x="9043416" y="2414016"/>
            <a:ext cx="2560320" cy="475488"/>
          </a:xfrm>
          <a:prstGeom prst="rect">
            <a:avLst/>
          </a:prstGeom>
          <a:noFill/>
          <a:ln/>
        </p:spPr>
        <p:txBody>
          <a:bodyPr wrap="square" lIns="0" tIns="0" rIns="0" bIns="0" rtlCol="0" anchor="t"/>
          <a:lstStyle/>
          <a:p>
            <a:pPr marL="0" indent="0" algn="l">
              <a:buNone/>
            </a:pPr>
            <a:r>
              <a:rPr lang="en-US" sz="1200" dirty="0">
                <a:solidFill>
                  <a:schemeClr val="tx1"/>
                </a:solidFill>
              </a:rPr>
              <a:t>report.py: Markdown / PDF report, case bundle ZIP</a:t>
            </a:r>
            <a:endParaRPr lang="en-US" sz="1200" dirty="0"/>
          </a:p>
        </p:txBody>
      </p:sp>
      <p:sp>
        <p:nvSpPr>
          <p:cNvPr id="15" name="Text 12"/>
          <p:cNvSpPr txBox="1"/>
          <p:nvPr/>
        </p:nvSpPr>
        <p:spPr>
          <a:xfrm>
            <a:off x="548640" y="3017520"/>
            <a:ext cx="5303520" cy="274320"/>
          </a:xfrm>
          <a:prstGeom prst="rect">
            <a:avLst/>
          </a:prstGeom>
          <a:noFill/>
          <a:ln/>
        </p:spPr>
        <p:txBody>
          <a:bodyPr wrap="square" lIns="0" tIns="0" rIns="0" bIns="0" rtlCol="0" anchor="t"/>
          <a:lstStyle/>
          <a:p>
            <a:pPr marL="0" indent="0" algn="l">
              <a:buNone/>
            </a:pPr>
            <a:r>
              <a:rPr lang="en-US" sz="1300" b="1" dirty="0">
                <a:solidFill>
                  <a:schemeClr val="accent1"/>
                </a:solidFill>
              </a:rPr>
              <a:t>Why time breaks investigations</a:t>
            </a:r>
            <a:endParaRPr lang="en-US" sz="1300" dirty="0"/>
          </a:p>
        </p:txBody>
      </p:sp>
      <p:sp>
        <p:nvSpPr>
          <p:cNvPr id="16" name="Text 13"/>
          <p:cNvSpPr txBox="1"/>
          <p:nvPr/>
        </p:nvSpPr>
        <p:spPr>
          <a:xfrm>
            <a:off x="548640" y="3337560"/>
            <a:ext cx="5303520" cy="2926080"/>
          </a:xfrm>
          <a:prstGeom prst="rect">
            <a:avLst/>
          </a:prstGeom>
          <a:noFill/>
          <a:ln/>
        </p:spPr>
        <p:txBody>
          <a:bodyPr wrap="square" lIns="0" tIns="0" rIns="0" bIns="0" rtlCol="0" anchor="t"/>
          <a:lstStyle/>
          <a:p>
            <a:pPr marL="177800" indent="-177800">
              <a:spcAft>
                <a:spcPts val="400"/>
              </a:spcAft>
              <a:buSzPct val="100000"/>
              <a:buChar char="•"/>
            </a:pPr>
            <a:r>
              <a:rPr lang="en-US" sz="1250" b="1" dirty="0">
                <a:solidFill>
                  <a:schemeClr val="accent1"/>
                </a:solidFill>
              </a:rPr>
              <a:t>No year, no zone: </a:t>
            </a:r>
            <a:r>
              <a:rPr lang="en-US" sz="1250" dirty="0">
                <a:solidFill>
                  <a:schemeClr val="tx1"/>
                </a:solidFill>
              </a:rPr>
              <a:t>RFC 3164 syslog writes “Oct  9 04:30:05” [6]; RFC 5424 adds RFC 3339 time [7][8]</a:t>
            </a:r>
            <a:endParaRPr lang="en-US" sz="1250" dirty="0"/>
          </a:p>
          <a:p>
            <a:pPr marL="177800" indent="-177800">
              <a:spcAft>
                <a:spcPts val="400"/>
              </a:spcAft>
              <a:buSzPct val="100000"/>
              <a:buChar char="•"/>
            </a:pPr>
            <a:r>
              <a:rPr lang="en-US" sz="1250" b="1" dirty="0">
                <a:solidFill>
                  <a:schemeClr val="accent1"/>
                </a:solidFill>
              </a:rPr>
              <a:t>Mixed sources: </a:t>
            </a:r>
            <a:r>
              <a:rPr lang="en-US" sz="1250" dirty="0">
                <a:solidFill>
                  <a:schemeClr val="tx1"/>
                </a:solidFill>
              </a:rPr>
              <a:t>access logs carry an offset (+0530); syslog lines do not</a:t>
            </a:r>
            <a:endParaRPr lang="en-US" sz="1250" dirty="0"/>
          </a:p>
          <a:p>
            <a:pPr marL="177800" indent="-177800">
              <a:spcAft>
                <a:spcPts val="400"/>
              </a:spcAft>
              <a:buSzPct val="100000"/>
              <a:buChar char="•"/>
            </a:pPr>
            <a:r>
              <a:rPr lang="en-US" sz="1250" b="1" dirty="0">
                <a:solidFill>
                  <a:schemeClr val="accent1"/>
                </a:solidFill>
              </a:rPr>
              <a:t>Daylight saving: </a:t>
            </a:r>
            <a:r>
              <a:rPr lang="en-US" sz="1250" dirty="0">
                <a:solidFill>
                  <a:schemeClr val="tx1"/>
                </a:solidFill>
              </a:rPr>
              <a:t>America/New_York is UTC−5 or UTC−4; use IANA zone names [10]</a:t>
            </a:r>
            <a:endParaRPr lang="en-US" sz="1250" dirty="0"/>
          </a:p>
          <a:p>
            <a:pPr marL="177800" indent="-177800">
              <a:spcAft>
                <a:spcPts val="400"/>
              </a:spcAft>
              <a:buSzPct val="100000"/>
              <a:buChar char="•"/>
            </a:pPr>
            <a:r>
              <a:rPr lang="en-US" sz="1250" b="1" dirty="0">
                <a:solidFill>
                  <a:schemeClr val="accent1"/>
                </a:solidFill>
              </a:rPr>
              <a:t>Clock drift: </a:t>
            </a:r>
            <a:r>
              <a:rPr lang="en-US" sz="1250" dirty="0">
                <a:solidFill>
                  <a:schemeClr val="tx1"/>
                </a:solidFill>
              </a:rPr>
              <a:t>without NTP clocks drift [9]; RFC 3227 says record clock vs UTC [4]</a:t>
            </a:r>
            <a:endParaRPr lang="en-US" sz="1250" dirty="0"/>
          </a:p>
          <a:p>
            <a:pPr marL="177800" indent="-177800">
              <a:spcAft>
                <a:spcPts val="400"/>
              </a:spcAft>
              <a:buSzPct val="100000"/>
              <a:buChar char="•"/>
            </a:pPr>
            <a:r>
              <a:rPr lang="en-US" sz="1250" b="1" dirty="0">
                <a:solidFill>
                  <a:schemeClr val="accent1"/>
                </a:solidFill>
              </a:rPr>
              <a:t>Real impact: </a:t>
            </a:r>
            <a:r>
              <a:rPr lang="en-US" sz="1250" dirty="0">
                <a:solidFill>
                  <a:schemeClr val="tx1"/>
                </a:solidFill>
              </a:rPr>
              <a:t>time errors have misled real investigations [15][16]</a:t>
            </a:r>
            <a:endParaRPr lang="en-US" sz="1250" dirty="0"/>
          </a:p>
          <a:p>
            <a:pPr marL="177800" indent="-177800">
              <a:spcAft>
                <a:spcPts val="400"/>
              </a:spcAft>
              <a:buSzPct val="100000"/>
              <a:buChar char="•"/>
            </a:pPr>
            <a:r>
              <a:rPr lang="en-US" sz="1250" b="1" dirty="0">
                <a:solidFill>
                  <a:schemeClr val="accent1"/>
                </a:solidFill>
              </a:rPr>
              <a:t>IR lifecycle [2]: </a:t>
            </a:r>
            <a:r>
              <a:rPr lang="en-US" sz="1250" dirty="0">
                <a:solidFill>
                  <a:schemeClr val="tx1"/>
                </a:solidFill>
              </a:rPr>
              <a:t>ARIXA serves detection &amp; analysis and the post-incident report</a:t>
            </a:r>
            <a:endParaRPr lang="en-US" sz="1250" dirty="0"/>
          </a:p>
        </p:txBody>
      </p:sp>
      <p:sp>
        <p:nvSpPr>
          <p:cNvPr id="17" name="Text 14"/>
          <p:cNvSpPr txBox="1"/>
          <p:nvPr/>
        </p:nvSpPr>
        <p:spPr>
          <a:xfrm>
            <a:off x="6080760" y="3017520"/>
            <a:ext cx="5559552" cy="274320"/>
          </a:xfrm>
          <a:prstGeom prst="rect">
            <a:avLst/>
          </a:prstGeom>
          <a:noFill/>
          <a:ln/>
        </p:spPr>
        <p:txBody>
          <a:bodyPr wrap="square" lIns="0" tIns="0" rIns="0" bIns="0" rtlCol="0" anchor="t"/>
          <a:lstStyle/>
          <a:p>
            <a:pPr marL="0" indent="0" algn="l">
              <a:buNone/>
            </a:pPr>
            <a:r>
              <a:rPr lang="en-US" sz="1300" b="1" dirty="0">
                <a:solidFill>
                  <a:schemeClr val="tx1"/>
                </a:solidFill>
              </a:rPr>
              <a:t>Case study, scenario 3: db01 login vs web01 web shell    </a:t>
            </a:r>
            <a:r>
              <a:rPr lang="en-US" sz="1300" b="1" dirty="0">
                <a:solidFill>
                  <a:srgbClr val="7C3AED"/>
                </a:solidFill>
              </a:rPr>
              <a:t>● shell  </a:t>
            </a:r>
            <a:r>
              <a:rPr lang="en-US" sz="1300" b="1" dirty="0">
                <a:solidFill>
                  <a:srgbClr val="C2410C"/>
                </a:solidFill>
              </a:rPr>
              <a:t>● login</a:t>
            </a:r>
            <a:endParaRPr lang="en-US" sz="1300" dirty="0"/>
          </a:p>
        </p:txBody>
      </p:sp>
      <p:sp>
        <p:nvSpPr>
          <p:cNvPr id="18" name="Shape 15"/>
          <p:cNvSpPr/>
          <p:nvPr/>
        </p:nvSpPr>
        <p:spPr>
          <a:xfrm>
            <a:off x="6080760" y="3346704"/>
            <a:ext cx="5559552" cy="896112"/>
          </a:xfrm>
          <a:prstGeom prst="roundRect">
            <a:avLst>
              <a:gd name="adj" fmla="val 8163"/>
            </a:avLst>
          </a:prstGeom>
          <a:solidFill>
            <a:srgbClr val="FEF2F2"/>
          </a:solidFill>
          <a:ln/>
        </p:spPr>
      </p:sp>
      <p:sp>
        <p:nvSpPr>
          <p:cNvPr id="19" name="Text 16"/>
          <p:cNvSpPr txBox="1"/>
          <p:nvPr/>
        </p:nvSpPr>
        <p:spPr>
          <a:xfrm>
            <a:off x="6217920" y="3392424"/>
            <a:ext cx="3840480" cy="256032"/>
          </a:xfrm>
          <a:prstGeom prst="rect">
            <a:avLst/>
          </a:prstGeom>
          <a:noFill/>
          <a:ln/>
        </p:spPr>
        <p:txBody>
          <a:bodyPr wrap="square" lIns="0" tIns="0" rIns="0" bIns="0" rtlCol="0" anchor="t"/>
          <a:lstStyle/>
          <a:p>
            <a:pPr marL="0" indent="0" algn="l">
              <a:buNone/>
            </a:pPr>
            <a:r>
              <a:rPr lang="en-US" sz="1300" b="1" dirty="0">
                <a:solidFill>
                  <a:schemeClr val="accent4"/>
                </a:solidFill>
              </a:rPr>
              <a:t>1  Raw local time</a:t>
            </a:r>
            <a:endParaRPr lang="en-US" sz="1300" dirty="0"/>
          </a:p>
        </p:txBody>
      </p:sp>
      <p:sp>
        <p:nvSpPr>
          <p:cNvPr id="20" name="Text 17"/>
          <p:cNvSpPr txBox="1"/>
          <p:nvPr/>
        </p:nvSpPr>
        <p:spPr>
          <a:xfrm>
            <a:off x="6217920" y="3657600"/>
            <a:ext cx="3840480" cy="237744"/>
          </a:xfrm>
          <a:prstGeom prst="rect">
            <a:avLst/>
          </a:prstGeom>
          <a:noFill/>
          <a:ln/>
        </p:spPr>
        <p:txBody>
          <a:bodyPr wrap="square" lIns="0" tIns="0" rIns="0" bIns="0" rtlCol="0" anchor="t"/>
          <a:lstStyle/>
          <a:p>
            <a:pPr marL="0" indent="0" algn="l">
              <a:buNone/>
            </a:pPr>
            <a:r>
              <a:rPr lang="en-US" sz="1100" dirty="0">
                <a:solidFill>
                  <a:schemeClr val="tx1"/>
                </a:solidFill>
                <a:latin typeface="Courier New" pitchFamily="34" charset="0"/>
                <a:ea typeface="Courier New" pitchFamily="34" charset="-122"/>
                <a:cs typeface="Courier New" pitchFamily="34" charset="-120"/>
              </a:rPr>
              <a:t>db01 04:30:05 vs web01 14:02:10</a:t>
            </a:r>
            <a:endParaRPr lang="en-US" sz="1100" dirty="0"/>
          </a:p>
        </p:txBody>
      </p:sp>
      <p:sp>
        <p:nvSpPr>
          <p:cNvPr id="21" name="Text 18"/>
          <p:cNvSpPr txBox="1"/>
          <p:nvPr/>
        </p:nvSpPr>
        <p:spPr>
          <a:xfrm>
            <a:off x="6217920" y="3895344"/>
            <a:ext cx="3931920" cy="292608"/>
          </a:xfrm>
          <a:prstGeom prst="rect">
            <a:avLst/>
          </a:prstGeom>
          <a:noFill/>
          <a:ln/>
        </p:spPr>
        <p:txBody>
          <a:bodyPr wrap="square" lIns="0" tIns="0" rIns="0" bIns="0" rtlCol="0" anchor="t"/>
          <a:lstStyle/>
          <a:p>
            <a:pPr marL="0" indent="0" algn="l">
              <a:buNone/>
            </a:pPr>
            <a:r>
              <a:rPr lang="en-US" sz="1200" dirty="0">
                <a:solidFill>
                  <a:schemeClr val="tx1"/>
                </a:solidFill>
              </a:rPr>
              <a:t>Login 9 h 32 min BEFORE the web shell</a:t>
            </a:r>
            <a:endParaRPr lang="en-US" sz="1200" dirty="0"/>
          </a:p>
        </p:txBody>
      </p:sp>
      <p:sp>
        <p:nvSpPr>
          <p:cNvPr id="22" name="Text 19"/>
          <p:cNvSpPr/>
          <p:nvPr/>
        </p:nvSpPr>
        <p:spPr>
          <a:xfrm>
            <a:off x="10195560" y="3438144"/>
            <a:ext cx="1298448" cy="329184"/>
          </a:xfrm>
          <a:prstGeom prst="roundRect">
            <a:avLst>
              <a:gd name="adj" fmla="val 16667"/>
            </a:avLst>
          </a:prstGeom>
          <a:solidFill>
            <a:schemeClr val="accent4"/>
          </a:solidFill>
          <a:ln/>
        </p:spPr>
        <p:txBody>
          <a:bodyPr wrap="square" lIns="38100" tIns="38100" rIns="38100" bIns="38100" rtlCol="0" anchor="ctr"/>
          <a:lstStyle/>
          <a:p>
            <a:pPr marL="0" indent="0" algn="ctr">
              <a:buNone/>
            </a:pPr>
            <a:r>
              <a:rPr lang="en-US" sz="1200" b="1" dirty="0">
                <a:solidFill>
                  <a:srgbClr val="FFFFFF"/>
                </a:solidFill>
              </a:rPr>
              <a:t>MISSED</a:t>
            </a:r>
            <a:endParaRPr lang="en-US" sz="1200" dirty="0"/>
          </a:p>
        </p:txBody>
      </p:sp>
      <p:sp>
        <p:nvSpPr>
          <p:cNvPr id="23" name="Shape 20"/>
          <p:cNvSpPr/>
          <p:nvPr/>
        </p:nvSpPr>
        <p:spPr>
          <a:xfrm>
            <a:off x="10195560" y="4023360"/>
            <a:ext cx="1298448" cy="0"/>
          </a:xfrm>
          <a:prstGeom prst="line">
            <a:avLst/>
          </a:prstGeom>
          <a:noFill/>
          <a:ln w="12700">
            <a:solidFill>
              <a:schemeClr val="accent6"/>
            </a:solidFill>
            <a:prstDash val="solid"/>
          </a:ln>
        </p:spPr>
      </p:sp>
      <p:sp>
        <p:nvSpPr>
          <p:cNvPr id="24" name="Shape 21"/>
          <p:cNvSpPr/>
          <p:nvPr/>
        </p:nvSpPr>
        <p:spPr>
          <a:xfrm>
            <a:off x="10853928" y="3950208"/>
            <a:ext cx="146304" cy="146304"/>
          </a:xfrm>
          <a:prstGeom prst="ellipse">
            <a:avLst/>
          </a:prstGeom>
          <a:solidFill>
            <a:srgbClr val="7C3AED"/>
          </a:solidFill>
          <a:ln/>
        </p:spPr>
      </p:sp>
      <p:sp>
        <p:nvSpPr>
          <p:cNvPr id="25" name="Shape 22"/>
          <p:cNvSpPr/>
          <p:nvPr/>
        </p:nvSpPr>
        <p:spPr>
          <a:xfrm>
            <a:off x="10213848" y="3950208"/>
            <a:ext cx="146304" cy="146304"/>
          </a:xfrm>
          <a:prstGeom prst="ellipse">
            <a:avLst/>
          </a:prstGeom>
          <a:solidFill>
            <a:schemeClr val="accent3"/>
          </a:solidFill>
          <a:ln/>
        </p:spPr>
      </p:sp>
      <p:sp>
        <p:nvSpPr>
          <p:cNvPr id="26" name="Shape 23"/>
          <p:cNvSpPr/>
          <p:nvPr/>
        </p:nvSpPr>
        <p:spPr>
          <a:xfrm>
            <a:off x="6080760" y="4334256"/>
            <a:ext cx="5559552" cy="896112"/>
          </a:xfrm>
          <a:prstGeom prst="roundRect">
            <a:avLst>
              <a:gd name="adj" fmla="val 8163"/>
            </a:avLst>
          </a:prstGeom>
          <a:solidFill>
            <a:srgbClr val="FEF2F2"/>
          </a:solidFill>
          <a:ln/>
        </p:spPr>
      </p:sp>
      <p:sp>
        <p:nvSpPr>
          <p:cNvPr id="27" name="Text 24"/>
          <p:cNvSpPr txBox="1"/>
          <p:nvPr/>
        </p:nvSpPr>
        <p:spPr>
          <a:xfrm>
            <a:off x="6217920" y="4379976"/>
            <a:ext cx="3840480" cy="256032"/>
          </a:xfrm>
          <a:prstGeom prst="rect">
            <a:avLst/>
          </a:prstGeom>
          <a:noFill/>
          <a:ln/>
        </p:spPr>
        <p:txBody>
          <a:bodyPr wrap="square" lIns="0" tIns="0" rIns="0" bIns="0" rtlCol="0" anchor="t"/>
          <a:lstStyle/>
          <a:p>
            <a:pPr marL="0" indent="0" algn="l">
              <a:buNone/>
            </a:pPr>
            <a:r>
              <a:rPr lang="en-US" sz="1300" b="1" dirty="0">
                <a:solidFill>
                  <a:schemeClr val="accent4"/>
                </a:solidFill>
              </a:rPr>
              <a:t>2  UTC, no skew fix</a:t>
            </a:r>
            <a:endParaRPr lang="en-US" sz="1300" dirty="0"/>
          </a:p>
        </p:txBody>
      </p:sp>
      <p:sp>
        <p:nvSpPr>
          <p:cNvPr id="28" name="Text 25"/>
          <p:cNvSpPr txBox="1"/>
          <p:nvPr/>
        </p:nvSpPr>
        <p:spPr>
          <a:xfrm>
            <a:off x="6217920" y="4645152"/>
            <a:ext cx="3840480" cy="237744"/>
          </a:xfrm>
          <a:prstGeom prst="rect">
            <a:avLst/>
          </a:prstGeom>
          <a:noFill/>
          <a:ln/>
        </p:spPr>
        <p:txBody>
          <a:bodyPr wrap="square" lIns="0" tIns="0" rIns="0" bIns="0" rtlCol="0" anchor="t"/>
          <a:lstStyle/>
          <a:p>
            <a:pPr marL="0" indent="0" algn="l">
              <a:buNone/>
            </a:pPr>
            <a:r>
              <a:rPr lang="en-US" sz="1100" dirty="0">
                <a:solidFill>
                  <a:schemeClr val="tx1"/>
                </a:solidFill>
                <a:latin typeface="Courier New" pitchFamily="34" charset="0"/>
                <a:ea typeface="Courier New" pitchFamily="34" charset="-122"/>
                <a:cs typeface="Courier New" pitchFamily="34" charset="-120"/>
              </a:rPr>
              <a:t>08:30:05Z vs 08:32:10Z</a:t>
            </a:r>
            <a:endParaRPr lang="en-US" sz="1100" dirty="0"/>
          </a:p>
        </p:txBody>
      </p:sp>
      <p:sp>
        <p:nvSpPr>
          <p:cNvPr id="29" name="Text 26"/>
          <p:cNvSpPr txBox="1"/>
          <p:nvPr/>
        </p:nvSpPr>
        <p:spPr>
          <a:xfrm>
            <a:off x="6217920" y="4882896"/>
            <a:ext cx="3931920" cy="292608"/>
          </a:xfrm>
          <a:prstGeom prst="rect">
            <a:avLst/>
          </a:prstGeom>
          <a:noFill/>
          <a:ln/>
        </p:spPr>
        <p:txBody>
          <a:bodyPr wrap="square" lIns="0" tIns="0" rIns="0" bIns="0" rtlCol="0" anchor="t"/>
          <a:lstStyle/>
          <a:p>
            <a:pPr marL="0" indent="0" algn="l">
              <a:buNone/>
            </a:pPr>
            <a:r>
              <a:rPr lang="en-US" sz="1200" dirty="0">
                <a:solidFill>
                  <a:schemeClr val="tx1"/>
                </a:solidFill>
              </a:rPr>
              <a:t>Login 2 min 5 s BEFORE the web shell</a:t>
            </a:r>
            <a:endParaRPr lang="en-US" sz="1200" dirty="0"/>
          </a:p>
        </p:txBody>
      </p:sp>
      <p:sp>
        <p:nvSpPr>
          <p:cNvPr id="30" name="Text 27"/>
          <p:cNvSpPr/>
          <p:nvPr/>
        </p:nvSpPr>
        <p:spPr>
          <a:xfrm>
            <a:off x="10195560" y="4425696"/>
            <a:ext cx="1298448" cy="329184"/>
          </a:xfrm>
          <a:prstGeom prst="roundRect">
            <a:avLst>
              <a:gd name="adj" fmla="val 16667"/>
            </a:avLst>
          </a:prstGeom>
          <a:solidFill>
            <a:schemeClr val="accent4"/>
          </a:solidFill>
          <a:ln/>
        </p:spPr>
        <p:txBody>
          <a:bodyPr wrap="square" lIns="38100" tIns="38100" rIns="38100" bIns="38100" rtlCol="0" anchor="ctr"/>
          <a:lstStyle/>
          <a:p>
            <a:pPr marL="0" indent="0" algn="ctr">
              <a:buNone/>
            </a:pPr>
            <a:r>
              <a:rPr lang="en-US" sz="1200" b="1" dirty="0">
                <a:solidFill>
                  <a:srgbClr val="FFFFFF"/>
                </a:solidFill>
              </a:rPr>
              <a:t>MISSED</a:t>
            </a:r>
            <a:endParaRPr lang="en-US" sz="1200" dirty="0"/>
          </a:p>
        </p:txBody>
      </p:sp>
      <p:sp>
        <p:nvSpPr>
          <p:cNvPr id="31" name="Shape 28"/>
          <p:cNvSpPr/>
          <p:nvPr/>
        </p:nvSpPr>
        <p:spPr>
          <a:xfrm>
            <a:off x="10195560" y="5010912"/>
            <a:ext cx="1298448" cy="0"/>
          </a:xfrm>
          <a:prstGeom prst="line">
            <a:avLst/>
          </a:prstGeom>
          <a:noFill/>
          <a:ln w="12700">
            <a:solidFill>
              <a:schemeClr val="accent6"/>
            </a:solidFill>
            <a:prstDash val="solid"/>
          </a:ln>
        </p:spPr>
      </p:sp>
      <p:sp>
        <p:nvSpPr>
          <p:cNvPr id="32" name="Shape 29"/>
          <p:cNvSpPr/>
          <p:nvPr/>
        </p:nvSpPr>
        <p:spPr>
          <a:xfrm>
            <a:off x="10853928" y="4937760"/>
            <a:ext cx="146304" cy="146304"/>
          </a:xfrm>
          <a:prstGeom prst="ellipse">
            <a:avLst/>
          </a:prstGeom>
          <a:solidFill>
            <a:srgbClr val="7C3AED"/>
          </a:solidFill>
          <a:ln/>
        </p:spPr>
      </p:sp>
      <p:sp>
        <p:nvSpPr>
          <p:cNvPr id="33" name="Shape 30"/>
          <p:cNvSpPr/>
          <p:nvPr/>
        </p:nvSpPr>
        <p:spPr>
          <a:xfrm>
            <a:off x="10643616" y="4937760"/>
            <a:ext cx="146304" cy="146304"/>
          </a:xfrm>
          <a:prstGeom prst="ellipse">
            <a:avLst/>
          </a:prstGeom>
          <a:solidFill>
            <a:schemeClr val="accent3"/>
          </a:solidFill>
          <a:ln/>
        </p:spPr>
      </p:sp>
      <p:sp>
        <p:nvSpPr>
          <p:cNvPr id="34" name="Shape 31"/>
          <p:cNvSpPr/>
          <p:nvPr/>
        </p:nvSpPr>
        <p:spPr>
          <a:xfrm>
            <a:off x="6080760" y="5321808"/>
            <a:ext cx="5559552" cy="896112"/>
          </a:xfrm>
          <a:prstGeom prst="roundRect">
            <a:avLst>
              <a:gd name="adj" fmla="val 8163"/>
            </a:avLst>
          </a:prstGeom>
          <a:solidFill>
            <a:srgbClr val="ECFDF3"/>
          </a:solidFill>
          <a:ln/>
        </p:spPr>
      </p:sp>
      <p:sp>
        <p:nvSpPr>
          <p:cNvPr id="35" name="Text 32"/>
          <p:cNvSpPr txBox="1"/>
          <p:nvPr/>
        </p:nvSpPr>
        <p:spPr>
          <a:xfrm>
            <a:off x="6217920" y="5367528"/>
            <a:ext cx="3840480" cy="256032"/>
          </a:xfrm>
          <a:prstGeom prst="rect">
            <a:avLst/>
          </a:prstGeom>
          <a:noFill/>
          <a:ln/>
        </p:spPr>
        <p:txBody>
          <a:bodyPr wrap="square" lIns="0" tIns="0" rIns="0" bIns="0" rtlCol="0" anchor="t"/>
          <a:lstStyle/>
          <a:p>
            <a:pPr marL="0" indent="0" algn="l">
              <a:buNone/>
            </a:pPr>
            <a:r>
              <a:rPr lang="en-US" sz="1300" b="1" dirty="0">
                <a:solidFill>
                  <a:schemeClr val="accent5"/>
                </a:solidFill>
              </a:rPr>
              <a:t>3  UTC + DST + 180 s skew fix</a:t>
            </a:r>
            <a:endParaRPr lang="en-US" sz="1300" dirty="0"/>
          </a:p>
        </p:txBody>
      </p:sp>
      <p:sp>
        <p:nvSpPr>
          <p:cNvPr id="36" name="Text 33"/>
          <p:cNvSpPr txBox="1"/>
          <p:nvPr/>
        </p:nvSpPr>
        <p:spPr>
          <a:xfrm>
            <a:off x="6217920" y="5632704"/>
            <a:ext cx="3840480" cy="237744"/>
          </a:xfrm>
          <a:prstGeom prst="rect">
            <a:avLst/>
          </a:prstGeom>
          <a:noFill/>
          <a:ln/>
        </p:spPr>
        <p:txBody>
          <a:bodyPr wrap="square" lIns="0" tIns="0" rIns="0" bIns="0" rtlCol="0" anchor="t"/>
          <a:lstStyle/>
          <a:p>
            <a:pPr marL="0" indent="0" algn="l">
              <a:buNone/>
            </a:pPr>
            <a:r>
              <a:rPr lang="en-US" sz="1100" dirty="0">
                <a:solidFill>
                  <a:schemeClr val="tx1"/>
                </a:solidFill>
                <a:latin typeface="Courier New" pitchFamily="34" charset="0"/>
                <a:ea typeface="Courier New" pitchFamily="34" charset="-122"/>
                <a:cs typeface="Courier New" pitchFamily="34" charset="-120"/>
              </a:rPr>
              <a:t>08:33:05Z vs 08:32:40Z</a:t>
            </a:r>
            <a:endParaRPr lang="en-US" sz="1100" dirty="0"/>
          </a:p>
        </p:txBody>
      </p:sp>
      <p:sp>
        <p:nvSpPr>
          <p:cNvPr id="37" name="Text 34"/>
          <p:cNvSpPr txBox="1"/>
          <p:nvPr/>
        </p:nvSpPr>
        <p:spPr>
          <a:xfrm>
            <a:off x="6217920" y="5870448"/>
            <a:ext cx="3931920" cy="292608"/>
          </a:xfrm>
          <a:prstGeom prst="rect">
            <a:avLst/>
          </a:prstGeom>
          <a:noFill/>
          <a:ln/>
        </p:spPr>
        <p:txBody>
          <a:bodyPr wrap="square" lIns="0" tIns="0" rIns="0" bIns="0" rtlCol="0" anchor="t"/>
          <a:lstStyle/>
          <a:p>
            <a:pPr marL="0" indent="0" algn="l">
              <a:buNone/>
            </a:pPr>
            <a:r>
              <a:rPr lang="en-US" sz="1200" dirty="0">
                <a:solidFill>
                  <a:schemeClr val="tx1"/>
                </a:solidFill>
              </a:rPr>
              <a:t>Login 25 s AFTER: R6 lateral movement (T1021.004)</a:t>
            </a:r>
            <a:endParaRPr lang="en-US" sz="1200" dirty="0"/>
          </a:p>
        </p:txBody>
      </p:sp>
      <p:sp>
        <p:nvSpPr>
          <p:cNvPr id="38" name="Text 35"/>
          <p:cNvSpPr/>
          <p:nvPr/>
        </p:nvSpPr>
        <p:spPr>
          <a:xfrm>
            <a:off x="10195560" y="5413248"/>
            <a:ext cx="1298448" cy="329184"/>
          </a:xfrm>
          <a:prstGeom prst="roundRect">
            <a:avLst>
              <a:gd name="adj" fmla="val 16667"/>
            </a:avLst>
          </a:prstGeom>
          <a:solidFill>
            <a:schemeClr val="accent5"/>
          </a:solidFill>
          <a:ln/>
        </p:spPr>
        <p:txBody>
          <a:bodyPr wrap="square" lIns="38100" tIns="38100" rIns="38100" bIns="38100" rtlCol="0" anchor="ctr"/>
          <a:lstStyle/>
          <a:p>
            <a:pPr marL="0" indent="0" algn="ctr">
              <a:buNone/>
            </a:pPr>
            <a:r>
              <a:rPr lang="en-US" sz="1200" b="1" dirty="0">
                <a:solidFill>
                  <a:srgbClr val="FFFFFF"/>
                </a:solidFill>
              </a:rPr>
              <a:t>DETECTED</a:t>
            </a:r>
            <a:endParaRPr lang="en-US" sz="1200" dirty="0"/>
          </a:p>
        </p:txBody>
      </p:sp>
      <p:sp>
        <p:nvSpPr>
          <p:cNvPr id="39" name="Shape 36"/>
          <p:cNvSpPr/>
          <p:nvPr/>
        </p:nvSpPr>
        <p:spPr>
          <a:xfrm>
            <a:off x="10195560" y="5998464"/>
            <a:ext cx="1298448" cy="0"/>
          </a:xfrm>
          <a:prstGeom prst="line">
            <a:avLst/>
          </a:prstGeom>
          <a:noFill/>
          <a:ln w="12700">
            <a:solidFill>
              <a:schemeClr val="accent6"/>
            </a:solidFill>
            <a:prstDash val="solid"/>
          </a:ln>
        </p:spPr>
      </p:sp>
      <p:sp>
        <p:nvSpPr>
          <p:cNvPr id="40" name="Shape 37"/>
          <p:cNvSpPr/>
          <p:nvPr/>
        </p:nvSpPr>
        <p:spPr>
          <a:xfrm>
            <a:off x="10853928" y="5925312"/>
            <a:ext cx="146304" cy="146304"/>
          </a:xfrm>
          <a:prstGeom prst="ellipse">
            <a:avLst/>
          </a:prstGeom>
          <a:solidFill>
            <a:srgbClr val="7C3AED"/>
          </a:solidFill>
          <a:ln/>
        </p:spPr>
      </p:sp>
      <p:sp>
        <p:nvSpPr>
          <p:cNvPr id="41" name="Shape 38"/>
          <p:cNvSpPr/>
          <p:nvPr/>
        </p:nvSpPr>
        <p:spPr>
          <a:xfrm>
            <a:off x="11082528" y="5925312"/>
            <a:ext cx="146304" cy="146304"/>
          </a:xfrm>
          <a:prstGeom prst="ellipse">
            <a:avLst/>
          </a:prstGeom>
          <a:solidFill>
            <a:schemeClr val="accent3"/>
          </a:solidFill>
          <a:ln/>
        </p:spPr>
      </p:sp>
      <p:sp>
        <p:nvSpPr>
          <p:cNvPr id="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Literature &amp; RFC Review</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Literature &amp; RFC Review</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Standards define how evidence is kept and how time is written; existing tools are too heavy for a two-person team</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Standard</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Key guidance → how ARIXA applies it</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NIST SP 800-86 [1]</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Four forensic phases → pipeline mirrors collection, examination, analysis, reporting</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NIST SP 800-61r2 [2], 800-92 [3]</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Incident handling, log management → timeline + rules for detection and analysis</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2"/>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RFC 3227 [4], ISO/IEC 27037 [5]</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Chain of custody, never alter evidence → read-only copies, custody log, SHA-256 manifest</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RFC 3164 [6], RFC 5424 [7]</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Syslog lacks year and zone → year inference + IANA zone; RFC 5424 lines logged as gaps</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4"/>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RFC 3339 [8], RFC 6557 [10]</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UTC “Z” timestamps, DST rules → events stored as …Z; zone names, never fixed offsets</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RFC 5905, NTP [9]</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Unsynchronised clocks drift → per-source skew (e.g. +180 s) before correlation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6"/>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FIPS 180-4 [11]</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SHA-256 → hash at ingest, re-hash on verify (OK / MISMATCH)</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MITRE ATT&amp;CK [13], Kill Chain [14]</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Common attack language → technique ID on every alert; 8-tactic kill chain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8"/>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RFC 9110 [12]</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HTTP status codes → 404-burst scan rule, 200-to-odd-path exploit rule</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3"/>
          <p:cNvSpPr txBox="1"/>
          <p:nvPr/>
        </p:nvSpPr>
        <p:spPr>
          <a:xfrm>
            <a:off x="548640" y="5815584"/>
            <a:ext cx="7223760" cy="475488"/>
          </a:xfrm>
          <a:prstGeom prst="rect">
            <a:avLst/>
          </a:prstGeom>
          <a:noFill/>
          <a:ln/>
        </p:spPr>
        <p:txBody>
          <a:bodyPr wrap="square" lIns="0" tIns="0" rIns="0" bIns="0" rtlCol="0" anchor="t"/>
          <a:lstStyle/>
          <a:p>
            <a:pPr marL="0" indent="0" algn="l">
              <a:buNone/>
            </a:pPr>
            <a:r>
              <a:rPr lang="en-US" sz="1200" b="1" i="1" dirty="0">
                <a:solidFill>
                  <a:schemeClr val="tx2"/>
                </a:solidFill>
              </a:rPr>
              <a:t>Research: </a:t>
            </a:r>
            <a:r>
              <a:rPr lang="en-US" sz="1200" i="1" dirty="0">
                <a:solidFill>
                  <a:schemeClr val="tx2"/>
                </a:solidFill>
              </a:rPr>
              <a:t>clock errors misled real cases [15]; timestamp correlation reveals skew [16]; automated timeline reconstruction [17]; super timelines [18]; real log datasets [19].</a:t>
            </a:r>
            <a:endParaRPr lang="en-US" sz="1200" dirty="0"/>
          </a:p>
        </p:txBody>
      </p:sp>
      <p:sp>
        <p:nvSpPr>
          <p:cNvPr id="8" name="Text 4"/>
          <p:cNvSpPr txBox="1"/>
          <p:nvPr/>
        </p:nvSpPr>
        <p:spPr>
          <a:xfrm>
            <a:off x="8028432" y="1645920"/>
            <a:ext cx="3611880" cy="274320"/>
          </a:xfrm>
          <a:prstGeom prst="rect">
            <a:avLst/>
          </a:prstGeom>
          <a:noFill/>
          <a:ln/>
        </p:spPr>
        <p:txBody>
          <a:bodyPr wrap="square" lIns="0" tIns="0" rIns="0" bIns="0" rtlCol="0" anchor="t"/>
          <a:lstStyle/>
          <a:p>
            <a:pPr marL="0" indent="0" algn="l">
              <a:buNone/>
            </a:pPr>
            <a:r>
              <a:rPr lang="en-US" sz="1300" b="1" dirty="0">
                <a:solidFill>
                  <a:schemeClr val="accent1"/>
                </a:solidFill>
              </a:rPr>
              <a:t>Existing approaches vs a small team</a:t>
            </a:r>
            <a:endParaRPr lang="en-US" sz="1300" dirty="0"/>
          </a:p>
        </p:txBody>
      </p:sp>
      <p:sp>
        <p:nvSpPr>
          <p:cNvPr id="9" name="Shape 5"/>
          <p:cNvSpPr/>
          <p:nvPr/>
        </p:nvSpPr>
        <p:spPr>
          <a:xfrm>
            <a:off x="8028432" y="1984248"/>
            <a:ext cx="3611880" cy="768096"/>
          </a:xfrm>
          <a:prstGeom prst="roundRect">
            <a:avLst>
              <a:gd name="adj" fmla="val 9524"/>
            </a:avLst>
          </a:prstGeom>
          <a:solidFill>
            <a:schemeClr val="bg2"/>
          </a:solidFill>
          <a:ln/>
        </p:spPr>
      </p:sp>
      <p:sp>
        <p:nvSpPr>
          <p:cNvPr id="10" name="Text 6"/>
          <p:cNvSpPr txBox="1"/>
          <p:nvPr/>
        </p:nvSpPr>
        <p:spPr>
          <a:xfrm>
            <a:off x="8156448" y="2029968"/>
            <a:ext cx="3383280" cy="256032"/>
          </a:xfrm>
          <a:prstGeom prst="rect">
            <a:avLst/>
          </a:prstGeom>
          <a:noFill/>
          <a:ln/>
        </p:spPr>
        <p:txBody>
          <a:bodyPr wrap="square" lIns="0" tIns="0" rIns="0" bIns="0" rtlCol="0" anchor="t"/>
          <a:lstStyle/>
          <a:p>
            <a:pPr marL="0" indent="0" algn="l">
              <a:buNone/>
            </a:pPr>
            <a:r>
              <a:rPr lang="en-US" sz="1250" b="1" dirty="0">
                <a:solidFill>
                  <a:schemeClr val="tx1"/>
                </a:solidFill>
              </a:rPr>
              <a:t>Manual (spreadsheet, grep)</a:t>
            </a:r>
            <a:endParaRPr lang="en-US" sz="1250" dirty="0"/>
          </a:p>
        </p:txBody>
      </p:sp>
      <p:sp>
        <p:nvSpPr>
          <p:cNvPr id="11" name="Text 7"/>
          <p:cNvSpPr txBox="1"/>
          <p:nvPr/>
        </p:nvSpPr>
        <p:spPr>
          <a:xfrm>
            <a:off x="8156448" y="2295144"/>
            <a:ext cx="3383280" cy="420624"/>
          </a:xfrm>
          <a:prstGeom prst="rect">
            <a:avLst/>
          </a:prstGeom>
          <a:noFill/>
          <a:ln/>
        </p:spPr>
        <p:txBody>
          <a:bodyPr wrap="square" lIns="0" tIns="0" rIns="0" bIns="0" rtlCol="0" anchor="t"/>
          <a:lstStyle/>
          <a:p>
            <a:pPr marL="0" indent="0" algn="l">
              <a:buNone/>
            </a:pPr>
            <a:r>
              <a:rPr lang="en-US" sz="1200" dirty="0">
                <a:solidFill>
                  <a:schemeClr val="tx1"/>
                </a:solidFill>
              </a:rPr>
              <a:t>Free, but slow, error-prone and no integrity record</a:t>
            </a:r>
            <a:endParaRPr lang="en-US" sz="1200" dirty="0"/>
          </a:p>
        </p:txBody>
      </p:sp>
      <p:sp>
        <p:nvSpPr>
          <p:cNvPr id="12" name="Shape 8"/>
          <p:cNvSpPr/>
          <p:nvPr/>
        </p:nvSpPr>
        <p:spPr>
          <a:xfrm>
            <a:off x="8028432" y="2825496"/>
            <a:ext cx="3611880" cy="768096"/>
          </a:xfrm>
          <a:prstGeom prst="roundRect">
            <a:avLst>
              <a:gd name="adj" fmla="val 9524"/>
            </a:avLst>
          </a:prstGeom>
          <a:solidFill>
            <a:schemeClr val="bg2"/>
          </a:solidFill>
          <a:ln/>
        </p:spPr>
      </p:sp>
      <p:sp>
        <p:nvSpPr>
          <p:cNvPr id="13" name="Text 9"/>
          <p:cNvSpPr txBox="1"/>
          <p:nvPr/>
        </p:nvSpPr>
        <p:spPr>
          <a:xfrm>
            <a:off x="8156448" y="2871216"/>
            <a:ext cx="3383280" cy="256032"/>
          </a:xfrm>
          <a:prstGeom prst="rect">
            <a:avLst/>
          </a:prstGeom>
          <a:noFill/>
          <a:ln/>
        </p:spPr>
        <p:txBody>
          <a:bodyPr wrap="square" lIns="0" tIns="0" rIns="0" bIns="0" rtlCol="0" anchor="t"/>
          <a:lstStyle/>
          <a:p>
            <a:pPr marL="0" indent="0" algn="l">
              <a:buNone/>
            </a:pPr>
            <a:r>
              <a:rPr lang="en-US" sz="1250" b="1" dirty="0">
                <a:solidFill>
                  <a:schemeClr val="tx1"/>
                </a:solidFill>
              </a:rPr>
              <a:t>Plaso / log2timeline [18][23]</a:t>
            </a:r>
            <a:endParaRPr lang="en-US" sz="1250" dirty="0"/>
          </a:p>
        </p:txBody>
      </p:sp>
      <p:sp>
        <p:nvSpPr>
          <p:cNvPr id="14" name="Text 10"/>
          <p:cNvSpPr txBox="1"/>
          <p:nvPr/>
        </p:nvSpPr>
        <p:spPr>
          <a:xfrm>
            <a:off x="8156448" y="3136392"/>
            <a:ext cx="3383280" cy="420624"/>
          </a:xfrm>
          <a:prstGeom prst="rect">
            <a:avLst/>
          </a:prstGeom>
          <a:noFill/>
          <a:ln/>
        </p:spPr>
        <p:txBody>
          <a:bodyPr wrap="square" lIns="0" tIns="0" rIns="0" bIns="0" rtlCol="0" anchor="t"/>
          <a:lstStyle/>
          <a:p>
            <a:pPr marL="0" indent="0" algn="l">
              <a:buNone/>
            </a:pPr>
            <a:r>
              <a:rPr lang="en-US" sz="1200" dirty="0">
                <a:solidFill>
                  <a:schemeClr val="tx1"/>
                </a:solidFill>
              </a:rPr>
              <a:t>Huge format coverage; CLI-heavy, needs expertise</a:t>
            </a:r>
            <a:endParaRPr lang="en-US" sz="1200" dirty="0"/>
          </a:p>
        </p:txBody>
      </p:sp>
      <p:sp>
        <p:nvSpPr>
          <p:cNvPr id="15" name="Shape 11"/>
          <p:cNvSpPr/>
          <p:nvPr/>
        </p:nvSpPr>
        <p:spPr>
          <a:xfrm>
            <a:off x="8028432" y="3666744"/>
            <a:ext cx="3611880" cy="768096"/>
          </a:xfrm>
          <a:prstGeom prst="roundRect">
            <a:avLst>
              <a:gd name="adj" fmla="val 9524"/>
            </a:avLst>
          </a:prstGeom>
          <a:solidFill>
            <a:schemeClr val="bg2"/>
          </a:solidFill>
          <a:ln/>
        </p:spPr>
      </p:sp>
      <p:sp>
        <p:nvSpPr>
          <p:cNvPr id="16" name="Text 12"/>
          <p:cNvSpPr txBox="1"/>
          <p:nvPr/>
        </p:nvSpPr>
        <p:spPr>
          <a:xfrm>
            <a:off x="8156448" y="3712464"/>
            <a:ext cx="3383280" cy="256032"/>
          </a:xfrm>
          <a:prstGeom prst="rect">
            <a:avLst/>
          </a:prstGeom>
          <a:noFill/>
          <a:ln/>
        </p:spPr>
        <p:txBody>
          <a:bodyPr wrap="square" lIns="0" tIns="0" rIns="0" bIns="0" rtlCol="0" anchor="t"/>
          <a:lstStyle/>
          <a:p>
            <a:pPr marL="0" indent="0" algn="l">
              <a:buNone/>
            </a:pPr>
            <a:r>
              <a:rPr lang="en-US" sz="1250" b="1" dirty="0">
                <a:solidFill>
                  <a:schemeClr val="tx1"/>
                </a:solidFill>
              </a:rPr>
              <a:t>Timesketch [22]</a:t>
            </a:r>
            <a:endParaRPr lang="en-US" sz="1250" dirty="0"/>
          </a:p>
        </p:txBody>
      </p:sp>
      <p:sp>
        <p:nvSpPr>
          <p:cNvPr id="17" name="Text 13"/>
          <p:cNvSpPr txBox="1"/>
          <p:nvPr/>
        </p:nvSpPr>
        <p:spPr>
          <a:xfrm>
            <a:off x="8156448" y="3977640"/>
            <a:ext cx="3383280" cy="420624"/>
          </a:xfrm>
          <a:prstGeom prst="rect">
            <a:avLst/>
          </a:prstGeom>
          <a:noFill/>
          <a:ln/>
        </p:spPr>
        <p:txBody>
          <a:bodyPr wrap="square" lIns="0" tIns="0" rIns="0" bIns="0" rtlCol="0" anchor="t"/>
          <a:lstStyle/>
          <a:p>
            <a:pPr marL="0" indent="0" algn="l">
              <a:buNone/>
            </a:pPr>
            <a:r>
              <a:rPr lang="en-US" sz="1200" dirty="0">
                <a:solidFill>
                  <a:schemeClr val="tx1"/>
                </a:solidFill>
              </a:rPr>
              <a:t>Collaborative; needs Docker, OpenSearch, PostgreSQL</a:t>
            </a:r>
            <a:endParaRPr lang="en-US" sz="1200" dirty="0"/>
          </a:p>
        </p:txBody>
      </p:sp>
      <p:sp>
        <p:nvSpPr>
          <p:cNvPr id="18" name="Shape 14"/>
          <p:cNvSpPr/>
          <p:nvPr/>
        </p:nvSpPr>
        <p:spPr>
          <a:xfrm>
            <a:off x="8028432" y="4507992"/>
            <a:ext cx="3611880" cy="768096"/>
          </a:xfrm>
          <a:prstGeom prst="roundRect">
            <a:avLst>
              <a:gd name="adj" fmla="val 9524"/>
            </a:avLst>
          </a:prstGeom>
          <a:solidFill>
            <a:schemeClr val="bg2"/>
          </a:solidFill>
          <a:ln/>
        </p:spPr>
      </p:sp>
      <p:sp>
        <p:nvSpPr>
          <p:cNvPr id="19" name="Text 15"/>
          <p:cNvSpPr txBox="1"/>
          <p:nvPr/>
        </p:nvSpPr>
        <p:spPr>
          <a:xfrm>
            <a:off x="8156448" y="4553712"/>
            <a:ext cx="3383280" cy="256032"/>
          </a:xfrm>
          <a:prstGeom prst="rect">
            <a:avLst/>
          </a:prstGeom>
          <a:noFill/>
          <a:ln/>
        </p:spPr>
        <p:txBody>
          <a:bodyPr wrap="square" lIns="0" tIns="0" rIns="0" bIns="0" rtlCol="0" anchor="t"/>
          <a:lstStyle/>
          <a:p>
            <a:pPr marL="0" indent="0" algn="l">
              <a:buNone/>
            </a:pPr>
            <a:r>
              <a:rPr lang="en-US" sz="1250" b="1" dirty="0">
                <a:solidFill>
                  <a:schemeClr val="tx1"/>
                </a:solidFill>
              </a:rPr>
              <a:t>SIEM (Splunk, Elastic)</a:t>
            </a:r>
            <a:endParaRPr lang="en-US" sz="1250" dirty="0"/>
          </a:p>
        </p:txBody>
      </p:sp>
      <p:sp>
        <p:nvSpPr>
          <p:cNvPr id="20" name="Text 16"/>
          <p:cNvSpPr txBox="1"/>
          <p:nvPr/>
        </p:nvSpPr>
        <p:spPr>
          <a:xfrm>
            <a:off x="8156448" y="4818888"/>
            <a:ext cx="3383280" cy="420624"/>
          </a:xfrm>
          <a:prstGeom prst="rect">
            <a:avLst/>
          </a:prstGeom>
          <a:noFill/>
          <a:ln/>
        </p:spPr>
        <p:txBody>
          <a:bodyPr wrap="square" lIns="0" tIns="0" rIns="0" bIns="0" rtlCol="0" anchor="t"/>
          <a:lstStyle/>
          <a:p>
            <a:pPr marL="0" indent="0" algn="l">
              <a:buNone/>
            </a:pPr>
            <a:r>
              <a:rPr lang="en-US" sz="1200" dirty="0">
                <a:solidFill>
                  <a:schemeClr val="tx1"/>
                </a:solidFill>
              </a:rPr>
              <a:t>Real-time at scale; licence and infrastructure cost</a:t>
            </a:r>
            <a:endParaRPr lang="en-US" sz="1200" dirty="0"/>
          </a:p>
        </p:txBody>
      </p:sp>
      <p:sp>
        <p:nvSpPr>
          <p:cNvPr id="21" name="Shape 17"/>
          <p:cNvSpPr/>
          <p:nvPr/>
        </p:nvSpPr>
        <p:spPr>
          <a:xfrm>
            <a:off x="8028432" y="5376672"/>
            <a:ext cx="3611880" cy="914400"/>
          </a:xfrm>
          <a:prstGeom prst="roundRect">
            <a:avLst>
              <a:gd name="adj" fmla="val 8000"/>
            </a:avLst>
          </a:prstGeom>
          <a:solidFill>
            <a:schemeClr val="accent1"/>
          </a:solidFill>
          <a:ln/>
        </p:spPr>
      </p:sp>
      <p:sp>
        <p:nvSpPr>
          <p:cNvPr id="22" name="Text 18"/>
          <p:cNvSpPr txBox="1"/>
          <p:nvPr/>
        </p:nvSpPr>
        <p:spPr>
          <a:xfrm>
            <a:off x="8156448" y="5413248"/>
            <a:ext cx="3383280" cy="841248"/>
          </a:xfrm>
          <a:prstGeom prst="rect">
            <a:avLst/>
          </a:prstGeom>
          <a:noFill/>
          <a:ln/>
        </p:spPr>
        <p:txBody>
          <a:bodyPr wrap="square" lIns="0" tIns="0" rIns="0" bIns="0" rtlCol="0" anchor="ctr"/>
          <a:lstStyle/>
          <a:p>
            <a:pPr marL="0" indent="0" algn="l">
              <a:buNone/>
            </a:pPr>
            <a:r>
              <a:rPr lang="en-US" sz="1200" b="1" dirty="0">
                <a:solidFill>
                  <a:srgbClr val="FFFFFF"/>
                </a:solidFill>
              </a:rPr>
              <a:t>Gap → ARIXA: </a:t>
            </a:r>
            <a:r>
              <a:rPr lang="en-US" sz="1200" dirty="0">
                <a:solidFill>
                  <a:srgbClr val="FFFFFF"/>
                </a:solidFill>
              </a:rPr>
              <a:t>one lightweight, explainable workflow with evidence integrity, skew-aware UTC, gap accounting and ATT&amp;CK detection.</a:t>
            </a:r>
            <a:endParaRPr lang="en-US" sz="1200" dirty="0"/>
          </a:p>
        </p:txBody>
      </p:sp>
      <p:sp>
        <p:nvSpPr>
          <p:cNvPr id="2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Proposed Solution</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Proposed Solution</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ARIXA Forensic Timeline: read-only pipeline, 8 ATT&amp;CK-mapped rules, interactive dashboard, optional guarded AI</a:t>
            </a:r>
            <a:endParaRPr lang="en-US" sz="1600" dirty="0"/>
          </a:p>
        </p:txBody>
      </p:sp>
      <p:sp>
        <p:nvSpPr>
          <p:cNvPr id="6" name="Shape 3"/>
          <p:cNvSpPr/>
          <p:nvPr/>
        </p:nvSpPr>
        <p:spPr>
          <a:xfrm>
            <a:off x="548640" y="1645920"/>
            <a:ext cx="1658569" cy="1207008"/>
          </a:xfrm>
          <a:prstGeom prst="roundRect">
            <a:avLst>
              <a:gd name="adj" fmla="val 6061"/>
            </a:avLst>
          </a:prstGeom>
          <a:solidFill>
            <a:schemeClr val="bg2"/>
          </a:solidFill>
          <a:ln/>
        </p:spPr>
      </p:sp>
      <p:sp>
        <p:nvSpPr>
          <p:cNvPr id="7" name="Shape 4"/>
          <p:cNvSpPr/>
          <p:nvPr/>
        </p:nvSpPr>
        <p:spPr>
          <a:xfrm>
            <a:off x="1185901" y="1700784"/>
            <a:ext cx="384048" cy="384048"/>
          </a:xfrm>
          <a:prstGeom prst="ellipse">
            <a:avLst/>
          </a:prstGeom>
          <a:solidFill>
            <a:schemeClr val="accent1"/>
          </a:solidFill>
          <a:ln/>
        </p:spPr>
      </p:sp>
      <p:pic>
        <p:nvPicPr>
          <p:cNvPr id="8" name="Image 0" descr="Fingerprint icon"/>
          <p:cNvPicPr>
            <a:picLocks noChangeAspect="1"/>
          </p:cNvPicPr>
          <p:nvPr/>
        </p:nvPicPr>
        <p:blipFill>
          <a:blip r:embed="rId3"/>
          <a:stretch>
            <a:fillRect/>
          </a:stretch>
        </p:blipFill>
        <p:spPr>
          <a:xfrm>
            <a:off x="1278072" y="1792956"/>
            <a:ext cx="199705" cy="199705"/>
          </a:xfrm>
          <a:prstGeom prst="rect">
            <a:avLst/>
          </a:prstGeom>
        </p:spPr>
      </p:pic>
      <p:sp>
        <p:nvSpPr>
          <p:cNvPr id="9" name="Text 5"/>
          <p:cNvSpPr txBox="1"/>
          <p:nvPr/>
        </p:nvSpPr>
        <p:spPr>
          <a:xfrm>
            <a:off x="594360" y="2112264"/>
            <a:ext cx="1567129" cy="256032"/>
          </a:xfrm>
          <a:prstGeom prst="rect">
            <a:avLst/>
          </a:prstGeom>
          <a:noFill/>
          <a:ln/>
        </p:spPr>
        <p:txBody>
          <a:bodyPr wrap="square" lIns="0" tIns="0" rIns="0" bIns="0" rtlCol="0" anchor="t"/>
          <a:lstStyle/>
          <a:p>
            <a:pPr marL="0" indent="0" algn="ctr">
              <a:buNone/>
            </a:pPr>
            <a:r>
              <a:rPr lang="en-US" sz="1250" b="1" dirty="0">
                <a:solidFill>
                  <a:schemeClr val="accent1"/>
                </a:solidFill>
              </a:rPr>
              <a:t>1  Collect &amp; hash</a:t>
            </a:r>
            <a:endParaRPr lang="en-US" sz="1250" dirty="0"/>
          </a:p>
        </p:txBody>
      </p:sp>
      <p:sp>
        <p:nvSpPr>
          <p:cNvPr id="10" name="Text 6"/>
          <p:cNvSpPr txBox="1"/>
          <p:nvPr/>
        </p:nvSpPr>
        <p:spPr>
          <a:xfrm>
            <a:off x="621792" y="2377440"/>
            <a:ext cx="1512265" cy="457200"/>
          </a:xfrm>
          <a:prstGeom prst="rect">
            <a:avLst/>
          </a:prstGeom>
          <a:noFill/>
          <a:ln/>
        </p:spPr>
        <p:txBody>
          <a:bodyPr wrap="square" lIns="0" tIns="0" rIns="0" bIns="0" rtlCol="0" anchor="t"/>
          <a:lstStyle/>
          <a:p>
            <a:pPr marL="0" indent="0" algn="ctr">
              <a:buNone/>
            </a:pPr>
            <a:r>
              <a:rPr lang="en-US" sz="1150" dirty="0">
                <a:solidFill>
                  <a:schemeClr val="tx1"/>
                </a:solidFill>
              </a:rPr>
              <a:t>SHA-256, read-only copy, custody log</a:t>
            </a:r>
            <a:endParaRPr lang="en-US" sz="1150" dirty="0"/>
          </a:p>
        </p:txBody>
      </p:sp>
      <p:sp>
        <p:nvSpPr>
          <p:cNvPr id="11" name="Shape 7"/>
          <p:cNvSpPr/>
          <p:nvPr/>
        </p:nvSpPr>
        <p:spPr>
          <a:xfrm>
            <a:off x="2243785" y="2148840"/>
            <a:ext cx="155448" cy="201168"/>
          </a:xfrm>
          <a:prstGeom prst="rightArrow">
            <a:avLst/>
          </a:prstGeom>
          <a:solidFill>
            <a:schemeClr val="accent1"/>
          </a:solidFill>
          <a:ln/>
        </p:spPr>
      </p:sp>
      <p:sp>
        <p:nvSpPr>
          <p:cNvPr id="12" name="Shape 8"/>
          <p:cNvSpPr/>
          <p:nvPr/>
        </p:nvSpPr>
        <p:spPr>
          <a:xfrm>
            <a:off x="2435809" y="1645920"/>
            <a:ext cx="1658569" cy="1207008"/>
          </a:xfrm>
          <a:prstGeom prst="roundRect">
            <a:avLst>
              <a:gd name="adj" fmla="val 6061"/>
            </a:avLst>
          </a:prstGeom>
          <a:solidFill>
            <a:schemeClr val="bg2"/>
          </a:solidFill>
          <a:ln/>
        </p:spPr>
      </p:sp>
      <p:sp>
        <p:nvSpPr>
          <p:cNvPr id="13" name="Shape 9"/>
          <p:cNvSpPr/>
          <p:nvPr/>
        </p:nvSpPr>
        <p:spPr>
          <a:xfrm>
            <a:off x="3073070" y="1700784"/>
            <a:ext cx="384048" cy="384048"/>
          </a:xfrm>
          <a:prstGeom prst="ellipse">
            <a:avLst/>
          </a:prstGeom>
          <a:solidFill>
            <a:schemeClr val="accent1"/>
          </a:solidFill>
          <a:ln/>
        </p:spPr>
      </p:sp>
      <p:pic>
        <p:nvPicPr>
          <p:cNvPr id="14" name="Image 1" descr="FileAlt icon"/>
          <p:cNvPicPr>
            <a:picLocks noChangeAspect="1"/>
          </p:cNvPicPr>
          <p:nvPr/>
        </p:nvPicPr>
        <p:blipFill>
          <a:blip r:embed="rId4"/>
          <a:stretch>
            <a:fillRect/>
          </a:stretch>
        </p:blipFill>
        <p:spPr>
          <a:xfrm>
            <a:off x="3165241" y="1792956"/>
            <a:ext cx="199705" cy="199705"/>
          </a:xfrm>
          <a:prstGeom prst="rect">
            <a:avLst/>
          </a:prstGeom>
        </p:spPr>
      </p:pic>
      <p:sp>
        <p:nvSpPr>
          <p:cNvPr id="15" name="Text 10"/>
          <p:cNvSpPr txBox="1"/>
          <p:nvPr/>
        </p:nvSpPr>
        <p:spPr>
          <a:xfrm>
            <a:off x="2481529" y="2112264"/>
            <a:ext cx="1567129" cy="256032"/>
          </a:xfrm>
          <a:prstGeom prst="rect">
            <a:avLst/>
          </a:prstGeom>
          <a:noFill/>
          <a:ln/>
        </p:spPr>
        <p:txBody>
          <a:bodyPr wrap="square" lIns="0" tIns="0" rIns="0" bIns="0" rtlCol="0" anchor="t"/>
          <a:lstStyle/>
          <a:p>
            <a:pPr marL="0" indent="0" algn="ctr">
              <a:buNone/>
            </a:pPr>
            <a:r>
              <a:rPr lang="en-US" sz="1250" b="1" dirty="0">
                <a:solidFill>
                  <a:schemeClr val="accent1"/>
                </a:solidFill>
              </a:rPr>
              <a:t>2  Parse</a:t>
            </a:r>
            <a:endParaRPr lang="en-US" sz="1250" dirty="0"/>
          </a:p>
        </p:txBody>
      </p:sp>
      <p:sp>
        <p:nvSpPr>
          <p:cNvPr id="16" name="Text 11"/>
          <p:cNvSpPr txBox="1"/>
          <p:nvPr/>
        </p:nvSpPr>
        <p:spPr>
          <a:xfrm>
            <a:off x="2508961" y="2377440"/>
            <a:ext cx="1512265" cy="457200"/>
          </a:xfrm>
          <a:prstGeom prst="rect">
            <a:avLst/>
          </a:prstGeom>
          <a:noFill/>
          <a:ln/>
        </p:spPr>
        <p:txBody>
          <a:bodyPr wrap="square" lIns="0" tIns="0" rIns="0" bIns="0" rtlCol="0" anchor="t"/>
          <a:lstStyle/>
          <a:p>
            <a:pPr marL="0" indent="0" algn="ctr">
              <a:buNone/>
            </a:pPr>
            <a:r>
              <a:rPr lang="en-US" sz="1150" dirty="0">
                <a:solidFill>
                  <a:schemeClr val="tx1"/>
                </a:solidFill>
              </a:rPr>
              <a:t>auth.log + access.log, gaps with reason</a:t>
            </a:r>
            <a:endParaRPr lang="en-US" sz="1150" dirty="0"/>
          </a:p>
        </p:txBody>
      </p:sp>
      <p:sp>
        <p:nvSpPr>
          <p:cNvPr id="17" name="Shape 12"/>
          <p:cNvSpPr/>
          <p:nvPr/>
        </p:nvSpPr>
        <p:spPr>
          <a:xfrm>
            <a:off x="4130954" y="2148840"/>
            <a:ext cx="155448" cy="201168"/>
          </a:xfrm>
          <a:prstGeom prst="rightArrow">
            <a:avLst/>
          </a:prstGeom>
          <a:solidFill>
            <a:schemeClr val="accent1"/>
          </a:solidFill>
          <a:ln/>
        </p:spPr>
      </p:sp>
      <p:sp>
        <p:nvSpPr>
          <p:cNvPr id="18" name="Shape 13"/>
          <p:cNvSpPr/>
          <p:nvPr/>
        </p:nvSpPr>
        <p:spPr>
          <a:xfrm>
            <a:off x="4322978" y="1645920"/>
            <a:ext cx="1658569" cy="1207008"/>
          </a:xfrm>
          <a:prstGeom prst="roundRect">
            <a:avLst>
              <a:gd name="adj" fmla="val 6061"/>
            </a:avLst>
          </a:prstGeom>
          <a:solidFill>
            <a:schemeClr val="bg2"/>
          </a:solidFill>
          <a:ln/>
        </p:spPr>
      </p:sp>
      <p:sp>
        <p:nvSpPr>
          <p:cNvPr id="19" name="Shape 14"/>
          <p:cNvSpPr/>
          <p:nvPr/>
        </p:nvSpPr>
        <p:spPr>
          <a:xfrm>
            <a:off x="4960239" y="1700784"/>
            <a:ext cx="384048" cy="384048"/>
          </a:xfrm>
          <a:prstGeom prst="ellipse">
            <a:avLst/>
          </a:prstGeom>
          <a:solidFill>
            <a:schemeClr val="accent1"/>
          </a:solidFill>
          <a:ln/>
        </p:spPr>
      </p:sp>
      <p:pic>
        <p:nvPicPr>
          <p:cNvPr id="20" name="Image 2" descr="Globe icon"/>
          <p:cNvPicPr>
            <a:picLocks noChangeAspect="1"/>
          </p:cNvPicPr>
          <p:nvPr/>
        </p:nvPicPr>
        <p:blipFill>
          <a:blip r:embed="rId5"/>
          <a:stretch>
            <a:fillRect/>
          </a:stretch>
        </p:blipFill>
        <p:spPr>
          <a:xfrm>
            <a:off x="5052411" y="1792956"/>
            <a:ext cx="199705" cy="199705"/>
          </a:xfrm>
          <a:prstGeom prst="rect">
            <a:avLst/>
          </a:prstGeom>
        </p:spPr>
      </p:pic>
      <p:sp>
        <p:nvSpPr>
          <p:cNvPr id="21" name="Text 15"/>
          <p:cNvSpPr txBox="1"/>
          <p:nvPr/>
        </p:nvSpPr>
        <p:spPr>
          <a:xfrm>
            <a:off x="4368698" y="2112264"/>
            <a:ext cx="1567129" cy="256032"/>
          </a:xfrm>
          <a:prstGeom prst="rect">
            <a:avLst/>
          </a:prstGeom>
          <a:noFill/>
          <a:ln/>
        </p:spPr>
        <p:txBody>
          <a:bodyPr wrap="square" lIns="0" tIns="0" rIns="0" bIns="0" rtlCol="0" anchor="t"/>
          <a:lstStyle/>
          <a:p>
            <a:pPr marL="0" indent="0" algn="ctr">
              <a:buNone/>
            </a:pPr>
            <a:r>
              <a:rPr lang="en-US" sz="1250" b="1" dirty="0">
                <a:solidFill>
                  <a:schemeClr val="accent1"/>
                </a:solidFill>
              </a:rPr>
              <a:t>3  Normalise</a:t>
            </a:r>
            <a:endParaRPr lang="en-US" sz="1250" dirty="0"/>
          </a:p>
        </p:txBody>
      </p:sp>
      <p:sp>
        <p:nvSpPr>
          <p:cNvPr id="22" name="Text 16"/>
          <p:cNvSpPr txBox="1"/>
          <p:nvPr/>
        </p:nvSpPr>
        <p:spPr>
          <a:xfrm>
            <a:off x="4396130" y="2377440"/>
            <a:ext cx="1512265" cy="457200"/>
          </a:xfrm>
          <a:prstGeom prst="rect">
            <a:avLst/>
          </a:prstGeom>
          <a:noFill/>
          <a:ln/>
        </p:spPr>
        <p:txBody>
          <a:bodyPr wrap="square" lIns="0" tIns="0" rIns="0" bIns="0" rtlCol="0" anchor="t"/>
          <a:lstStyle/>
          <a:p>
            <a:pPr marL="0" indent="0" algn="ctr">
              <a:buNone/>
            </a:pPr>
            <a:r>
              <a:rPr lang="en-US" sz="1150" dirty="0">
                <a:solidFill>
                  <a:schemeClr val="tx1"/>
                </a:solidFill>
              </a:rPr>
              <a:t>IANA zone, DST, skew → UTC</a:t>
            </a:r>
            <a:endParaRPr lang="en-US" sz="1150" dirty="0"/>
          </a:p>
        </p:txBody>
      </p:sp>
      <p:sp>
        <p:nvSpPr>
          <p:cNvPr id="23" name="Shape 17"/>
          <p:cNvSpPr/>
          <p:nvPr/>
        </p:nvSpPr>
        <p:spPr>
          <a:xfrm>
            <a:off x="6018124" y="2148840"/>
            <a:ext cx="155448" cy="201168"/>
          </a:xfrm>
          <a:prstGeom prst="rightArrow">
            <a:avLst/>
          </a:prstGeom>
          <a:solidFill>
            <a:schemeClr val="accent1"/>
          </a:solidFill>
          <a:ln/>
        </p:spPr>
      </p:sp>
      <p:sp>
        <p:nvSpPr>
          <p:cNvPr id="24" name="Shape 18"/>
          <p:cNvSpPr/>
          <p:nvPr/>
        </p:nvSpPr>
        <p:spPr>
          <a:xfrm>
            <a:off x="6210148" y="1645920"/>
            <a:ext cx="1658569" cy="1207008"/>
          </a:xfrm>
          <a:prstGeom prst="roundRect">
            <a:avLst>
              <a:gd name="adj" fmla="val 6061"/>
            </a:avLst>
          </a:prstGeom>
          <a:solidFill>
            <a:schemeClr val="bg2"/>
          </a:solidFill>
          <a:ln/>
        </p:spPr>
      </p:sp>
      <p:sp>
        <p:nvSpPr>
          <p:cNvPr id="25" name="Shape 19"/>
          <p:cNvSpPr/>
          <p:nvPr/>
        </p:nvSpPr>
        <p:spPr>
          <a:xfrm>
            <a:off x="6847408" y="1700784"/>
            <a:ext cx="384048" cy="384048"/>
          </a:xfrm>
          <a:prstGeom prst="ellipse">
            <a:avLst/>
          </a:prstGeom>
          <a:solidFill>
            <a:schemeClr val="accent1"/>
          </a:solidFill>
          <a:ln/>
        </p:spPr>
      </p:sp>
      <p:pic>
        <p:nvPicPr>
          <p:cNvPr id="26" name="Image 3" descr="Database icon"/>
          <p:cNvPicPr>
            <a:picLocks noChangeAspect="1"/>
          </p:cNvPicPr>
          <p:nvPr/>
        </p:nvPicPr>
        <p:blipFill>
          <a:blip r:embed="rId6"/>
          <a:stretch>
            <a:fillRect/>
          </a:stretch>
        </p:blipFill>
        <p:spPr>
          <a:xfrm>
            <a:off x="6939580" y="1792956"/>
            <a:ext cx="199705" cy="199705"/>
          </a:xfrm>
          <a:prstGeom prst="rect">
            <a:avLst/>
          </a:prstGeom>
        </p:spPr>
      </p:pic>
      <p:sp>
        <p:nvSpPr>
          <p:cNvPr id="27" name="Text 20"/>
          <p:cNvSpPr txBox="1"/>
          <p:nvPr/>
        </p:nvSpPr>
        <p:spPr>
          <a:xfrm>
            <a:off x="6255868" y="2112264"/>
            <a:ext cx="1567129" cy="256032"/>
          </a:xfrm>
          <a:prstGeom prst="rect">
            <a:avLst/>
          </a:prstGeom>
          <a:noFill/>
          <a:ln/>
        </p:spPr>
        <p:txBody>
          <a:bodyPr wrap="square" lIns="0" tIns="0" rIns="0" bIns="0" rtlCol="0" anchor="t"/>
          <a:lstStyle/>
          <a:p>
            <a:pPr marL="0" indent="0" algn="ctr">
              <a:buNone/>
            </a:pPr>
            <a:r>
              <a:rPr lang="en-US" sz="1250" b="1" dirty="0">
                <a:solidFill>
                  <a:schemeClr val="accent1"/>
                </a:solidFill>
              </a:rPr>
              <a:t>4  Store</a:t>
            </a:r>
            <a:endParaRPr lang="en-US" sz="1250" dirty="0"/>
          </a:p>
        </p:txBody>
      </p:sp>
      <p:sp>
        <p:nvSpPr>
          <p:cNvPr id="28" name="Text 21"/>
          <p:cNvSpPr txBox="1"/>
          <p:nvPr/>
        </p:nvSpPr>
        <p:spPr>
          <a:xfrm>
            <a:off x="6283300" y="2377440"/>
            <a:ext cx="1512265" cy="457200"/>
          </a:xfrm>
          <a:prstGeom prst="rect">
            <a:avLst/>
          </a:prstGeom>
          <a:noFill/>
          <a:ln/>
        </p:spPr>
        <p:txBody>
          <a:bodyPr wrap="square" lIns="0" tIns="0" rIns="0" bIns="0" rtlCol="0" anchor="t"/>
          <a:lstStyle/>
          <a:p>
            <a:pPr marL="0" indent="0" algn="ctr">
              <a:buNone/>
            </a:pPr>
            <a:r>
              <a:rPr lang="en-US" sz="1150" dirty="0">
                <a:solidFill>
                  <a:schemeClr val="tx1"/>
                </a:solidFill>
              </a:rPr>
              <a:t>SQLite timeline, indexed by time</a:t>
            </a:r>
            <a:endParaRPr lang="en-US" sz="1150" dirty="0"/>
          </a:p>
        </p:txBody>
      </p:sp>
      <p:sp>
        <p:nvSpPr>
          <p:cNvPr id="29" name="Shape 22"/>
          <p:cNvSpPr/>
          <p:nvPr/>
        </p:nvSpPr>
        <p:spPr>
          <a:xfrm>
            <a:off x="7905293" y="2148840"/>
            <a:ext cx="155448" cy="201168"/>
          </a:xfrm>
          <a:prstGeom prst="rightArrow">
            <a:avLst/>
          </a:prstGeom>
          <a:solidFill>
            <a:schemeClr val="accent1"/>
          </a:solidFill>
          <a:ln/>
        </p:spPr>
      </p:sp>
      <p:sp>
        <p:nvSpPr>
          <p:cNvPr id="30" name="Shape 23"/>
          <p:cNvSpPr/>
          <p:nvPr/>
        </p:nvSpPr>
        <p:spPr>
          <a:xfrm>
            <a:off x="8097317" y="1645920"/>
            <a:ext cx="1658569" cy="1207008"/>
          </a:xfrm>
          <a:prstGeom prst="roundRect">
            <a:avLst>
              <a:gd name="adj" fmla="val 6061"/>
            </a:avLst>
          </a:prstGeom>
          <a:solidFill>
            <a:schemeClr val="bg2"/>
          </a:solidFill>
          <a:ln/>
        </p:spPr>
      </p:sp>
      <p:sp>
        <p:nvSpPr>
          <p:cNvPr id="31" name="Shape 24"/>
          <p:cNvSpPr/>
          <p:nvPr/>
        </p:nvSpPr>
        <p:spPr>
          <a:xfrm>
            <a:off x="8734577" y="1700784"/>
            <a:ext cx="384048" cy="384048"/>
          </a:xfrm>
          <a:prstGeom prst="ellipse">
            <a:avLst/>
          </a:prstGeom>
          <a:solidFill>
            <a:schemeClr val="accent1"/>
          </a:solidFill>
          <a:ln/>
        </p:spPr>
      </p:sp>
      <p:pic>
        <p:nvPicPr>
          <p:cNvPr id="32" name="Image 4" descr="Crosshairs icon"/>
          <p:cNvPicPr>
            <a:picLocks noChangeAspect="1"/>
          </p:cNvPicPr>
          <p:nvPr/>
        </p:nvPicPr>
        <p:blipFill>
          <a:blip r:embed="rId7"/>
          <a:stretch>
            <a:fillRect/>
          </a:stretch>
        </p:blipFill>
        <p:spPr>
          <a:xfrm>
            <a:off x="8826749" y="1792956"/>
            <a:ext cx="199705" cy="199705"/>
          </a:xfrm>
          <a:prstGeom prst="rect">
            <a:avLst/>
          </a:prstGeom>
        </p:spPr>
      </p:pic>
      <p:sp>
        <p:nvSpPr>
          <p:cNvPr id="33" name="Text 25"/>
          <p:cNvSpPr txBox="1"/>
          <p:nvPr/>
        </p:nvSpPr>
        <p:spPr>
          <a:xfrm>
            <a:off x="8143037" y="2112264"/>
            <a:ext cx="1567129" cy="256032"/>
          </a:xfrm>
          <a:prstGeom prst="rect">
            <a:avLst/>
          </a:prstGeom>
          <a:noFill/>
          <a:ln/>
        </p:spPr>
        <p:txBody>
          <a:bodyPr wrap="square" lIns="0" tIns="0" rIns="0" bIns="0" rtlCol="0" anchor="t"/>
          <a:lstStyle/>
          <a:p>
            <a:pPr marL="0" indent="0" algn="ctr">
              <a:buNone/>
            </a:pPr>
            <a:r>
              <a:rPr lang="en-US" sz="1250" b="1" dirty="0">
                <a:solidFill>
                  <a:schemeClr val="accent1"/>
                </a:solidFill>
              </a:rPr>
              <a:t>5  Detect &amp; map</a:t>
            </a:r>
            <a:endParaRPr lang="en-US" sz="1250" dirty="0"/>
          </a:p>
        </p:txBody>
      </p:sp>
      <p:sp>
        <p:nvSpPr>
          <p:cNvPr id="34" name="Text 26"/>
          <p:cNvSpPr txBox="1"/>
          <p:nvPr/>
        </p:nvSpPr>
        <p:spPr>
          <a:xfrm>
            <a:off x="8170469" y="2377440"/>
            <a:ext cx="1512265" cy="457200"/>
          </a:xfrm>
          <a:prstGeom prst="rect">
            <a:avLst/>
          </a:prstGeom>
          <a:noFill/>
          <a:ln/>
        </p:spPr>
        <p:txBody>
          <a:bodyPr wrap="square" lIns="0" tIns="0" rIns="0" bIns="0" rtlCol="0" anchor="t"/>
          <a:lstStyle/>
          <a:p>
            <a:pPr marL="0" indent="0" algn="ctr">
              <a:buNone/>
            </a:pPr>
            <a:r>
              <a:rPr lang="en-US" sz="1150" dirty="0">
                <a:solidFill>
                  <a:schemeClr val="tx1"/>
                </a:solidFill>
              </a:rPr>
              <a:t>Rules R1–R8 + MITRE ATT&amp;CK</a:t>
            </a:r>
            <a:endParaRPr lang="en-US" sz="1150" dirty="0"/>
          </a:p>
        </p:txBody>
      </p:sp>
      <p:sp>
        <p:nvSpPr>
          <p:cNvPr id="35" name="Shape 27"/>
          <p:cNvSpPr/>
          <p:nvPr/>
        </p:nvSpPr>
        <p:spPr>
          <a:xfrm>
            <a:off x="9792462" y="2148840"/>
            <a:ext cx="155448" cy="201168"/>
          </a:xfrm>
          <a:prstGeom prst="rightArrow">
            <a:avLst/>
          </a:prstGeom>
          <a:solidFill>
            <a:schemeClr val="accent1"/>
          </a:solidFill>
          <a:ln/>
        </p:spPr>
      </p:sp>
      <p:sp>
        <p:nvSpPr>
          <p:cNvPr id="36" name="Shape 28"/>
          <p:cNvSpPr/>
          <p:nvPr/>
        </p:nvSpPr>
        <p:spPr>
          <a:xfrm>
            <a:off x="9984486" y="1645920"/>
            <a:ext cx="1658569" cy="1207008"/>
          </a:xfrm>
          <a:prstGeom prst="roundRect">
            <a:avLst>
              <a:gd name="adj" fmla="val 6061"/>
            </a:avLst>
          </a:prstGeom>
          <a:solidFill>
            <a:schemeClr val="bg2"/>
          </a:solidFill>
          <a:ln/>
        </p:spPr>
      </p:sp>
      <p:sp>
        <p:nvSpPr>
          <p:cNvPr id="37" name="Shape 29"/>
          <p:cNvSpPr/>
          <p:nvPr/>
        </p:nvSpPr>
        <p:spPr>
          <a:xfrm>
            <a:off x="10621747" y="1700784"/>
            <a:ext cx="384048" cy="384048"/>
          </a:xfrm>
          <a:prstGeom prst="ellipse">
            <a:avLst/>
          </a:prstGeom>
          <a:solidFill>
            <a:schemeClr val="accent1"/>
          </a:solidFill>
          <a:ln/>
        </p:spPr>
      </p:sp>
      <p:pic>
        <p:nvPicPr>
          <p:cNvPr id="38" name="Image 5" descr="ChartBar icon"/>
          <p:cNvPicPr>
            <a:picLocks noChangeAspect="1"/>
          </p:cNvPicPr>
          <p:nvPr/>
        </p:nvPicPr>
        <p:blipFill>
          <a:blip r:embed="rId8"/>
          <a:stretch>
            <a:fillRect/>
          </a:stretch>
        </p:blipFill>
        <p:spPr>
          <a:xfrm>
            <a:off x="10713918" y="1792956"/>
            <a:ext cx="199705" cy="199705"/>
          </a:xfrm>
          <a:prstGeom prst="rect">
            <a:avLst/>
          </a:prstGeom>
        </p:spPr>
      </p:pic>
      <p:sp>
        <p:nvSpPr>
          <p:cNvPr id="39" name="Text 30"/>
          <p:cNvSpPr txBox="1"/>
          <p:nvPr/>
        </p:nvSpPr>
        <p:spPr>
          <a:xfrm>
            <a:off x="10030206" y="2112264"/>
            <a:ext cx="1567129" cy="256032"/>
          </a:xfrm>
          <a:prstGeom prst="rect">
            <a:avLst/>
          </a:prstGeom>
          <a:noFill/>
          <a:ln/>
        </p:spPr>
        <p:txBody>
          <a:bodyPr wrap="square" lIns="0" tIns="0" rIns="0" bIns="0" rtlCol="0" anchor="t"/>
          <a:lstStyle/>
          <a:p>
            <a:pPr marL="0" indent="0" algn="ctr">
              <a:buNone/>
            </a:pPr>
            <a:r>
              <a:rPr lang="en-US" sz="1250" b="1" dirty="0">
                <a:solidFill>
                  <a:schemeClr val="accent1"/>
                </a:solidFill>
              </a:rPr>
              <a:t>6  Report</a:t>
            </a:r>
            <a:endParaRPr lang="en-US" sz="1250" dirty="0"/>
          </a:p>
        </p:txBody>
      </p:sp>
      <p:sp>
        <p:nvSpPr>
          <p:cNvPr id="40" name="Text 31"/>
          <p:cNvSpPr txBox="1"/>
          <p:nvPr/>
        </p:nvSpPr>
        <p:spPr>
          <a:xfrm>
            <a:off x="10057638" y="2377440"/>
            <a:ext cx="1512265" cy="457200"/>
          </a:xfrm>
          <a:prstGeom prst="rect">
            <a:avLst/>
          </a:prstGeom>
          <a:noFill/>
          <a:ln/>
        </p:spPr>
        <p:txBody>
          <a:bodyPr wrap="square" lIns="0" tIns="0" rIns="0" bIns="0" rtlCol="0" anchor="t"/>
          <a:lstStyle/>
          <a:p>
            <a:pPr marL="0" indent="0" algn="ctr">
              <a:buNone/>
            </a:pPr>
            <a:r>
              <a:rPr lang="en-US" sz="1150" dirty="0">
                <a:solidFill>
                  <a:schemeClr val="tx1"/>
                </a:solidFill>
              </a:rPr>
              <a:t>Dashboard, PDF report, case ZIP</a:t>
            </a:r>
            <a:endParaRPr lang="en-US" sz="11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6309360" cy="914400"/>
        </p:xfrm>
        <a:graphic>
          <a:graphicData uri="http://schemas.openxmlformats.org/drawingml/2006/table">
            <a:tbl>
              <a:tblPr/>
              <a:tblGrid>
                <a:gridCol w="457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Rule</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Detects</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MITRE ATT&amp;CK</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extLst>
                  <a:ext uri="{0D108BD9-81ED-4DB2-BD59-A6C34878D82A}">
                    <a16:rowId xmlns:a16="http://schemas.microsoft.com/office/drawing/2014/main" val="10000"/>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R1</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Brute force: ≥ 5 failed SSH logins per IP in 5 min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T1110</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R2</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Successful login after the failures (same IP, 10 min)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T1078</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2"/>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R3</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Web scan: ≥ 10 HTTP 404s on ≥ 8 paths in 5 min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T1595</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R4</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Scan, then HTTP 200 to an unusual path (30 min)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T1190</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4"/>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R5</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SQL injection, path traversal, web shell</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T1190, T1505.003</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R6</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SSH login ≤ 15 min after a web shell on another host</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T1021.004</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6"/>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R7</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sudo ≤ 30 min after a suspicious login</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T1548</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lgn="l">
                        <a:buNone/>
                      </a:pPr>
                      <a:r>
                        <a:rPr lang="en-US" sz="1200" b="1" dirty="0">
                          <a:solidFill>
                            <a:srgbClr val="1A1A2E"/>
                          </a:solidFill>
                          <a:latin typeface="Calibri" pitchFamily="34" charset="0"/>
                          <a:ea typeface="Calibri" pitchFamily="34" charset="-122"/>
                          <a:cs typeface="Calibri" pitchFamily="34" charset="-120"/>
                        </a:rPr>
                        <a:t>R8</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Risky sudo: shadow, useradd, SSH key, cron, SUID, DB dump</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00" dirty="0">
                          <a:solidFill>
                            <a:srgbClr val="1A1A2E"/>
                          </a:solidFill>
                          <a:latin typeface="Calibri" pitchFamily="34" charset="0"/>
                          <a:ea typeface="Calibri" pitchFamily="34" charset="-122"/>
                          <a:cs typeface="Calibri" pitchFamily="34" charset="-120"/>
                        </a:rPr>
                        <a:t>T1003.008, T1136.001, T1098.004, T1053.003, T1548.001, T1005</a:t>
                      </a:r>
                      <a:endParaRPr lang="en-US" sz="120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extLst>
                  <a:ext uri="{0D108BD9-81ED-4DB2-BD59-A6C34878D82A}">
                    <a16:rowId xmlns:a16="http://schemas.microsoft.com/office/drawing/2014/main" val="10008"/>
                  </a:ext>
                </a:extLst>
              </a:tr>
            </a:tbl>
          </a:graphicData>
        </a:graphic>
      </p:graphicFrame>
      <p:sp>
        <p:nvSpPr>
          <p:cNvPr id="42" name="Text 32"/>
          <p:cNvSpPr txBox="1"/>
          <p:nvPr/>
        </p:nvSpPr>
        <p:spPr>
          <a:xfrm>
            <a:off x="548640" y="5870448"/>
            <a:ext cx="6309360" cy="420624"/>
          </a:xfrm>
          <a:prstGeom prst="rect">
            <a:avLst/>
          </a:prstGeom>
          <a:noFill/>
          <a:ln/>
        </p:spPr>
        <p:txBody>
          <a:bodyPr wrap="square" lIns="0" tIns="0" rIns="0" bIns="0" rtlCol="0" anchor="t"/>
          <a:lstStyle/>
          <a:p>
            <a:pPr marL="0" indent="0" algn="l">
              <a:buNone/>
            </a:pPr>
            <a:r>
              <a:rPr lang="en-US" sz="1150" i="1" dirty="0">
                <a:solidFill>
                  <a:schemeClr val="tx2"/>
                </a:solidFill>
              </a:rPr>
              <a:t>Every alert cites its event IDs and raw lines. Optional Gemini copilot: redacted prompts, custody-logged, cited IDs verified [20].</a:t>
            </a:r>
            <a:endParaRPr lang="en-US" sz="1150" dirty="0"/>
          </a:p>
        </p:txBody>
      </p:sp>
      <p:pic>
        <p:nvPicPr>
          <p:cNvPr id="43" name="Image 6" descr="ARIXA dashboard Overview tab: KPI cards (85 events, 4 sources, 16 detections, 5 critical, 21 high, 6 parsing gaps), MITRE ATT&amp;CK kill chain reaching 8 of 8 tactics, and the attack graph"/>
          <p:cNvPicPr>
            <a:picLocks noChangeAspect="1"/>
          </p:cNvPicPr>
          <p:nvPr/>
        </p:nvPicPr>
        <p:blipFill>
          <a:blip r:embed="rId9"/>
          <a:stretch>
            <a:fillRect/>
          </a:stretch>
        </p:blipFill>
        <p:spPr>
          <a:xfrm>
            <a:off x="7086600" y="3017520"/>
            <a:ext cx="4553712" cy="2743200"/>
          </a:xfrm>
          <a:prstGeom prst="rect">
            <a:avLst/>
          </a:prstGeom>
        </p:spPr>
      </p:pic>
      <p:sp>
        <p:nvSpPr>
          <p:cNvPr id="44" name="Shape 33"/>
          <p:cNvSpPr/>
          <p:nvPr/>
        </p:nvSpPr>
        <p:spPr>
          <a:xfrm>
            <a:off x="7086600" y="3017520"/>
            <a:ext cx="4553712" cy="2743200"/>
          </a:xfrm>
          <a:prstGeom prst="rect">
            <a:avLst/>
          </a:prstGeom>
          <a:ln w="9525">
            <a:solidFill>
              <a:srgbClr val="CBD5E1"/>
            </a:solidFill>
            <a:prstDash val="solid"/>
          </a:ln>
        </p:spPr>
      </p:sp>
      <p:sp>
        <p:nvSpPr>
          <p:cNvPr id="45" name="Text 34"/>
          <p:cNvSpPr txBox="1"/>
          <p:nvPr/>
        </p:nvSpPr>
        <p:spPr>
          <a:xfrm>
            <a:off x="7086600" y="5833872"/>
            <a:ext cx="4553712" cy="274320"/>
          </a:xfrm>
          <a:prstGeom prst="rect">
            <a:avLst/>
          </a:prstGeom>
          <a:noFill/>
          <a:ln/>
        </p:spPr>
        <p:txBody>
          <a:bodyPr wrap="square" lIns="0" tIns="0" rIns="0" bIns="0" rtlCol="0" anchor="t"/>
          <a:lstStyle/>
          <a:p>
            <a:pPr marL="0" indent="0" algn="ctr">
              <a:buNone/>
            </a:pPr>
            <a:r>
              <a:rPr lang="en-US" sz="1100" dirty="0">
                <a:solidFill>
                  <a:schemeClr val="accent1"/>
                </a:solidFill>
              </a:rPr>
              <a:t>Figure: </a:t>
            </a:r>
            <a:r>
              <a:rPr lang="en-US" sz="1100" dirty="0">
                <a:solidFill>
                  <a:schemeClr val="tx1"/>
                </a:solidFill>
              </a:rPr>
              <a:t>ARIXA dashboard: KPIs, ATT&amp;CK kill chain (8/8 tactics), attack graph</a:t>
            </a:r>
            <a:endParaRPr lang="en-US" sz="1100" dirty="0"/>
          </a:p>
        </p:txBody>
      </p:sp>
      <p:sp>
        <p:nvSpPr>
          <p:cNvPr id="41"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Solution Optimization</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Optimization Proposed</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Before vs after, validated on synthetic incidents with an answer key and on real public logs</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24028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5239512">
                  <a:extLst>
                    <a:ext uri="{9D8B030D-6E8A-4147-A177-3AD203B41FA5}">
                      <a16:colId xmlns:a16="http://schemas.microsoft.com/office/drawing/2014/main" val="20002"/>
                    </a:ext>
                  </a:extLst>
                </a:gridCol>
              </a:tblGrid>
              <a:tr h="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Aspect</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Before: manual triage</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After: ARIXA</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0000DC"/>
                    </a:solidFill>
                  </a:tcPr>
                </a:tc>
                <a:extLst>
                  <a:ext uri="{0D108BD9-81ED-4DB2-BD59-A6C34878D82A}">
                    <a16:rowId xmlns:a16="http://schemas.microsoft.com/office/drawing/2014/main" val="10000"/>
                  </a:ext>
                </a:extLst>
              </a:tr>
              <a:tr h="0">
                <a:tc>
                  <a:txBody>
                    <a:bodyPr/>
                    <a:lstStyle/>
                    <a:p>
                      <a:pPr marL="0" indent="0" algn="l">
                        <a:buNone/>
                      </a:pPr>
                      <a:r>
                        <a:rPr lang="en-US" sz="1250" b="1" dirty="0">
                          <a:solidFill>
                            <a:srgbClr val="1A1A2E"/>
                          </a:solidFill>
                          <a:latin typeface="Calibri" pitchFamily="34" charset="0"/>
                          <a:ea typeface="Calibri" pitchFamily="34" charset="-122"/>
                          <a:cs typeface="Calibri" pitchFamily="34" charset="-120"/>
                        </a:rPr>
                        <a:t>Time alignment</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Zones converted by hand; clock drift ignored</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EF2F2"/>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Automatic UTC: IANA zones, DST, per-source skew; assumptions logged</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ECFDF3"/>
                    </a:solidFill>
                  </a:tcPr>
                </a:tc>
                <a:extLst>
                  <a:ext uri="{0D108BD9-81ED-4DB2-BD59-A6C34878D82A}">
                    <a16:rowId xmlns:a16="http://schemas.microsoft.com/office/drawing/2014/main" val="10001"/>
                  </a:ext>
                </a:extLst>
              </a:tr>
              <a:tr h="0">
                <a:tc>
                  <a:txBody>
                    <a:bodyPr/>
                    <a:lstStyle/>
                    <a:p>
                      <a:pPr marL="0" indent="0" algn="l">
                        <a:buNone/>
                      </a:pPr>
                      <a:r>
                        <a:rPr lang="en-US" sz="1250" b="1" dirty="0">
                          <a:solidFill>
                            <a:srgbClr val="1A1A2E"/>
                          </a:solidFill>
                          <a:latin typeface="Calibri" pitchFamily="34" charset="0"/>
                          <a:ea typeface="Calibri" pitchFamily="34" charset="-122"/>
                          <a:cs typeface="Calibri" pitchFamily="34" charset="-120"/>
                        </a:rPr>
                        <a:t>Evidence integrity</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Files edited in place; no record</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EF2F2"/>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SHA-256 at ingest, read-only copies, custody log, one-click verify</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ECFDF3"/>
                    </a:solidFill>
                  </a:tcPr>
                </a:tc>
                <a:extLst>
                  <a:ext uri="{0D108BD9-81ED-4DB2-BD59-A6C34878D82A}">
                    <a16:rowId xmlns:a16="http://schemas.microsoft.com/office/drawing/2014/main" val="10002"/>
                  </a:ext>
                </a:extLst>
              </a:tr>
              <a:tr h="0">
                <a:tc>
                  <a:txBody>
                    <a:bodyPr/>
                    <a:lstStyle/>
                    <a:p>
                      <a:pPr marL="0" indent="0" algn="l">
                        <a:buNone/>
                      </a:pPr>
                      <a:r>
                        <a:rPr lang="en-US" sz="1250" b="1" dirty="0">
                          <a:solidFill>
                            <a:srgbClr val="1A1A2E"/>
                          </a:solidFill>
                          <a:latin typeface="Calibri" pitchFamily="34" charset="0"/>
                          <a:ea typeface="Calibri" pitchFamily="34" charset="-122"/>
                          <a:cs typeface="Calibri" pitchFamily="34" charset="-120"/>
                        </a:rPr>
                        <a:t>Completeness</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Unreadable lines silently skipped</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EF2F2"/>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Every line parsed, or logged as a gap with its reason</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ECFDF3"/>
                    </a:solidFill>
                  </a:tcPr>
                </a:tc>
                <a:extLst>
                  <a:ext uri="{0D108BD9-81ED-4DB2-BD59-A6C34878D82A}">
                    <a16:rowId xmlns:a16="http://schemas.microsoft.com/office/drawing/2014/main" val="10003"/>
                  </a:ext>
                </a:extLst>
              </a:tr>
              <a:tr h="0">
                <a:tc>
                  <a:txBody>
                    <a:bodyPr/>
                    <a:lstStyle/>
                    <a:p>
                      <a:pPr marL="0" indent="0" algn="l">
                        <a:buNone/>
                      </a:pPr>
                      <a:r>
                        <a:rPr lang="en-US" sz="1250" b="1" dirty="0">
                          <a:solidFill>
                            <a:srgbClr val="1A1A2E"/>
                          </a:solidFill>
                          <a:latin typeface="Calibri" pitchFamily="34" charset="0"/>
                          <a:ea typeface="Calibri" pitchFamily="34" charset="-122"/>
                          <a:cs typeface="Calibri" pitchFamily="34" charset="-120"/>
                        </a:rPr>
                        <a:t>Detection</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Eyeballing and grep</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EF2F2"/>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8 explainable rules, ATT&amp;CK IDs, kill chain, attack graph</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ECFDF3"/>
                    </a:solidFill>
                  </a:tcPr>
                </a:tc>
                <a:extLst>
                  <a:ext uri="{0D108BD9-81ED-4DB2-BD59-A6C34878D82A}">
                    <a16:rowId xmlns:a16="http://schemas.microsoft.com/office/drawing/2014/main" val="10004"/>
                  </a:ext>
                </a:extLst>
              </a:tr>
              <a:tr h="0">
                <a:tc>
                  <a:txBody>
                    <a:bodyPr/>
                    <a:lstStyle/>
                    <a:p>
                      <a:pPr marL="0" indent="0" algn="l">
                        <a:buNone/>
                      </a:pPr>
                      <a:r>
                        <a:rPr lang="en-US" sz="1250" b="1" dirty="0">
                          <a:solidFill>
                            <a:srgbClr val="1A1A2E"/>
                          </a:solidFill>
                          <a:latin typeface="Calibri" pitchFamily="34" charset="0"/>
                          <a:ea typeface="Calibri" pitchFamily="34" charset="-122"/>
                          <a:cs typeface="Calibri" pitchFamily="34" charset="-120"/>
                        </a:rPr>
                        <a:t>Triage time (3 scenarios)</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~45 min (team estimate)</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EF2F2"/>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0.23 s measured (about 12,000× faster)</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ECFDF3"/>
                    </a:solidFill>
                  </a:tcPr>
                </a:tc>
                <a:extLst>
                  <a:ext uri="{0D108BD9-81ED-4DB2-BD59-A6C34878D82A}">
                    <a16:rowId xmlns:a16="http://schemas.microsoft.com/office/drawing/2014/main" val="10005"/>
                  </a:ext>
                </a:extLst>
              </a:tr>
              <a:tr h="0">
                <a:tc>
                  <a:txBody>
                    <a:bodyPr/>
                    <a:lstStyle/>
                    <a:p>
                      <a:pPr marL="0" indent="0" algn="l">
                        <a:buNone/>
                      </a:pPr>
                      <a:r>
                        <a:rPr lang="en-US" sz="1250" b="1" dirty="0">
                          <a:solidFill>
                            <a:srgbClr val="1A1A2E"/>
                          </a:solidFill>
                          <a:latin typeface="Calibri" pitchFamily="34" charset="0"/>
                          <a:ea typeface="Calibri" pitchFamily="34" charset="-122"/>
                          <a:cs typeface="Calibri" pitchFamily="34" charset="-120"/>
                        </a:rPr>
                        <a:t>Reporting</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3F5FE"/>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Copy-paste into a document</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FEF2F2"/>
                    </a:solidFill>
                  </a:tcPr>
                </a:tc>
                <a:tc>
                  <a:txBody>
                    <a:bodyPr/>
                    <a:lstStyle/>
                    <a:p>
                      <a:pPr marL="0" indent="0" algn="l">
                        <a:buNone/>
                      </a:pPr>
                      <a:r>
                        <a:rPr lang="en-US" sz="1250" dirty="0">
                          <a:solidFill>
                            <a:srgbClr val="1A1A2E"/>
                          </a:solidFill>
                          <a:latin typeface="Calibri" pitchFamily="34" charset="0"/>
                          <a:ea typeface="Calibri" pitchFamily="34" charset="-122"/>
                          <a:cs typeface="Calibri" pitchFamily="34" charset="-120"/>
                        </a:rPr>
                        <a:t>Markdown / PDF report; case ZIP with hashes, custody log, CSV</a:t>
                      </a:r>
                      <a:endParaRPr lang="en-US" sz="1250" dirty="0">
                        <a:latin typeface="Calibri" charset="0"/>
                        <a:ea typeface="Calibri" charset="0"/>
                        <a:cs typeface="Calibri" charset="0"/>
                      </a:endParaRPr>
                    </a:p>
                  </a:txBody>
                  <a:tcPr marL="73152" marR="73152" anchor="ctr">
                    <a:lnL w="9525" cap="flat" cmpd="sng" algn="ctr">
                      <a:solidFill>
                        <a:srgbClr val="D5DBF5"/>
                      </a:solidFill>
                      <a:prstDash val="solid"/>
                      <a:round/>
                      <a:headEnd type="none" w="med" len="med"/>
                      <a:tailEnd type="none" w="med" len="med"/>
                    </a:lnL>
                    <a:lnR w="9525" cap="flat" cmpd="sng" algn="ctr">
                      <a:solidFill>
                        <a:srgbClr val="D5DBF5"/>
                      </a:solidFill>
                      <a:prstDash val="solid"/>
                      <a:round/>
                      <a:headEnd type="none" w="med" len="med"/>
                      <a:tailEnd type="none" w="med" len="med"/>
                    </a:lnR>
                    <a:lnT w="9525" cap="flat" cmpd="sng" algn="ctr">
                      <a:solidFill>
                        <a:srgbClr val="D5DBF5"/>
                      </a:solidFill>
                      <a:prstDash val="solid"/>
                      <a:round/>
                      <a:headEnd type="none" w="med" len="med"/>
                      <a:tailEnd type="none" w="med" len="med"/>
                    </a:lnT>
                    <a:lnB w="9525" cap="flat" cmpd="sng" algn="ctr">
                      <a:solidFill>
                        <a:srgbClr val="D5DBF5"/>
                      </a:solidFill>
                      <a:prstDash val="solid"/>
                      <a:round/>
                      <a:headEnd type="none" w="med" len="med"/>
                      <a:tailEnd type="none" w="med" len="med"/>
                    </a:lnB>
                    <a:solidFill>
                      <a:srgbClr val="ECFDF3"/>
                    </a:solidFill>
                  </a:tcPr>
                </a:tc>
                <a:extLst>
                  <a:ext uri="{0D108BD9-81ED-4DB2-BD59-A6C34878D82A}">
                    <a16:rowId xmlns:a16="http://schemas.microsoft.com/office/drawing/2014/main" val="10006"/>
                  </a:ext>
                </a:extLst>
              </a:tr>
            </a:tbl>
          </a:graphicData>
        </a:graphic>
      </p:graphicFrame>
      <p:graphicFrame>
        <p:nvGraphicFramePr>
          <p:cNvPr id="5" name="Chart 0"/>
          <p:cNvGraphicFramePr/>
          <p:nvPr/>
        </p:nvGraphicFramePr>
        <p:xfrm>
          <a:off x="548640" y="4114800"/>
          <a:ext cx="352044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3"/>
          <p:cNvSpPr/>
          <p:nvPr/>
        </p:nvSpPr>
        <p:spPr>
          <a:xfrm>
            <a:off x="4297680" y="4160520"/>
            <a:ext cx="1261872" cy="1005840"/>
          </a:xfrm>
          <a:prstGeom prst="roundRect">
            <a:avLst>
              <a:gd name="adj" fmla="val 7273"/>
            </a:avLst>
          </a:prstGeom>
          <a:solidFill>
            <a:schemeClr val="bg2"/>
          </a:solidFill>
          <a:ln/>
        </p:spPr>
      </p:sp>
      <p:sp>
        <p:nvSpPr>
          <p:cNvPr id="9" name="Text 4"/>
          <p:cNvSpPr txBox="1"/>
          <p:nvPr/>
        </p:nvSpPr>
        <p:spPr>
          <a:xfrm>
            <a:off x="4389120" y="4233672"/>
            <a:ext cx="1097280" cy="502920"/>
          </a:xfrm>
          <a:prstGeom prst="rect">
            <a:avLst/>
          </a:prstGeom>
          <a:noFill/>
          <a:ln/>
        </p:spPr>
        <p:txBody>
          <a:bodyPr wrap="square" lIns="0" tIns="0" rIns="0" bIns="0" rtlCol="0" anchor="ctr"/>
          <a:lstStyle/>
          <a:p>
            <a:pPr marL="0" indent="0" algn="l">
              <a:buNone/>
            </a:pPr>
            <a:r>
              <a:rPr lang="en-US" sz="2400" b="1" dirty="0">
                <a:solidFill>
                  <a:schemeClr val="accent1"/>
                </a:solidFill>
              </a:rPr>
              <a:t>3/3</a:t>
            </a:r>
            <a:endParaRPr lang="en-US" sz="2400" dirty="0"/>
          </a:p>
        </p:txBody>
      </p:sp>
      <p:sp>
        <p:nvSpPr>
          <p:cNvPr id="10" name="Text 5"/>
          <p:cNvSpPr txBox="1"/>
          <p:nvPr/>
        </p:nvSpPr>
        <p:spPr>
          <a:xfrm>
            <a:off x="4389120" y="4764024"/>
            <a:ext cx="1143000" cy="347472"/>
          </a:xfrm>
          <a:prstGeom prst="rect">
            <a:avLst/>
          </a:prstGeom>
          <a:noFill/>
          <a:ln/>
        </p:spPr>
        <p:txBody>
          <a:bodyPr wrap="square" lIns="0" tIns="0" rIns="0" bIns="0" rtlCol="0" anchor="t"/>
          <a:lstStyle/>
          <a:p>
            <a:pPr marL="0" indent="0" algn="l">
              <a:buNone/>
            </a:pPr>
            <a:r>
              <a:rPr lang="en-US" sz="1100" dirty="0">
                <a:solidFill>
                  <a:schemeClr val="tx1"/>
                </a:solidFill>
              </a:rPr>
              <a:t>scenarios passed</a:t>
            </a:r>
            <a:endParaRPr lang="en-US" sz="1100" dirty="0"/>
          </a:p>
        </p:txBody>
      </p:sp>
      <p:sp>
        <p:nvSpPr>
          <p:cNvPr id="11" name="Shape 6"/>
          <p:cNvSpPr/>
          <p:nvPr/>
        </p:nvSpPr>
        <p:spPr>
          <a:xfrm>
            <a:off x="5669280" y="4160520"/>
            <a:ext cx="1261872" cy="1005840"/>
          </a:xfrm>
          <a:prstGeom prst="roundRect">
            <a:avLst>
              <a:gd name="adj" fmla="val 7273"/>
            </a:avLst>
          </a:prstGeom>
          <a:solidFill>
            <a:schemeClr val="bg2"/>
          </a:solidFill>
          <a:ln/>
        </p:spPr>
      </p:sp>
      <p:sp>
        <p:nvSpPr>
          <p:cNvPr id="12" name="Text 7"/>
          <p:cNvSpPr txBox="1"/>
          <p:nvPr/>
        </p:nvSpPr>
        <p:spPr>
          <a:xfrm>
            <a:off x="5760720" y="4233672"/>
            <a:ext cx="1097280" cy="502920"/>
          </a:xfrm>
          <a:prstGeom prst="rect">
            <a:avLst/>
          </a:prstGeom>
          <a:noFill/>
          <a:ln/>
        </p:spPr>
        <p:txBody>
          <a:bodyPr wrap="square" lIns="0" tIns="0" rIns="0" bIns="0" rtlCol="0" anchor="ctr"/>
          <a:lstStyle/>
          <a:p>
            <a:pPr marL="0" indent="0" algn="l">
              <a:buNone/>
            </a:pPr>
            <a:r>
              <a:rPr lang="en-US" sz="2400" b="1" dirty="0">
                <a:solidFill>
                  <a:schemeClr val="accent1"/>
                </a:solidFill>
              </a:rPr>
              <a:t>16/16</a:t>
            </a:r>
            <a:endParaRPr lang="en-US" sz="2400" dirty="0"/>
          </a:p>
        </p:txBody>
      </p:sp>
      <p:sp>
        <p:nvSpPr>
          <p:cNvPr id="13" name="Text 8"/>
          <p:cNvSpPr txBox="1"/>
          <p:nvPr/>
        </p:nvSpPr>
        <p:spPr>
          <a:xfrm>
            <a:off x="5760720" y="4764024"/>
            <a:ext cx="1143000" cy="347472"/>
          </a:xfrm>
          <a:prstGeom prst="rect">
            <a:avLst/>
          </a:prstGeom>
          <a:noFill/>
          <a:ln/>
        </p:spPr>
        <p:txBody>
          <a:bodyPr wrap="square" lIns="0" tIns="0" rIns="0" bIns="0" rtlCol="0" anchor="t"/>
          <a:lstStyle/>
          <a:p>
            <a:pPr marL="0" indent="0" algn="l">
              <a:buNone/>
            </a:pPr>
            <a:r>
              <a:rPr lang="en-US" sz="1100" dirty="0">
                <a:solidFill>
                  <a:schemeClr val="tx1"/>
                </a:solidFill>
              </a:rPr>
              <a:t>expected alerts</a:t>
            </a:r>
            <a:endParaRPr lang="en-US" sz="1100" dirty="0"/>
          </a:p>
        </p:txBody>
      </p:sp>
      <p:sp>
        <p:nvSpPr>
          <p:cNvPr id="14" name="Shape 9"/>
          <p:cNvSpPr/>
          <p:nvPr/>
        </p:nvSpPr>
        <p:spPr>
          <a:xfrm>
            <a:off x="7040880" y="4160520"/>
            <a:ext cx="1261872" cy="1005840"/>
          </a:xfrm>
          <a:prstGeom prst="roundRect">
            <a:avLst>
              <a:gd name="adj" fmla="val 7273"/>
            </a:avLst>
          </a:prstGeom>
          <a:solidFill>
            <a:schemeClr val="bg2"/>
          </a:solidFill>
          <a:ln/>
        </p:spPr>
      </p:sp>
      <p:sp>
        <p:nvSpPr>
          <p:cNvPr id="15" name="Text 10"/>
          <p:cNvSpPr txBox="1"/>
          <p:nvPr/>
        </p:nvSpPr>
        <p:spPr>
          <a:xfrm>
            <a:off x="7132320" y="4233672"/>
            <a:ext cx="1097280" cy="502920"/>
          </a:xfrm>
          <a:prstGeom prst="rect">
            <a:avLst/>
          </a:prstGeom>
          <a:noFill/>
          <a:ln/>
        </p:spPr>
        <p:txBody>
          <a:bodyPr wrap="square" lIns="0" tIns="0" rIns="0" bIns="0" rtlCol="0" anchor="ctr"/>
          <a:lstStyle/>
          <a:p>
            <a:pPr marL="0" indent="0" algn="l">
              <a:buNone/>
            </a:pPr>
            <a:r>
              <a:rPr lang="en-US" sz="2400" b="1" dirty="0">
                <a:solidFill>
                  <a:schemeClr val="accent5"/>
                </a:solidFill>
              </a:rPr>
              <a:t>0</a:t>
            </a:r>
            <a:endParaRPr lang="en-US" sz="2400" dirty="0"/>
          </a:p>
        </p:txBody>
      </p:sp>
      <p:sp>
        <p:nvSpPr>
          <p:cNvPr id="16" name="Text 11"/>
          <p:cNvSpPr txBox="1"/>
          <p:nvPr/>
        </p:nvSpPr>
        <p:spPr>
          <a:xfrm>
            <a:off x="7132320" y="4764024"/>
            <a:ext cx="1143000" cy="347472"/>
          </a:xfrm>
          <a:prstGeom prst="rect">
            <a:avLst/>
          </a:prstGeom>
          <a:noFill/>
          <a:ln/>
        </p:spPr>
        <p:txBody>
          <a:bodyPr wrap="square" lIns="0" tIns="0" rIns="0" bIns="0" rtlCol="0" anchor="t"/>
          <a:lstStyle/>
          <a:p>
            <a:pPr marL="0" indent="0" algn="l">
              <a:buNone/>
            </a:pPr>
            <a:r>
              <a:rPr lang="en-US" sz="1100" dirty="0">
                <a:solidFill>
                  <a:schemeClr val="tx1"/>
                </a:solidFill>
              </a:rPr>
              <a:t>false positives</a:t>
            </a:r>
            <a:endParaRPr lang="en-US" sz="1100" dirty="0"/>
          </a:p>
        </p:txBody>
      </p:sp>
      <p:sp>
        <p:nvSpPr>
          <p:cNvPr id="17" name="Shape 12"/>
          <p:cNvSpPr/>
          <p:nvPr/>
        </p:nvSpPr>
        <p:spPr>
          <a:xfrm>
            <a:off x="4297680" y="5257800"/>
            <a:ext cx="1261872" cy="1005840"/>
          </a:xfrm>
          <a:prstGeom prst="roundRect">
            <a:avLst>
              <a:gd name="adj" fmla="val 7273"/>
            </a:avLst>
          </a:prstGeom>
          <a:solidFill>
            <a:schemeClr val="bg2"/>
          </a:solidFill>
          <a:ln/>
        </p:spPr>
      </p:sp>
      <p:sp>
        <p:nvSpPr>
          <p:cNvPr id="18" name="Text 13"/>
          <p:cNvSpPr txBox="1"/>
          <p:nvPr/>
        </p:nvSpPr>
        <p:spPr>
          <a:xfrm>
            <a:off x="4389120" y="5330952"/>
            <a:ext cx="1097280" cy="502920"/>
          </a:xfrm>
          <a:prstGeom prst="rect">
            <a:avLst/>
          </a:prstGeom>
          <a:noFill/>
          <a:ln/>
        </p:spPr>
        <p:txBody>
          <a:bodyPr wrap="square" lIns="0" tIns="0" rIns="0" bIns="0" rtlCol="0" anchor="ctr"/>
          <a:lstStyle/>
          <a:p>
            <a:pPr marL="0" indent="0" algn="l">
              <a:buNone/>
            </a:pPr>
            <a:r>
              <a:rPr lang="en-US" sz="2400" b="1" dirty="0">
                <a:solidFill>
                  <a:schemeClr val="accent1"/>
                </a:solidFill>
              </a:rPr>
              <a:t>6/6</a:t>
            </a:r>
            <a:endParaRPr lang="en-US" sz="2400" dirty="0"/>
          </a:p>
        </p:txBody>
      </p:sp>
      <p:sp>
        <p:nvSpPr>
          <p:cNvPr id="19" name="Text 14"/>
          <p:cNvSpPr txBox="1"/>
          <p:nvPr/>
        </p:nvSpPr>
        <p:spPr>
          <a:xfrm>
            <a:off x="4389120" y="5861304"/>
            <a:ext cx="1143000" cy="347472"/>
          </a:xfrm>
          <a:prstGeom prst="rect">
            <a:avLst/>
          </a:prstGeom>
          <a:noFill/>
          <a:ln/>
        </p:spPr>
        <p:txBody>
          <a:bodyPr wrap="square" lIns="0" tIns="0" rIns="0" bIns="0" rtlCol="0" anchor="t"/>
          <a:lstStyle/>
          <a:p>
            <a:pPr marL="0" indent="0" algn="l">
              <a:buNone/>
            </a:pPr>
            <a:r>
              <a:rPr lang="en-US" sz="1100" dirty="0">
                <a:solidFill>
                  <a:schemeClr val="tx1"/>
                </a:solidFill>
              </a:rPr>
              <a:t>gaps logged</a:t>
            </a:r>
            <a:endParaRPr lang="en-US" sz="1100" dirty="0"/>
          </a:p>
        </p:txBody>
      </p:sp>
      <p:sp>
        <p:nvSpPr>
          <p:cNvPr id="20" name="Shape 15"/>
          <p:cNvSpPr/>
          <p:nvPr/>
        </p:nvSpPr>
        <p:spPr>
          <a:xfrm>
            <a:off x="5669280" y="5257800"/>
            <a:ext cx="1261872" cy="1005840"/>
          </a:xfrm>
          <a:prstGeom prst="roundRect">
            <a:avLst>
              <a:gd name="adj" fmla="val 7273"/>
            </a:avLst>
          </a:prstGeom>
          <a:solidFill>
            <a:schemeClr val="bg2"/>
          </a:solidFill>
          <a:ln/>
        </p:spPr>
      </p:sp>
      <p:sp>
        <p:nvSpPr>
          <p:cNvPr id="21" name="Text 16"/>
          <p:cNvSpPr txBox="1"/>
          <p:nvPr/>
        </p:nvSpPr>
        <p:spPr>
          <a:xfrm>
            <a:off x="5760720" y="5330952"/>
            <a:ext cx="1097280" cy="502920"/>
          </a:xfrm>
          <a:prstGeom prst="rect">
            <a:avLst/>
          </a:prstGeom>
          <a:noFill/>
          <a:ln/>
        </p:spPr>
        <p:txBody>
          <a:bodyPr wrap="square" lIns="0" tIns="0" rIns="0" bIns="0" rtlCol="0" anchor="ctr"/>
          <a:lstStyle/>
          <a:p>
            <a:pPr marL="0" indent="0" algn="l">
              <a:buNone/>
            </a:pPr>
            <a:r>
              <a:rPr lang="en-US" sz="2400" b="1" dirty="0">
                <a:solidFill>
                  <a:schemeClr val="accent1"/>
                </a:solidFill>
              </a:rPr>
              <a:t>4/4</a:t>
            </a:r>
            <a:endParaRPr lang="en-US" sz="2400" dirty="0"/>
          </a:p>
        </p:txBody>
      </p:sp>
      <p:sp>
        <p:nvSpPr>
          <p:cNvPr id="22" name="Text 17"/>
          <p:cNvSpPr txBox="1"/>
          <p:nvPr/>
        </p:nvSpPr>
        <p:spPr>
          <a:xfrm>
            <a:off x="5760720" y="5861304"/>
            <a:ext cx="1143000" cy="347472"/>
          </a:xfrm>
          <a:prstGeom prst="rect">
            <a:avLst/>
          </a:prstGeom>
          <a:noFill/>
          <a:ln/>
        </p:spPr>
        <p:txBody>
          <a:bodyPr wrap="square" lIns="0" tIns="0" rIns="0" bIns="0" rtlCol="0" anchor="t"/>
          <a:lstStyle/>
          <a:p>
            <a:pPr marL="0" indent="0" algn="l">
              <a:buNone/>
            </a:pPr>
            <a:r>
              <a:rPr lang="en-US" sz="1100" dirty="0">
                <a:solidFill>
                  <a:schemeClr val="tx1"/>
                </a:solidFill>
              </a:rPr>
              <a:t>hashes verified</a:t>
            </a:r>
            <a:endParaRPr lang="en-US" sz="1100" dirty="0"/>
          </a:p>
        </p:txBody>
      </p:sp>
      <p:sp>
        <p:nvSpPr>
          <p:cNvPr id="23" name="Shape 18"/>
          <p:cNvSpPr/>
          <p:nvPr/>
        </p:nvSpPr>
        <p:spPr>
          <a:xfrm>
            <a:off x="7040880" y="5257800"/>
            <a:ext cx="1261872" cy="1005840"/>
          </a:xfrm>
          <a:prstGeom prst="roundRect">
            <a:avLst>
              <a:gd name="adj" fmla="val 7273"/>
            </a:avLst>
          </a:prstGeom>
          <a:solidFill>
            <a:schemeClr val="bg2"/>
          </a:solidFill>
          <a:ln/>
        </p:spPr>
      </p:sp>
      <p:sp>
        <p:nvSpPr>
          <p:cNvPr id="24" name="Text 19"/>
          <p:cNvSpPr txBox="1"/>
          <p:nvPr/>
        </p:nvSpPr>
        <p:spPr>
          <a:xfrm>
            <a:off x="7132320" y="5330952"/>
            <a:ext cx="1097280" cy="502920"/>
          </a:xfrm>
          <a:prstGeom prst="rect">
            <a:avLst/>
          </a:prstGeom>
          <a:noFill/>
          <a:ln/>
        </p:spPr>
        <p:txBody>
          <a:bodyPr wrap="square" lIns="0" tIns="0" rIns="0" bIns="0" rtlCol="0" anchor="ctr"/>
          <a:lstStyle/>
          <a:p>
            <a:pPr marL="0" indent="0" algn="l">
              <a:buNone/>
            </a:pPr>
            <a:r>
              <a:rPr lang="en-US" sz="2400" b="1" dirty="0">
                <a:solidFill>
                  <a:schemeClr val="accent1"/>
                </a:solidFill>
              </a:rPr>
              <a:t>14</a:t>
            </a:r>
            <a:endParaRPr lang="en-US" sz="2400" dirty="0"/>
          </a:p>
        </p:txBody>
      </p:sp>
      <p:sp>
        <p:nvSpPr>
          <p:cNvPr id="25" name="Text 20"/>
          <p:cNvSpPr txBox="1"/>
          <p:nvPr/>
        </p:nvSpPr>
        <p:spPr>
          <a:xfrm>
            <a:off x="7132320" y="5861304"/>
            <a:ext cx="1143000" cy="347472"/>
          </a:xfrm>
          <a:prstGeom prst="rect">
            <a:avLst/>
          </a:prstGeom>
          <a:noFill/>
          <a:ln/>
        </p:spPr>
        <p:txBody>
          <a:bodyPr wrap="square" lIns="0" tIns="0" rIns="0" bIns="0" rtlCol="0" anchor="t"/>
          <a:lstStyle/>
          <a:p>
            <a:pPr marL="0" indent="0" algn="l">
              <a:buNone/>
            </a:pPr>
            <a:r>
              <a:rPr lang="en-US" sz="1100" dirty="0">
                <a:solidFill>
                  <a:schemeClr val="tx1"/>
                </a:solidFill>
              </a:rPr>
              <a:t>tests passing</a:t>
            </a:r>
            <a:endParaRPr lang="en-US" sz="1100" dirty="0"/>
          </a:p>
        </p:txBody>
      </p:sp>
      <p:sp>
        <p:nvSpPr>
          <p:cNvPr id="26" name="Text 21"/>
          <p:cNvSpPr txBox="1"/>
          <p:nvPr/>
        </p:nvSpPr>
        <p:spPr>
          <a:xfrm>
            <a:off x="8503920" y="4133088"/>
            <a:ext cx="3136392" cy="274320"/>
          </a:xfrm>
          <a:prstGeom prst="rect">
            <a:avLst/>
          </a:prstGeom>
          <a:noFill/>
          <a:ln/>
        </p:spPr>
        <p:txBody>
          <a:bodyPr wrap="square" lIns="0" tIns="0" rIns="0" bIns="0" rtlCol="0" anchor="t"/>
          <a:lstStyle/>
          <a:p>
            <a:pPr marL="0" indent="0" algn="l">
              <a:buNone/>
            </a:pPr>
            <a:r>
              <a:rPr lang="en-US" sz="1250" b="1" dirty="0">
                <a:solidFill>
                  <a:schemeClr val="accent1"/>
                </a:solidFill>
              </a:rPr>
              <a:t>Real-world logs and AI safety</a:t>
            </a:r>
            <a:endParaRPr lang="en-US" sz="1250" dirty="0"/>
          </a:p>
        </p:txBody>
      </p:sp>
      <p:sp>
        <p:nvSpPr>
          <p:cNvPr id="27" name="Text 22"/>
          <p:cNvSpPr txBox="1"/>
          <p:nvPr/>
        </p:nvSpPr>
        <p:spPr>
          <a:xfrm>
            <a:off x="8503920" y="4462272"/>
            <a:ext cx="3136392" cy="1828800"/>
          </a:xfrm>
          <a:prstGeom prst="rect">
            <a:avLst/>
          </a:prstGeom>
          <a:noFill/>
          <a:ln/>
        </p:spPr>
        <p:txBody>
          <a:bodyPr wrap="square" lIns="0" tIns="0" rIns="0" bIns="0" rtlCol="0" anchor="t"/>
          <a:lstStyle/>
          <a:p>
            <a:pPr marL="177800" indent="-177800">
              <a:spcAft>
                <a:spcPts val="500"/>
              </a:spcAft>
              <a:buSzPct val="100000"/>
              <a:buChar char="•"/>
            </a:pPr>
            <a:r>
              <a:rPr lang="en-US" sz="1200" b="1" dirty="0">
                <a:solidFill>
                  <a:schemeClr val="tx1"/>
                </a:solidFill>
              </a:rPr>
              <a:t>LogHub OpenSSH [19]: </a:t>
            </a:r>
            <a:r>
              <a:rPr lang="en-US" sz="1200" dirty="0">
                <a:solidFill>
                  <a:schemeClr val="tx1"/>
                </a:solidFill>
              </a:rPr>
              <a:t>2,000 lines, 10 alerts, 9 brute-force IPs, 5/5 checks</a:t>
            </a:r>
            <a:endParaRPr lang="en-US" sz="1200" dirty="0"/>
          </a:p>
          <a:p>
            <a:pPr marL="177800" indent="-177800">
              <a:spcAft>
                <a:spcPts val="500"/>
              </a:spcAft>
              <a:buSzPct val="100000"/>
              <a:buChar char="•"/>
            </a:pPr>
            <a:r>
              <a:rPr lang="en-US" sz="1200" b="1" dirty="0">
                <a:solidFill>
                  <a:schemeClr val="tx1"/>
                </a:solidFill>
              </a:rPr>
              <a:t>Elastic Nginx [21]: </a:t>
            </a:r>
            <a:r>
              <a:rPr lang="en-US" sz="1200" dirty="0">
                <a:solidFill>
                  <a:schemeClr val="tx1"/>
                </a:solidFill>
              </a:rPr>
              <a:t>51,462 lines, 0 false alarms, 5/5 checks</a:t>
            </a:r>
            <a:endParaRPr lang="en-US" sz="1200" dirty="0"/>
          </a:p>
          <a:p>
            <a:pPr marL="177800" indent="-177800">
              <a:spcAft>
                <a:spcPts val="500"/>
              </a:spcAft>
              <a:buSzPct val="100000"/>
              <a:buChar char="•"/>
            </a:pPr>
            <a:r>
              <a:rPr lang="en-US" sz="1200" b="1" dirty="0">
                <a:solidFill>
                  <a:schemeClr val="tx1"/>
                </a:solidFill>
              </a:rPr>
              <a:t>AI copilot [20]: </a:t>
            </a:r>
            <a:r>
              <a:rPr lang="en-US" sz="1200" dirty="0">
                <a:solidFill>
                  <a:schemeClr val="tx1"/>
                </a:solidFill>
              </a:rPr>
              <a:t>≤ 60 redacted events, cited IDs verified, custody-logged</a:t>
            </a:r>
            <a:endParaRPr lang="en-US" sz="1200" dirty="0"/>
          </a:p>
        </p:txBody>
      </p:sp>
      <p:sp>
        <p:nvSpPr>
          <p:cNvPr id="6"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Architecture Design (UML Diagram)</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Solution Architecture &amp; Design</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Layered, modular architecture: presentation, application services and a local data layer; no server required</a:t>
            </a:r>
            <a:endParaRPr lang="en-US" sz="1600" dirty="0"/>
          </a:p>
        </p:txBody>
      </p:sp>
      <p:sp>
        <p:nvSpPr>
          <p:cNvPr id="6" name="Shape 3"/>
          <p:cNvSpPr/>
          <p:nvPr/>
        </p:nvSpPr>
        <p:spPr>
          <a:xfrm>
            <a:off x="548640" y="1691640"/>
            <a:ext cx="9281160" cy="960120"/>
          </a:xfrm>
          <a:prstGeom prst="rect">
            <a:avLst/>
          </a:prstGeom>
          <a:solidFill>
            <a:schemeClr val="bg2"/>
          </a:solidFill>
          <a:ln w="9525">
            <a:solidFill>
              <a:srgbClr val="D5DBF5"/>
            </a:solidFill>
            <a:prstDash val="solid"/>
          </a:ln>
        </p:spPr>
      </p:sp>
      <p:sp>
        <p:nvSpPr>
          <p:cNvPr id="7" name="Text 4"/>
          <p:cNvSpPr txBox="1"/>
          <p:nvPr/>
        </p:nvSpPr>
        <p:spPr>
          <a:xfrm>
            <a:off x="640080" y="1737360"/>
            <a:ext cx="1828800" cy="274320"/>
          </a:xfrm>
          <a:prstGeom prst="rect">
            <a:avLst/>
          </a:prstGeom>
          <a:noFill/>
          <a:ln/>
        </p:spPr>
        <p:txBody>
          <a:bodyPr wrap="square" lIns="0" tIns="0" rIns="0" bIns="0" rtlCol="0" anchor="t"/>
          <a:lstStyle/>
          <a:p>
            <a:pPr marL="0" indent="0" algn="l">
              <a:buNone/>
            </a:pPr>
            <a:r>
              <a:rPr lang="en-US" sz="1100" b="1" dirty="0">
                <a:solidFill>
                  <a:schemeClr val="accent1"/>
                </a:solidFill>
              </a:rPr>
              <a:t>Presentation</a:t>
            </a:r>
            <a:endParaRPr lang="en-US" sz="1100" dirty="0"/>
          </a:p>
        </p:txBody>
      </p:sp>
      <p:sp>
        <p:nvSpPr>
          <p:cNvPr id="8" name="Text 5"/>
          <p:cNvSpPr/>
          <p:nvPr/>
        </p:nvSpPr>
        <p:spPr>
          <a:xfrm>
            <a:off x="1874520" y="1828800"/>
            <a:ext cx="2377440" cy="713232"/>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Streamlit Dashboard</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app.py</a:t>
            </a:r>
            <a:endParaRPr lang="en-US" sz="1100" dirty="0"/>
          </a:p>
        </p:txBody>
      </p:sp>
      <p:sp>
        <p:nvSpPr>
          <p:cNvPr id="9" name="Text 6"/>
          <p:cNvSpPr/>
          <p:nvPr/>
        </p:nvSpPr>
        <p:spPr>
          <a:xfrm>
            <a:off x="4526280" y="1828800"/>
            <a:ext cx="2377440" cy="713232"/>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Command-line interface</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run.py</a:t>
            </a:r>
            <a:endParaRPr lang="en-US" sz="1100" dirty="0"/>
          </a:p>
        </p:txBody>
      </p:sp>
      <p:sp>
        <p:nvSpPr>
          <p:cNvPr id="10" name="Text 7"/>
          <p:cNvSpPr/>
          <p:nvPr/>
        </p:nvSpPr>
        <p:spPr>
          <a:xfrm>
            <a:off x="7178040" y="1828800"/>
            <a:ext cx="2377440" cy="713232"/>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Browser Edition</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TypeScript + Vite</a:t>
            </a:r>
            <a:endParaRPr lang="en-US" sz="1100" dirty="0"/>
          </a:p>
        </p:txBody>
      </p:sp>
      <p:sp>
        <p:nvSpPr>
          <p:cNvPr id="11" name="Shape 8"/>
          <p:cNvSpPr/>
          <p:nvPr/>
        </p:nvSpPr>
        <p:spPr>
          <a:xfrm>
            <a:off x="548640" y="2834640"/>
            <a:ext cx="9281160" cy="1874520"/>
          </a:xfrm>
          <a:prstGeom prst="rect">
            <a:avLst/>
          </a:prstGeom>
          <a:solidFill>
            <a:schemeClr val="bg2"/>
          </a:solidFill>
          <a:ln w="9525">
            <a:solidFill>
              <a:srgbClr val="D5DBF5"/>
            </a:solidFill>
            <a:prstDash val="solid"/>
          </a:ln>
        </p:spPr>
      </p:sp>
      <p:sp>
        <p:nvSpPr>
          <p:cNvPr id="12" name="Text 9"/>
          <p:cNvSpPr txBox="1"/>
          <p:nvPr/>
        </p:nvSpPr>
        <p:spPr>
          <a:xfrm>
            <a:off x="640080" y="2880360"/>
            <a:ext cx="1828800" cy="274320"/>
          </a:xfrm>
          <a:prstGeom prst="rect">
            <a:avLst/>
          </a:prstGeom>
          <a:noFill/>
          <a:ln/>
        </p:spPr>
        <p:txBody>
          <a:bodyPr wrap="square" lIns="0" tIns="0" rIns="0" bIns="0" rtlCol="0" anchor="t"/>
          <a:lstStyle/>
          <a:p>
            <a:pPr marL="0" indent="0" algn="l">
              <a:buNone/>
            </a:pPr>
            <a:r>
              <a:rPr lang="en-US" sz="1100" b="1" dirty="0">
                <a:solidFill>
                  <a:schemeClr val="accent1"/>
                </a:solidFill>
              </a:rPr>
              <a:t>Application services</a:t>
            </a:r>
            <a:endParaRPr lang="en-US" sz="1100" dirty="0"/>
          </a:p>
        </p:txBody>
      </p:sp>
      <p:sp>
        <p:nvSpPr>
          <p:cNvPr id="13" name="Text 10"/>
          <p:cNvSpPr txBox="1"/>
          <p:nvPr/>
        </p:nvSpPr>
        <p:spPr>
          <a:xfrm>
            <a:off x="4206240" y="2862072"/>
            <a:ext cx="5303520" cy="274320"/>
          </a:xfrm>
          <a:prstGeom prst="rect">
            <a:avLst/>
          </a:prstGeom>
          <a:noFill/>
          <a:ln/>
        </p:spPr>
        <p:txBody>
          <a:bodyPr wrap="square" lIns="0" tIns="0" rIns="0" bIns="0" rtlCol="0" anchor="t"/>
          <a:lstStyle/>
          <a:p>
            <a:pPr marL="0" indent="0" algn="l">
              <a:buNone/>
            </a:pPr>
            <a:r>
              <a:rPr lang="en-US" sz="1100" i="1" dirty="0">
                <a:solidFill>
                  <a:schemeClr val="tx2"/>
                </a:solidFill>
              </a:rPr>
              <a:t>pipeline.py orchestrates: ingest → parse → normalise → store → detect</a:t>
            </a:r>
            <a:endParaRPr lang="en-US" sz="1100" dirty="0"/>
          </a:p>
        </p:txBody>
      </p:sp>
      <p:sp>
        <p:nvSpPr>
          <p:cNvPr id="14" name="Text 11"/>
          <p:cNvSpPr/>
          <p:nvPr/>
        </p:nvSpPr>
        <p:spPr>
          <a:xfrm>
            <a:off x="685800" y="3182112"/>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Evidence Manager</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evidence.py</a:t>
            </a:r>
            <a:endParaRPr lang="en-US" sz="1100" dirty="0"/>
          </a:p>
        </p:txBody>
      </p:sp>
      <p:sp>
        <p:nvSpPr>
          <p:cNvPr id="15" name="Text 12"/>
          <p:cNvSpPr/>
          <p:nvPr/>
        </p:nvSpPr>
        <p:spPr>
          <a:xfrm>
            <a:off x="2953512" y="3182112"/>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Log Parsers</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parsers.py</a:t>
            </a:r>
            <a:endParaRPr lang="en-US" sz="1100" dirty="0"/>
          </a:p>
        </p:txBody>
      </p:sp>
      <p:sp>
        <p:nvSpPr>
          <p:cNvPr id="16" name="Text 13"/>
          <p:cNvSpPr/>
          <p:nvPr/>
        </p:nvSpPr>
        <p:spPr>
          <a:xfrm>
            <a:off x="5221224" y="3182112"/>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Time Normaliser</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normalize.py</a:t>
            </a:r>
            <a:endParaRPr lang="en-US" sz="1100" dirty="0"/>
          </a:p>
        </p:txBody>
      </p:sp>
      <p:sp>
        <p:nvSpPr>
          <p:cNvPr id="17" name="Text 14"/>
          <p:cNvSpPr/>
          <p:nvPr/>
        </p:nvSpPr>
        <p:spPr>
          <a:xfrm>
            <a:off x="7488936" y="3182112"/>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Detection Engine</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detect.py</a:t>
            </a:r>
            <a:endParaRPr lang="en-US" sz="1100" dirty="0"/>
          </a:p>
        </p:txBody>
      </p:sp>
      <p:sp>
        <p:nvSpPr>
          <p:cNvPr id="18" name="Text 15"/>
          <p:cNvSpPr/>
          <p:nvPr/>
        </p:nvSpPr>
        <p:spPr>
          <a:xfrm>
            <a:off x="685800" y="3950208"/>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ATT&amp;CK Mapper</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attack_map.py</a:t>
            </a:r>
            <a:endParaRPr lang="en-US" sz="1100" dirty="0"/>
          </a:p>
        </p:txBody>
      </p:sp>
      <p:sp>
        <p:nvSpPr>
          <p:cNvPr id="19" name="Text 16"/>
          <p:cNvSpPr/>
          <p:nvPr/>
        </p:nvSpPr>
        <p:spPr>
          <a:xfrm>
            <a:off x="2953512" y="3950208"/>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Reporter</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report.py</a:t>
            </a:r>
            <a:endParaRPr lang="en-US" sz="1100" dirty="0"/>
          </a:p>
        </p:txBody>
      </p:sp>
      <p:sp>
        <p:nvSpPr>
          <p:cNvPr id="20" name="Text 17"/>
          <p:cNvSpPr/>
          <p:nvPr/>
        </p:nvSpPr>
        <p:spPr>
          <a:xfrm>
            <a:off x="5221224" y="3950208"/>
            <a:ext cx="2121408" cy="694944"/>
          </a:xfrm>
          <a:prstGeom prst="rect">
            <a:avLst/>
          </a:prstGeom>
          <a:solidFill>
            <a:srgbClr val="FFFFFF"/>
          </a:solidFill>
          <a:ln w="15875">
            <a:solidFill>
              <a:schemeClr val="accent1"/>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Validator</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validate.py</a:t>
            </a:r>
            <a:endParaRPr lang="en-US" sz="1100" dirty="0"/>
          </a:p>
        </p:txBody>
      </p:sp>
      <p:sp>
        <p:nvSpPr>
          <p:cNvPr id="21" name="Text 18"/>
          <p:cNvSpPr/>
          <p:nvPr/>
        </p:nvSpPr>
        <p:spPr>
          <a:xfrm>
            <a:off x="7488936" y="3950208"/>
            <a:ext cx="2121408" cy="694944"/>
          </a:xfrm>
          <a:prstGeom prst="rect">
            <a:avLst/>
          </a:prstGeom>
          <a:solidFill>
            <a:srgbClr val="FFFFFF"/>
          </a:solidFill>
          <a:ln w="15875">
            <a:solidFill>
              <a:srgbClr val="7C3AED"/>
            </a:solidFill>
            <a:prstDash val="solid"/>
          </a:ln>
        </p:spPr>
        <p:txBody>
          <a:bodyPr wrap="square" lIns="38100" tIns="38100" rIns="38100" bIns="38100" rtlCol="0" anchor="ctr"/>
          <a:lstStyle/>
          <a:p>
            <a:pPr marL="0" indent="0" algn="ctr">
              <a:buNone/>
            </a:pPr>
            <a:r>
              <a:rPr lang="en-US" sz="900" dirty="0">
                <a:solidFill>
                  <a:srgbClr val="64748B"/>
                </a:solidFill>
              </a:rPr>
              <a:t>«component»</a:t>
            </a:r>
            <a:endParaRPr lang="en-US" sz="1100" dirty="0"/>
          </a:p>
          <a:p>
            <a:pPr marL="0" indent="0" algn="ctr">
              <a:buNone/>
            </a:pPr>
            <a:r>
              <a:rPr lang="en-US" sz="1200" b="1" dirty="0">
                <a:solidFill>
                  <a:schemeClr val="tx1"/>
                </a:solidFill>
              </a:rPr>
              <a:t>AI Copilot</a:t>
            </a:r>
            <a:endParaRPr lang="en-US" sz="1100" dirty="0"/>
          </a:p>
          <a:p>
            <a:pPr marL="0" indent="0" algn="ctr">
              <a:buNone/>
            </a:pPr>
            <a:r>
              <a:rPr lang="en-US" sz="1000" dirty="0">
                <a:solidFill>
                  <a:srgbClr val="64748B"/>
                </a:solidFill>
                <a:latin typeface="Courier New" pitchFamily="34" charset="0"/>
                <a:ea typeface="Courier New" pitchFamily="34" charset="-122"/>
                <a:cs typeface="Courier New" pitchFamily="34" charset="-120"/>
              </a:rPr>
              <a:t>ai_helper.py</a:t>
            </a:r>
            <a:endParaRPr lang="en-US" sz="1100" dirty="0"/>
          </a:p>
        </p:txBody>
      </p:sp>
      <p:sp>
        <p:nvSpPr>
          <p:cNvPr id="22" name="Shape 19"/>
          <p:cNvSpPr/>
          <p:nvPr/>
        </p:nvSpPr>
        <p:spPr>
          <a:xfrm>
            <a:off x="548640" y="4892040"/>
            <a:ext cx="9281160" cy="960120"/>
          </a:xfrm>
          <a:prstGeom prst="rect">
            <a:avLst/>
          </a:prstGeom>
          <a:solidFill>
            <a:schemeClr val="bg2"/>
          </a:solidFill>
          <a:ln w="9525">
            <a:solidFill>
              <a:srgbClr val="D5DBF5"/>
            </a:solidFill>
            <a:prstDash val="solid"/>
          </a:ln>
        </p:spPr>
      </p:sp>
      <p:sp>
        <p:nvSpPr>
          <p:cNvPr id="23" name="Text 20"/>
          <p:cNvSpPr txBox="1"/>
          <p:nvPr/>
        </p:nvSpPr>
        <p:spPr>
          <a:xfrm>
            <a:off x="640080" y="4937760"/>
            <a:ext cx="1828800" cy="274320"/>
          </a:xfrm>
          <a:prstGeom prst="rect">
            <a:avLst/>
          </a:prstGeom>
          <a:noFill/>
          <a:ln/>
        </p:spPr>
        <p:txBody>
          <a:bodyPr wrap="square" lIns="0" tIns="0" rIns="0" bIns="0" rtlCol="0" anchor="t"/>
          <a:lstStyle/>
          <a:p>
            <a:pPr marL="0" indent="0" algn="l">
              <a:buNone/>
            </a:pPr>
            <a:r>
              <a:rPr lang="en-US" sz="1100" b="1" dirty="0">
                <a:solidFill>
                  <a:schemeClr val="accent1"/>
                </a:solidFill>
              </a:rPr>
              <a:t>Data (local)</a:t>
            </a:r>
            <a:endParaRPr lang="en-US" sz="1100" dirty="0"/>
          </a:p>
        </p:txBody>
      </p:sp>
      <p:sp>
        <p:nvSpPr>
          <p:cNvPr id="24" name="Text 21"/>
          <p:cNvSpPr/>
          <p:nvPr/>
        </p:nvSpPr>
        <p:spPr>
          <a:xfrm>
            <a:off x="1874520" y="5010912"/>
            <a:ext cx="1463040" cy="731520"/>
          </a:xfrm>
          <a:prstGeom prst="rect">
            <a:avLst/>
          </a:prstGeom>
          <a:solidFill>
            <a:srgbClr val="E6F4F1"/>
          </a:solidFill>
          <a:ln w="15875">
            <a:solidFill>
              <a:schemeClr val="accent2"/>
            </a:solidFill>
            <a:prstDash val="solid"/>
          </a:ln>
        </p:spPr>
        <p:txBody>
          <a:bodyPr wrap="square" lIns="38100" tIns="38100" rIns="38100" bIns="38100" rtlCol="0" anchor="ctr"/>
          <a:lstStyle/>
          <a:p>
            <a:pPr marL="0" indent="0" algn="ctr">
              <a:buNone/>
            </a:pPr>
            <a:r>
              <a:rPr lang="en-US" sz="900" dirty="0">
                <a:solidFill>
                  <a:srgbClr val="64748B"/>
                </a:solidFill>
              </a:rPr>
              <a:t>«artifact»</a:t>
            </a:r>
            <a:endParaRPr lang="en-US" sz="1100" dirty="0"/>
          </a:p>
          <a:p>
            <a:pPr marL="0" indent="0" algn="ctr">
              <a:buNone/>
            </a:pPr>
            <a:r>
              <a:rPr lang="en-US" sz="1200" b="1" dirty="0">
                <a:solidFill>
                  <a:schemeClr val="tx1"/>
                </a:solidFill>
              </a:rPr>
              <a:t>Evidence store</a:t>
            </a:r>
            <a:endParaRPr lang="en-US" sz="1100" dirty="0"/>
          </a:p>
          <a:p>
            <a:pPr marL="0" indent="0" algn="ctr">
              <a:buNone/>
            </a:pPr>
            <a:r>
              <a:rPr lang="en-US" sz="1000" dirty="0">
                <a:solidFill>
                  <a:srgbClr val="64748B"/>
                </a:solidFill>
              </a:rPr>
              <a:t>read-only + manifest</a:t>
            </a:r>
            <a:endParaRPr lang="en-US" sz="1100" dirty="0"/>
          </a:p>
        </p:txBody>
      </p:sp>
      <p:sp>
        <p:nvSpPr>
          <p:cNvPr id="25" name="Text 22"/>
          <p:cNvSpPr/>
          <p:nvPr/>
        </p:nvSpPr>
        <p:spPr>
          <a:xfrm>
            <a:off x="3456432" y="5010912"/>
            <a:ext cx="1463040" cy="731520"/>
          </a:xfrm>
          <a:prstGeom prst="rect">
            <a:avLst/>
          </a:prstGeom>
          <a:solidFill>
            <a:srgbClr val="E6F4F1"/>
          </a:solidFill>
          <a:ln w="15875">
            <a:solidFill>
              <a:schemeClr val="accent2"/>
            </a:solidFill>
            <a:prstDash val="solid"/>
          </a:ln>
        </p:spPr>
        <p:txBody>
          <a:bodyPr wrap="square" lIns="38100" tIns="38100" rIns="38100" bIns="38100" rtlCol="0" anchor="ctr"/>
          <a:lstStyle/>
          <a:p>
            <a:pPr marL="0" indent="0" algn="ctr">
              <a:buNone/>
            </a:pPr>
            <a:r>
              <a:rPr lang="en-US" sz="900" dirty="0">
                <a:solidFill>
                  <a:srgbClr val="64748B"/>
                </a:solidFill>
              </a:rPr>
              <a:t>«artifact»</a:t>
            </a:r>
            <a:endParaRPr lang="en-US" sz="1100" dirty="0"/>
          </a:p>
          <a:p>
            <a:pPr marL="0" indent="0" algn="ctr">
              <a:buNone/>
            </a:pPr>
            <a:r>
              <a:rPr lang="en-US" sz="1200" b="1" dirty="0">
                <a:solidFill>
                  <a:schemeClr val="tx1"/>
                </a:solidFill>
              </a:rPr>
              <a:t>Custody log</a:t>
            </a:r>
            <a:endParaRPr lang="en-US" sz="1100" dirty="0"/>
          </a:p>
          <a:p>
            <a:pPr marL="0" indent="0" algn="ctr">
              <a:buNone/>
            </a:pPr>
            <a:r>
              <a:rPr lang="en-US" sz="1000" dirty="0">
                <a:solidFill>
                  <a:srgbClr val="64748B"/>
                </a:solidFill>
              </a:rPr>
              <a:t>append-only</a:t>
            </a:r>
            <a:endParaRPr lang="en-US" sz="1100" dirty="0"/>
          </a:p>
        </p:txBody>
      </p:sp>
      <p:sp>
        <p:nvSpPr>
          <p:cNvPr id="26" name="Text 23"/>
          <p:cNvSpPr/>
          <p:nvPr/>
        </p:nvSpPr>
        <p:spPr>
          <a:xfrm>
            <a:off x="5038344" y="5010912"/>
            <a:ext cx="1463040" cy="731520"/>
          </a:xfrm>
          <a:prstGeom prst="rect">
            <a:avLst/>
          </a:prstGeom>
          <a:solidFill>
            <a:srgbClr val="E6F4F1"/>
          </a:solidFill>
          <a:ln w="15875">
            <a:solidFill>
              <a:schemeClr val="accent2"/>
            </a:solidFill>
            <a:prstDash val="solid"/>
          </a:ln>
        </p:spPr>
        <p:txBody>
          <a:bodyPr wrap="square" lIns="38100" tIns="38100" rIns="38100" bIns="38100" rtlCol="0" anchor="ctr"/>
          <a:lstStyle/>
          <a:p>
            <a:pPr marL="0" indent="0" algn="ctr">
              <a:buNone/>
            </a:pPr>
            <a:r>
              <a:rPr lang="en-US" sz="900" dirty="0">
                <a:solidFill>
                  <a:srgbClr val="64748B"/>
                </a:solidFill>
              </a:rPr>
              <a:t>«database»</a:t>
            </a:r>
            <a:endParaRPr lang="en-US" sz="1100" dirty="0"/>
          </a:p>
          <a:p>
            <a:pPr marL="0" indent="0" algn="ctr">
              <a:buNone/>
            </a:pPr>
            <a:r>
              <a:rPr lang="en-US" sz="1200" b="1" dirty="0">
                <a:solidFill>
                  <a:schemeClr val="tx1"/>
                </a:solidFill>
              </a:rPr>
              <a:t>timeline.db</a:t>
            </a:r>
            <a:endParaRPr lang="en-US" sz="1100" dirty="0"/>
          </a:p>
          <a:p>
            <a:pPr marL="0" indent="0" algn="ctr">
              <a:buNone/>
            </a:pPr>
            <a:r>
              <a:rPr lang="en-US" sz="1000" dirty="0">
                <a:solidFill>
                  <a:srgbClr val="64748B"/>
                </a:solidFill>
              </a:rPr>
              <a:t>SQLite</a:t>
            </a:r>
            <a:endParaRPr lang="en-US" sz="1100" dirty="0"/>
          </a:p>
        </p:txBody>
      </p:sp>
      <p:sp>
        <p:nvSpPr>
          <p:cNvPr id="27" name="Text 24"/>
          <p:cNvSpPr/>
          <p:nvPr/>
        </p:nvSpPr>
        <p:spPr>
          <a:xfrm>
            <a:off x="6620256" y="5010912"/>
            <a:ext cx="1463040" cy="731520"/>
          </a:xfrm>
          <a:prstGeom prst="rect">
            <a:avLst/>
          </a:prstGeom>
          <a:solidFill>
            <a:srgbClr val="E6F4F1"/>
          </a:solidFill>
          <a:ln w="15875">
            <a:solidFill>
              <a:schemeClr val="accent2"/>
            </a:solidFill>
            <a:prstDash val="solid"/>
          </a:ln>
        </p:spPr>
        <p:txBody>
          <a:bodyPr wrap="square" lIns="38100" tIns="38100" rIns="38100" bIns="38100" rtlCol="0" anchor="ctr"/>
          <a:lstStyle/>
          <a:p>
            <a:pPr marL="0" indent="0" algn="ctr">
              <a:buNone/>
            </a:pPr>
            <a:r>
              <a:rPr lang="en-US" sz="900" dirty="0">
                <a:solidFill>
                  <a:srgbClr val="64748B"/>
                </a:solidFill>
              </a:rPr>
              <a:t>«artifact»</a:t>
            </a:r>
            <a:endParaRPr lang="en-US" sz="1100" dirty="0"/>
          </a:p>
          <a:p>
            <a:pPr marL="0" indent="0" algn="ctr">
              <a:buNone/>
            </a:pPr>
            <a:r>
              <a:rPr lang="en-US" sz="1200" b="1" dirty="0">
                <a:solidFill>
                  <a:schemeClr val="tx1"/>
                </a:solidFill>
              </a:rPr>
              <a:t>Parsing gaps</a:t>
            </a:r>
            <a:endParaRPr lang="en-US" sz="1100" dirty="0"/>
          </a:p>
          <a:p>
            <a:pPr marL="0" indent="0" algn="ctr">
              <a:buNone/>
            </a:pPr>
            <a:r>
              <a:rPr lang="en-US" sz="1000" dirty="0">
                <a:solidFill>
                  <a:srgbClr val="64748B"/>
                </a:solidFill>
              </a:rPr>
              <a:t>.jsonl</a:t>
            </a:r>
            <a:endParaRPr lang="en-US" sz="1100" dirty="0"/>
          </a:p>
        </p:txBody>
      </p:sp>
      <p:sp>
        <p:nvSpPr>
          <p:cNvPr id="28" name="Text 25"/>
          <p:cNvSpPr/>
          <p:nvPr/>
        </p:nvSpPr>
        <p:spPr>
          <a:xfrm>
            <a:off x="8202168" y="5010912"/>
            <a:ext cx="1463040" cy="731520"/>
          </a:xfrm>
          <a:prstGeom prst="rect">
            <a:avLst/>
          </a:prstGeom>
          <a:solidFill>
            <a:srgbClr val="E6F4F1"/>
          </a:solidFill>
          <a:ln w="15875">
            <a:solidFill>
              <a:schemeClr val="accent2"/>
            </a:solidFill>
            <a:prstDash val="solid"/>
          </a:ln>
        </p:spPr>
        <p:txBody>
          <a:bodyPr wrap="square" lIns="38100" tIns="38100" rIns="38100" bIns="38100" rtlCol="0" anchor="ctr"/>
          <a:lstStyle/>
          <a:p>
            <a:pPr marL="0" indent="0" algn="ctr">
              <a:buNone/>
            </a:pPr>
            <a:r>
              <a:rPr lang="en-US" sz="900" dirty="0">
                <a:solidFill>
                  <a:srgbClr val="64748B"/>
                </a:solidFill>
              </a:rPr>
              <a:t>«artifact»</a:t>
            </a:r>
            <a:endParaRPr lang="en-US" sz="1100" dirty="0"/>
          </a:p>
          <a:p>
            <a:pPr marL="0" indent="0" algn="ctr">
              <a:buNone/>
            </a:pPr>
            <a:r>
              <a:rPr lang="en-US" sz="1200" b="1" dirty="0">
                <a:solidFill>
                  <a:schemeClr val="tx1"/>
                </a:solidFill>
              </a:rPr>
              <a:t>Reports</a:t>
            </a:r>
            <a:endParaRPr lang="en-US" sz="1100" dirty="0"/>
          </a:p>
          <a:p>
            <a:pPr marL="0" indent="0" algn="ctr">
              <a:buNone/>
            </a:pPr>
            <a:r>
              <a:rPr lang="en-US" sz="1000" dirty="0">
                <a:solidFill>
                  <a:srgbClr val="64748B"/>
                </a:solidFill>
              </a:rPr>
              <a:t>MD, PDF, ZIP</a:t>
            </a:r>
            <a:endParaRPr lang="en-US" sz="1100" dirty="0"/>
          </a:p>
        </p:txBody>
      </p:sp>
      <p:sp>
        <p:nvSpPr>
          <p:cNvPr id="29" name="Shape 26"/>
          <p:cNvSpPr/>
          <p:nvPr/>
        </p:nvSpPr>
        <p:spPr>
          <a:xfrm>
            <a:off x="3063240" y="2542032"/>
            <a:ext cx="0" cy="612648"/>
          </a:xfrm>
          <a:prstGeom prst="line">
            <a:avLst/>
          </a:prstGeom>
          <a:noFill/>
          <a:ln w="15875">
            <a:solidFill>
              <a:schemeClr val="tx2"/>
            </a:solidFill>
            <a:prstDash val="dash"/>
            <a:headEnd type="none"/>
            <a:tailEnd type="triangle"/>
          </a:ln>
        </p:spPr>
      </p:sp>
      <p:sp>
        <p:nvSpPr>
          <p:cNvPr id="30" name="Text 27"/>
          <p:cNvSpPr txBox="1"/>
          <p:nvPr/>
        </p:nvSpPr>
        <p:spPr>
          <a:xfrm>
            <a:off x="3127248" y="2834640"/>
            <a:ext cx="640080" cy="228600"/>
          </a:xfrm>
          <a:prstGeom prst="rect">
            <a:avLst/>
          </a:prstGeom>
          <a:noFill/>
          <a:ln/>
        </p:spPr>
        <p:txBody>
          <a:bodyPr wrap="square" lIns="0" tIns="0" rIns="0" bIns="0" rtlCol="0" anchor="ctr"/>
          <a:lstStyle/>
          <a:p>
            <a:pPr marL="0" indent="0" algn="l">
              <a:buNone/>
            </a:pPr>
            <a:r>
              <a:rPr lang="en-US" sz="1000" dirty="0">
                <a:solidFill>
                  <a:schemeClr val="tx2"/>
                </a:solidFill>
              </a:rPr>
              <a:t>«use»</a:t>
            </a:r>
            <a:endParaRPr lang="en-US" sz="1000" dirty="0"/>
          </a:p>
        </p:txBody>
      </p:sp>
      <p:sp>
        <p:nvSpPr>
          <p:cNvPr id="31" name="Shape 28"/>
          <p:cNvSpPr/>
          <p:nvPr/>
        </p:nvSpPr>
        <p:spPr>
          <a:xfrm>
            <a:off x="4892040" y="4709160"/>
            <a:ext cx="0" cy="301752"/>
          </a:xfrm>
          <a:prstGeom prst="line">
            <a:avLst/>
          </a:prstGeom>
          <a:noFill/>
          <a:ln w="15875">
            <a:solidFill>
              <a:schemeClr val="tx2"/>
            </a:solidFill>
            <a:prstDash val="dash"/>
            <a:headEnd type="none"/>
            <a:tailEnd type="triangle"/>
          </a:ln>
        </p:spPr>
      </p:sp>
      <p:sp>
        <p:nvSpPr>
          <p:cNvPr id="32" name="Text 29"/>
          <p:cNvSpPr txBox="1"/>
          <p:nvPr/>
        </p:nvSpPr>
        <p:spPr>
          <a:xfrm>
            <a:off x="4956048" y="4681728"/>
            <a:ext cx="1097280" cy="228600"/>
          </a:xfrm>
          <a:prstGeom prst="rect">
            <a:avLst/>
          </a:prstGeom>
          <a:noFill/>
          <a:ln/>
        </p:spPr>
        <p:txBody>
          <a:bodyPr wrap="square" lIns="0" tIns="0" rIns="0" bIns="0" rtlCol="0" anchor="ctr"/>
          <a:lstStyle/>
          <a:p>
            <a:pPr marL="0" indent="0" algn="l">
              <a:buNone/>
            </a:pPr>
            <a:r>
              <a:rPr lang="en-US" sz="1000" dirty="0">
                <a:solidFill>
                  <a:schemeClr val="tx2"/>
                </a:solidFill>
              </a:rPr>
              <a:t>«read / write»</a:t>
            </a:r>
            <a:endParaRPr lang="en-US" sz="1000" dirty="0"/>
          </a:p>
        </p:txBody>
      </p:sp>
      <p:sp>
        <p:nvSpPr>
          <p:cNvPr id="33" name="Text 30"/>
          <p:cNvSpPr/>
          <p:nvPr/>
        </p:nvSpPr>
        <p:spPr>
          <a:xfrm>
            <a:off x="10104120" y="3931920"/>
            <a:ext cx="1536192" cy="786384"/>
          </a:xfrm>
          <a:prstGeom prst="rect">
            <a:avLst/>
          </a:prstGeom>
          <a:solidFill>
            <a:schemeClr val="bg1"/>
          </a:solidFill>
          <a:ln w="15875">
            <a:solidFill>
              <a:srgbClr val="7C3AED"/>
            </a:solidFill>
            <a:prstDash val="dash"/>
          </a:ln>
        </p:spPr>
        <p:txBody>
          <a:bodyPr wrap="square" lIns="38100" tIns="38100" rIns="38100" bIns="38100" rtlCol="0" anchor="ctr"/>
          <a:lstStyle/>
          <a:p>
            <a:pPr marL="0" indent="0" algn="ctr">
              <a:buNone/>
            </a:pPr>
            <a:r>
              <a:rPr lang="en-US" sz="900" dirty="0">
                <a:solidFill>
                  <a:srgbClr val="64748B"/>
                </a:solidFill>
              </a:rPr>
              <a:t>«external system»</a:t>
            </a:r>
            <a:endParaRPr lang="en-US" sz="1100" dirty="0"/>
          </a:p>
          <a:p>
            <a:pPr marL="0" indent="0" algn="ctr">
              <a:buNone/>
            </a:pPr>
            <a:r>
              <a:rPr lang="en-US" sz="1200" b="1" dirty="0">
                <a:solidFill>
                  <a:schemeClr val="tx1"/>
                </a:solidFill>
              </a:rPr>
              <a:t>Google Gemini API</a:t>
            </a:r>
            <a:endParaRPr lang="en-US" sz="1100" dirty="0"/>
          </a:p>
          <a:p>
            <a:pPr marL="0" indent="0" algn="ctr">
              <a:buNone/>
            </a:pPr>
            <a:r>
              <a:rPr lang="en-US" sz="1000" dirty="0">
                <a:solidFill>
                  <a:srgbClr val="64748B"/>
                </a:solidFill>
              </a:rPr>
              <a:t>optional</a:t>
            </a:r>
            <a:endParaRPr lang="en-US" sz="1100" dirty="0"/>
          </a:p>
        </p:txBody>
      </p:sp>
      <p:sp>
        <p:nvSpPr>
          <p:cNvPr id="34" name="Shape 31"/>
          <p:cNvSpPr/>
          <p:nvPr/>
        </p:nvSpPr>
        <p:spPr>
          <a:xfrm>
            <a:off x="9528048" y="4325112"/>
            <a:ext cx="576072" cy="0"/>
          </a:xfrm>
          <a:prstGeom prst="line">
            <a:avLst/>
          </a:prstGeom>
          <a:noFill/>
          <a:ln w="15875">
            <a:solidFill>
              <a:srgbClr val="7C3AED"/>
            </a:solidFill>
            <a:prstDash val="dash"/>
            <a:headEnd type="none"/>
            <a:tailEnd type="triangle"/>
          </a:ln>
        </p:spPr>
      </p:sp>
      <p:sp>
        <p:nvSpPr>
          <p:cNvPr id="35" name="Text 32"/>
          <p:cNvSpPr txBox="1"/>
          <p:nvPr/>
        </p:nvSpPr>
        <p:spPr>
          <a:xfrm>
            <a:off x="10012680" y="4754880"/>
            <a:ext cx="1691640" cy="228600"/>
          </a:xfrm>
          <a:prstGeom prst="rect">
            <a:avLst/>
          </a:prstGeom>
          <a:noFill/>
          <a:ln/>
        </p:spPr>
        <p:txBody>
          <a:bodyPr wrap="square" lIns="0" tIns="0" rIns="0" bIns="0" rtlCol="0" anchor="ctr"/>
          <a:lstStyle/>
          <a:p>
            <a:pPr marL="0" indent="0" algn="ctr">
              <a:buNone/>
            </a:pPr>
            <a:r>
              <a:rPr lang="en-US" sz="1000" dirty="0">
                <a:solidFill>
                  <a:srgbClr val="7C3AED"/>
                </a:solidFill>
              </a:rPr>
              <a:t>HTTPS, redacted</a:t>
            </a:r>
            <a:endParaRPr lang="en-US" sz="1000" dirty="0"/>
          </a:p>
        </p:txBody>
      </p:sp>
      <p:sp>
        <p:nvSpPr>
          <p:cNvPr id="36" name="Text 33"/>
          <p:cNvSpPr txBox="1"/>
          <p:nvPr/>
        </p:nvSpPr>
        <p:spPr>
          <a:xfrm>
            <a:off x="548640" y="5961888"/>
            <a:ext cx="11094415" cy="274320"/>
          </a:xfrm>
          <a:prstGeom prst="rect">
            <a:avLst/>
          </a:prstGeom>
          <a:noFill/>
          <a:ln/>
        </p:spPr>
        <p:txBody>
          <a:bodyPr wrap="square" lIns="0" tIns="0" rIns="0" bIns="0" rtlCol="0" anchor="t"/>
          <a:lstStyle/>
          <a:p>
            <a:pPr marL="0" indent="0" algn="ctr">
              <a:buNone/>
            </a:pPr>
            <a:r>
              <a:rPr lang="en-US" sz="1100" dirty="0">
                <a:solidFill>
                  <a:schemeClr val="accent1"/>
                </a:solidFill>
              </a:rPr>
              <a:t>Figure: </a:t>
            </a:r>
            <a:r>
              <a:rPr lang="en-US" sz="1100" dirty="0">
                <a:solidFill>
                  <a:schemeClr val="tx1"/>
                </a:solidFill>
              </a:rPr>
              <a:t>System Architecture UML Diagram (component view)</a:t>
            </a:r>
            <a:endParaRPr lang="en-US" sz="1100" dirty="0"/>
          </a:p>
        </p:txBody>
      </p:sp>
      <p:sp>
        <p:nvSpPr>
          <p:cNvPr id="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Data Flow Diagram</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Data Flow Diagram</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Logs enter read-only, every processing step writes to an auditable data store, and only redacted data can leave</a:t>
            </a:r>
            <a:endParaRPr lang="en-US" sz="1600" dirty="0"/>
          </a:p>
        </p:txBody>
      </p:sp>
      <p:sp>
        <p:nvSpPr>
          <p:cNvPr id="6" name="Shape 3"/>
          <p:cNvSpPr/>
          <p:nvPr/>
        </p:nvSpPr>
        <p:spPr>
          <a:xfrm>
            <a:off x="594360" y="1828800"/>
            <a:ext cx="1097280" cy="731520"/>
          </a:xfrm>
          <a:prstGeom prst="rect">
            <a:avLst/>
          </a:prstGeom>
          <a:solidFill>
            <a:srgbClr val="CBD5E1"/>
          </a:solidFill>
          <a:ln/>
        </p:spPr>
      </p:sp>
      <p:sp>
        <p:nvSpPr>
          <p:cNvPr id="7" name="Text 4"/>
          <p:cNvSpPr/>
          <p:nvPr/>
        </p:nvSpPr>
        <p:spPr>
          <a:xfrm>
            <a:off x="548640" y="1783080"/>
            <a:ext cx="1097280" cy="731520"/>
          </a:xfrm>
          <a:prstGeom prst="rect">
            <a:avLst/>
          </a:prstGeom>
          <a:solidFill>
            <a:srgbClr val="EEF1F5"/>
          </a:solidFill>
          <a:ln w="15875">
            <a:solidFill>
              <a:schemeClr val="tx2"/>
            </a:solidFill>
            <a:prstDash val="solid"/>
          </a:ln>
        </p:spPr>
        <p:txBody>
          <a:bodyPr wrap="square" lIns="38100" tIns="38100" rIns="38100" bIns="38100" rtlCol="0" anchor="ctr"/>
          <a:lstStyle/>
          <a:p>
            <a:pPr marL="0" indent="0" algn="ctr">
              <a:buNone/>
            </a:pPr>
            <a:r>
              <a:rPr lang="en-US" sz="1200" b="1" dirty="0">
                <a:solidFill>
                  <a:schemeClr val="tx1"/>
                </a:solidFill>
              </a:rPr>
              <a:t>Analyst</a:t>
            </a:r>
            <a:endParaRPr lang="en-US" sz="1200" dirty="0"/>
          </a:p>
        </p:txBody>
      </p:sp>
      <p:sp>
        <p:nvSpPr>
          <p:cNvPr id="8" name="Text 5"/>
          <p:cNvSpPr/>
          <p:nvPr/>
        </p:nvSpPr>
        <p:spPr>
          <a:xfrm>
            <a:off x="2240280" y="1737360"/>
            <a:ext cx="2103120" cy="822960"/>
          </a:xfrm>
          <a:prstGeom prst="roundRect">
            <a:avLst>
              <a:gd name="adj" fmla="val 13333"/>
            </a:avLst>
          </a:prstGeom>
          <a:solidFill>
            <a:srgbClr val="FFFFFF"/>
          </a:solidFill>
          <a:ln w="19050">
            <a:solidFill>
              <a:schemeClr val="accent1"/>
            </a:solidFill>
            <a:prstDash val="solid"/>
          </a:ln>
        </p:spPr>
        <p:txBody>
          <a:bodyPr wrap="square" lIns="38100" tIns="38100" rIns="38100" bIns="38100" rtlCol="0" anchor="ctr"/>
          <a:lstStyle/>
          <a:p>
            <a:pPr marL="0" indent="0" algn="ctr">
              <a:buNone/>
            </a:pPr>
            <a:r>
              <a:rPr lang="en-US" sz="1100" b="1" dirty="0">
                <a:solidFill>
                  <a:srgbClr val="0000DC"/>
                </a:solidFill>
              </a:rPr>
              <a:t>1.0</a:t>
            </a:r>
            <a:endParaRPr lang="en-US" sz="1100" dirty="0"/>
          </a:p>
          <a:p>
            <a:pPr marL="0" indent="0" algn="ctr">
              <a:buNone/>
            </a:pPr>
            <a:r>
              <a:rPr lang="en-US" sz="1200" b="1" dirty="0">
                <a:solidFill>
                  <a:schemeClr val="tx1"/>
                </a:solidFill>
              </a:rPr>
              <a:t>Collect &amp; hash evidence</a:t>
            </a:r>
            <a:endParaRPr lang="en-US" sz="1100" dirty="0"/>
          </a:p>
        </p:txBody>
      </p:sp>
      <p:sp>
        <p:nvSpPr>
          <p:cNvPr id="9" name="Text 6"/>
          <p:cNvSpPr/>
          <p:nvPr/>
        </p:nvSpPr>
        <p:spPr>
          <a:xfrm>
            <a:off x="4754880" y="1737360"/>
            <a:ext cx="2103120" cy="822960"/>
          </a:xfrm>
          <a:prstGeom prst="roundRect">
            <a:avLst>
              <a:gd name="adj" fmla="val 13333"/>
            </a:avLst>
          </a:prstGeom>
          <a:solidFill>
            <a:srgbClr val="FFFFFF"/>
          </a:solidFill>
          <a:ln w="19050">
            <a:solidFill>
              <a:schemeClr val="accent1"/>
            </a:solidFill>
            <a:prstDash val="solid"/>
          </a:ln>
        </p:spPr>
        <p:txBody>
          <a:bodyPr wrap="square" lIns="38100" tIns="38100" rIns="38100" bIns="38100" rtlCol="0" anchor="ctr"/>
          <a:lstStyle/>
          <a:p>
            <a:pPr marL="0" indent="0" algn="ctr">
              <a:buNone/>
            </a:pPr>
            <a:r>
              <a:rPr lang="en-US" sz="1100" b="1" dirty="0">
                <a:solidFill>
                  <a:srgbClr val="0000DC"/>
                </a:solidFill>
              </a:rPr>
              <a:t>2.0</a:t>
            </a:r>
            <a:endParaRPr lang="en-US" sz="1100" dirty="0"/>
          </a:p>
          <a:p>
            <a:pPr marL="0" indent="0" algn="ctr">
              <a:buNone/>
            </a:pPr>
            <a:r>
              <a:rPr lang="en-US" sz="1200" b="1" dirty="0">
                <a:solidFill>
                  <a:schemeClr val="tx1"/>
                </a:solidFill>
              </a:rPr>
              <a:t>Parse logs</a:t>
            </a:r>
            <a:endParaRPr lang="en-US" sz="1100" dirty="0"/>
          </a:p>
        </p:txBody>
      </p:sp>
      <p:sp>
        <p:nvSpPr>
          <p:cNvPr id="10" name="Text 7"/>
          <p:cNvSpPr/>
          <p:nvPr/>
        </p:nvSpPr>
        <p:spPr>
          <a:xfrm>
            <a:off x="7269480" y="1737360"/>
            <a:ext cx="2103120" cy="822960"/>
          </a:xfrm>
          <a:prstGeom prst="roundRect">
            <a:avLst>
              <a:gd name="adj" fmla="val 13333"/>
            </a:avLst>
          </a:prstGeom>
          <a:solidFill>
            <a:srgbClr val="FFFFFF"/>
          </a:solidFill>
          <a:ln w="19050">
            <a:solidFill>
              <a:schemeClr val="accent1"/>
            </a:solidFill>
            <a:prstDash val="solid"/>
          </a:ln>
        </p:spPr>
        <p:txBody>
          <a:bodyPr wrap="square" lIns="38100" tIns="38100" rIns="38100" bIns="38100" rtlCol="0" anchor="ctr"/>
          <a:lstStyle/>
          <a:p>
            <a:pPr marL="0" indent="0" algn="ctr">
              <a:buNone/>
            </a:pPr>
            <a:r>
              <a:rPr lang="en-US" sz="1100" b="1" dirty="0">
                <a:solidFill>
                  <a:srgbClr val="0000DC"/>
                </a:solidFill>
              </a:rPr>
              <a:t>3.0</a:t>
            </a:r>
            <a:endParaRPr lang="en-US" sz="1100" dirty="0"/>
          </a:p>
          <a:p>
            <a:pPr marL="0" indent="0" algn="ctr">
              <a:buNone/>
            </a:pPr>
            <a:r>
              <a:rPr lang="en-US" sz="1200" b="1" dirty="0">
                <a:solidFill>
                  <a:schemeClr val="tx1"/>
                </a:solidFill>
              </a:rPr>
              <a:t>Normalise time (UTC)</a:t>
            </a:r>
            <a:endParaRPr lang="en-US" sz="1100" dirty="0"/>
          </a:p>
        </p:txBody>
      </p:sp>
      <p:sp>
        <p:nvSpPr>
          <p:cNvPr id="11" name="Text 8"/>
          <p:cNvSpPr/>
          <p:nvPr/>
        </p:nvSpPr>
        <p:spPr>
          <a:xfrm>
            <a:off x="9646920" y="1737360"/>
            <a:ext cx="1993392" cy="822960"/>
          </a:xfrm>
          <a:prstGeom prst="roundRect">
            <a:avLst>
              <a:gd name="adj" fmla="val 13333"/>
            </a:avLst>
          </a:prstGeom>
          <a:solidFill>
            <a:srgbClr val="FFFFFF"/>
          </a:solidFill>
          <a:ln w="19050">
            <a:solidFill>
              <a:schemeClr val="accent1"/>
            </a:solidFill>
            <a:prstDash val="solid"/>
          </a:ln>
        </p:spPr>
        <p:txBody>
          <a:bodyPr wrap="square" lIns="38100" tIns="38100" rIns="38100" bIns="38100" rtlCol="0" anchor="ctr"/>
          <a:lstStyle/>
          <a:p>
            <a:pPr marL="0" indent="0" algn="ctr">
              <a:buNone/>
            </a:pPr>
            <a:r>
              <a:rPr lang="en-US" sz="1100" b="1" dirty="0">
                <a:solidFill>
                  <a:srgbClr val="0000DC"/>
                </a:solidFill>
              </a:rPr>
              <a:t>4.0</a:t>
            </a:r>
            <a:endParaRPr lang="en-US" sz="1100" dirty="0"/>
          </a:p>
          <a:p>
            <a:pPr marL="0" indent="0" algn="ctr">
              <a:buNone/>
            </a:pPr>
            <a:r>
              <a:rPr lang="en-US" sz="1200" b="1" dirty="0">
                <a:solidFill>
                  <a:schemeClr val="tx1"/>
                </a:solidFill>
              </a:rPr>
              <a:t>Detect &amp; map ATT&amp;CK</a:t>
            </a:r>
            <a:endParaRPr lang="en-US" sz="1100" dirty="0"/>
          </a:p>
        </p:txBody>
      </p:sp>
      <p:sp>
        <p:nvSpPr>
          <p:cNvPr id="12" name="Shape 9"/>
          <p:cNvSpPr/>
          <p:nvPr/>
        </p:nvSpPr>
        <p:spPr>
          <a:xfrm>
            <a:off x="548640" y="3063240"/>
            <a:ext cx="1600200" cy="457200"/>
          </a:xfrm>
          <a:prstGeom prst="rect">
            <a:avLst/>
          </a:prstGeom>
          <a:solidFill>
            <a:srgbClr val="E6F4F1"/>
          </a:solidFill>
          <a:ln/>
        </p:spPr>
      </p:sp>
      <p:sp>
        <p:nvSpPr>
          <p:cNvPr id="13" name="Shape 10"/>
          <p:cNvSpPr/>
          <p:nvPr/>
        </p:nvSpPr>
        <p:spPr>
          <a:xfrm>
            <a:off x="548640" y="3063240"/>
            <a:ext cx="1600200" cy="0"/>
          </a:xfrm>
          <a:prstGeom prst="line">
            <a:avLst/>
          </a:prstGeom>
          <a:noFill/>
          <a:ln w="15875">
            <a:solidFill>
              <a:schemeClr val="accent2"/>
            </a:solidFill>
            <a:prstDash val="solid"/>
          </a:ln>
        </p:spPr>
      </p:sp>
      <p:sp>
        <p:nvSpPr>
          <p:cNvPr id="14" name="Shape 11"/>
          <p:cNvSpPr/>
          <p:nvPr/>
        </p:nvSpPr>
        <p:spPr>
          <a:xfrm>
            <a:off x="548640" y="3520440"/>
            <a:ext cx="1600200" cy="0"/>
          </a:xfrm>
          <a:prstGeom prst="line">
            <a:avLst/>
          </a:prstGeom>
          <a:noFill/>
          <a:ln w="15875">
            <a:solidFill>
              <a:schemeClr val="accent2"/>
            </a:solidFill>
            <a:prstDash val="solid"/>
          </a:ln>
        </p:spPr>
      </p:sp>
      <p:sp>
        <p:nvSpPr>
          <p:cNvPr id="15" name="Shape 12"/>
          <p:cNvSpPr/>
          <p:nvPr/>
        </p:nvSpPr>
        <p:spPr>
          <a:xfrm>
            <a:off x="548640" y="3063240"/>
            <a:ext cx="0" cy="457200"/>
          </a:xfrm>
          <a:prstGeom prst="line">
            <a:avLst/>
          </a:prstGeom>
          <a:noFill/>
          <a:ln w="15875">
            <a:solidFill>
              <a:schemeClr val="accent2"/>
            </a:solidFill>
            <a:prstDash val="solid"/>
          </a:ln>
        </p:spPr>
      </p:sp>
      <p:sp>
        <p:nvSpPr>
          <p:cNvPr id="16" name="Shape 13"/>
          <p:cNvSpPr/>
          <p:nvPr/>
        </p:nvSpPr>
        <p:spPr>
          <a:xfrm>
            <a:off x="987552" y="3063240"/>
            <a:ext cx="0" cy="457200"/>
          </a:xfrm>
          <a:prstGeom prst="line">
            <a:avLst/>
          </a:prstGeom>
          <a:noFill/>
          <a:ln w="15875">
            <a:solidFill>
              <a:schemeClr val="accent2"/>
            </a:solidFill>
            <a:prstDash val="solid"/>
          </a:ln>
        </p:spPr>
      </p:sp>
      <p:sp>
        <p:nvSpPr>
          <p:cNvPr id="17" name="Text 14"/>
          <p:cNvSpPr txBox="1"/>
          <p:nvPr/>
        </p:nvSpPr>
        <p:spPr>
          <a:xfrm>
            <a:off x="548640" y="3063240"/>
            <a:ext cx="438912" cy="457200"/>
          </a:xfrm>
          <a:prstGeom prst="rect">
            <a:avLst/>
          </a:prstGeom>
          <a:noFill/>
          <a:ln/>
        </p:spPr>
        <p:txBody>
          <a:bodyPr wrap="square" lIns="0" tIns="0" rIns="0" bIns="0" rtlCol="0" anchor="ctr"/>
          <a:lstStyle/>
          <a:p>
            <a:pPr marL="0" indent="0" algn="ctr">
              <a:buNone/>
            </a:pPr>
            <a:r>
              <a:rPr lang="en-US" sz="1100" b="1" dirty="0">
                <a:solidFill>
                  <a:schemeClr val="accent2"/>
                </a:solidFill>
              </a:rPr>
              <a:t>D2</a:t>
            </a:r>
            <a:endParaRPr lang="en-US" sz="1100" dirty="0"/>
          </a:p>
        </p:txBody>
      </p:sp>
      <p:sp>
        <p:nvSpPr>
          <p:cNvPr id="18" name="Text 15"/>
          <p:cNvSpPr txBox="1"/>
          <p:nvPr/>
        </p:nvSpPr>
        <p:spPr>
          <a:xfrm>
            <a:off x="1051560" y="3063240"/>
            <a:ext cx="1051560" cy="457200"/>
          </a:xfrm>
          <a:prstGeom prst="rect">
            <a:avLst/>
          </a:prstGeom>
          <a:noFill/>
          <a:ln/>
        </p:spPr>
        <p:txBody>
          <a:bodyPr wrap="square" lIns="0" tIns="0" rIns="0" bIns="0" rtlCol="0" anchor="ctr"/>
          <a:lstStyle/>
          <a:p>
            <a:pPr marL="0" indent="0" algn="l">
              <a:buNone/>
            </a:pPr>
            <a:r>
              <a:rPr lang="en-US" sz="1100" dirty="0">
                <a:solidFill>
                  <a:schemeClr val="tx1"/>
                </a:solidFill>
              </a:rPr>
              <a:t>Custody log</a:t>
            </a:r>
            <a:endParaRPr lang="en-US" sz="1100" dirty="0"/>
          </a:p>
        </p:txBody>
      </p:sp>
      <p:sp>
        <p:nvSpPr>
          <p:cNvPr id="19" name="Shape 16"/>
          <p:cNvSpPr/>
          <p:nvPr/>
        </p:nvSpPr>
        <p:spPr>
          <a:xfrm>
            <a:off x="2240280" y="3063240"/>
            <a:ext cx="2103120" cy="457200"/>
          </a:xfrm>
          <a:prstGeom prst="rect">
            <a:avLst/>
          </a:prstGeom>
          <a:solidFill>
            <a:srgbClr val="E6F4F1"/>
          </a:solidFill>
          <a:ln/>
        </p:spPr>
      </p:sp>
      <p:sp>
        <p:nvSpPr>
          <p:cNvPr id="20" name="Shape 17"/>
          <p:cNvSpPr/>
          <p:nvPr/>
        </p:nvSpPr>
        <p:spPr>
          <a:xfrm>
            <a:off x="2240280" y="3063240"/>
            <a:ext cx="2103120" cy="0"/>
          </a:xfrm>
          <a:prstGeom prst="line">
            <a:avLst/>
          </a:prstGeom>
          <a:noFill/>
          <a:ln w="15875">
            <a:solidFill>
              <a:schemeClr val="accent2"/>
            </a:solidFill>
            <a:prstDash val="solid"/>
          </a:ln>
        </p:spPr>
      </p:sp>
      <p:sp>
        <p:nvSpPr>
          <p:cNvPr id="21" name="Shape 18"/>
          <p:cNvSpPr/>
          <p:nvPr/>
        </p:nvSpPr>
        <p:spPr>
          <a:xfrm>
            <a:off x="2240280" y="3520440"/>
            <a:ext cx="2103120" cy="0"/>
          </a:xfrm>
          <a:prstGeom prst="line">
            <a:avLst/>
          </a:prstGeom>
          <a:noFill/>
          <a:ln w="15875">
            <a:solidFill>
              <a:schemeClr val="accent2"/>
            </a:solidFill>
            <a:prstDash val="solid"/>
          </a:ln>
        </p:spPr>
      </p:sp>
      <p:sp>
        <p:nvSpPr>
          <p:cNvPr id="22" name="Shape 19"/>
          <p:cNvSpPr/>
          <p:nvPr/>
        </p:nvSpPr>
        <p:spPr>
          <a:xfrm>
            <a:off x="2240280" y="3063240"/>
            <a:ext cx="0" cy="457200"/>
          </a:xfrm>
          <a:prstGeom prst="line">
            <a:avLst/>
          </a:prstGeom>
          <a:noFill/>
          <a:ln w="15875">
            <a:solidFill>
              <a:schemeClr val="accent2"/>
            </a:solidFill>
            <a:prstDash val="solid"/>
          </a:ln>
        </p:spPr>
      </p:sp>
      <p:sp>
        <p:nvSpPr>
          <p:cNvPr id="23" name="Shape 20"/>
          <p:cNvSpPr/>
          <p:nvPr/>
        </p:nvSpPr>
        <p:spPr>
          <a:xfrm>
            <a:off x="2679192" y="3063240"/>
            <a:ext cx="0" cy="457200"/>
          </a:xfrm>
          <a:prstGeom prst="line">
            <a:avLst/>
          </a:prstGeom>
          <a:noFill/>
          <a:ln w="15875">
            <a:solidFill>
              <a:schemeClr val="accent2"/>
            </a:solidFill>
            <a:prstDash val="solid"/>
          </a:ln>
        </p:spPr>
      </p:sp>
      <p:sp>
        <p:nvSpPr>
          <p:cNvPr id="24" name="Text 21"/>
          <p:cNvSpPr txBox="1"/>
          <p:nvPr/>
        </p:nvSpPr>
        <p:spPr>
          <a:xfrm>
            <a:off x="2240280" y="3063240"/>
            <a:ext cx="438912" cy="457200"/>
          </a:xfrm>
          <a:prstGeom prst="rect">
            <a:avLst/>
          </a:prstGeom>
          <a:noFill/>
          <a:ln/>
        </p:spPr>
        <p:txBody>
          <a:bodyPr wrap="square" lIns="0" tIns="0" rIns="0" bIns="0" rtlCol="0" anchor="ctr"/>
          <a:lstStyle/>
          <a:p>
            <a:pPr marL="0" indent="0" algn="ctr">
              <a:buNone/>
            </a:pPr>
            <a:r>
              <a:rPr lang="en-US" sz="1100" b="1" dirty="0">
                <a:solidFill>
                  <a:schemeClr val="accent2"/>
                </a:solidFill>
              </a:rPr>
              <a:t>D1</a:t>
            </a:r>
            <a:endParaRPr lang="en-US" sz="1100" dirty="0"/>
          </a:p>
        </p:txBody>
      </p:sp>
      <p:sp>
        <p:nvSpPr>
          <p:cNvPr id="25" name="Text 22"/>
          <p:cNvSpPr txBox="1"/>
          <p:nvPr/>
        </p:nvSpPr>
        <p:spPr>
          <a:xfrm>
            <a:off x="2743200" y="3063240"/>
            <a:ext cx="1554480" cy="457200"/>
          </a:xfrm>
          <a:prstGeom prst="rect">
            <a:avLst/>
          </a:prstGeom>
          <a:noFill/>
          <a:ln/>
        </p:spPr>
        <p:txBody>
          <a:bodyPr wrap="square" lIns="0" tIns="0" rIns="0" bIns="0" rtlCol="0" anchor="ctr"/>
          <a:lstStyle/>
          <a:p>
            <a:pPr marL="0" indent="0" algn="l">
              <a:buNone/>
            </a:pPr>
            <a:r>
              <a:rPr lang="en-US" sz="1100" dirty="0">
                <a:solidFill>
                  <a:schemeClr val="tx1"/>
                </a:solidFill>
              </a:rPr>
              <a:t>Evidence store (read-only)</a:t>
            </a:r>
            <a:endParaRPr lang="en-US" sz="1100" dirty="0"/>
          </a:p>
        </p:txBody>
      </p:sp>
      <p:sp>
        <p:nvSpPr>
          <p:cNvPr id="26" name="Shape 23"/>
          <p:cNvSpPr/>
          <p:nvPr/>
        </p:nvSpPr>
        <p:spPr>
          <a:xfrm>
            <a:off x="4754880" y="3063240"/>
            <a:ext cx="6885432" cy="457200"/>
          </a:xfrm>
          <a:prstGeom prst="rect">
            <a:avLst/>
          </a:prstGeom>
          <a:solidFill>
            <a:srgbClr val="E6F4F1"/>
          </a:solidFill>
          <a:ln/>
        </p:spPr>
      </p:sp>
      <p:sp>
        <p:nvSpPr>
          <p:cNvPr id="27" name="Shape 24"/>
          <p:cNvSpPr/>
          <p:nvPr/>
        </p:nvSpPr>
        <p:spPr>
          <a:xfrm>
            <a:off x="4754880" y="3063240"/>
            <a:ext cx="6885432" cy="0"/>
          </a:xfrm>
          <a:prstGeom prst="line">
            <a:avLst/>
          </a:prstGeom>
          <a:noFill/>
          <a:ln w="15875">
            <a:solidFill>
              <a:schemeClr val="accent2"/>
            </a:solidFill>
            <a:prstDash val="solid"/>
          </a:ln>
        </p:spPr>
      </p:sp>
      <p:sp>
        <p:nvSpPr>
          <p:cNvPr id="28" name="Shape 25"/>
          <p:cNvSpPr/>
          <p:nvPr/>
        </p:nvSpPr>
        <p:spPr>
          <a:xfrm>
            <a:off x="4754880" y="3520440"/>
            <a:ext cx="6885432" cy="0"/>
          </a:xfrm>
          <a:prstGeom prst="line">
            <a:avLst/>
          </a:prstGeom>
          <a:noFill/>
          <a:ln w="15875">
            <a:solidFill>
              <a:schemeClr val="accent2"/>
            </a:solidFill>
            <a:prstDash val="solid"/>
          </a:ln>
        </p:spPr>
      </p:sp>
      <p:sp>
        <p:nvSpPr>
          <p:cNvPr id="29" name="Shape 26"/>
          <p:cNvSpPr/>
          <p:nvPr/>
        </p:nvSpPr>
        <p:spPr>
          <a:xfrm>
            <a:off x="4754880" y="3063240"/>
            <a:ext cx="0" cy="457200"/>
          </a:xfrm>
          <a:prstGeom prst="line">
            <a:avLst/>
          </a:prstGeom>
          <a:noFill/>
          <a:ln w="15875">
            <a:solidFill>
              <a:schemeClr val="accent2"/>
            </a:solidFill>
            <a:prstDash val="solid"/>
          </a:ln>
        </p:spPr>
      </p:sp>
      <p:sp>
        <p:nvSpPr>
          <p:cNvPr id="30" name="Shape 27"/>
          <p:cNvSpPr/>
          <p:nvPr/>
        </p:nvSpPr>
        <p:spPr>
          <a:xfrm>
            <a:off x="5193792" y="3063240"/>
            <a:ext cx="0" cy="457200"/>
          </a:xfrm>
          <a:prstGeom prst="line">
            <a:avLst/>
          </a:prstGeom>
          <a:noFill/>
          <a:ln w="15875">
            <a:solidFill>
              <a:schemeClr val="accent2"/>
            </a:solidFill>
            <a:prstDash val="solid"/>
          </a:ln>
        </p:spPr>
      </p:sp>
      <p:sp>
        <p:nvSpPr>
          <p:cNvPr id="31" name="Text 28"/>
          <p:cNvSpPr txBox="1"/>
          <p:nvPr/>
        </p:nvSpPr>
        <p:spPr>
          <a:xfrm>
            <a:off x="4754880" y="3063240"/>
            <a:ext cx="438912" cy="457200"/>
          </a:xfrm>
          <a:prstGeom prst="rect">
            <a:avLst/>
          </a:prstGeom>
          <a:noFill/>
          <a:ln/>
        </p:spPr>
        <p:txBody>
          <a:bodyPr wrap="square" lIns="0" tIns="0" rIns="0" bIns="0" rtlCol="0" anchor="ctr"/>
          <a:lstStyle/>
          <a:p>
            <a:pPr marL="0" indent="0" algn="ctr">
              <a:buNone/>
            </a:pPr>
            <a:r>
              <a:rPr lang="en-US" sz="1100" b="1" dirty="0">
                <a:solidFill>
                  <a:schemeClr val="accent2"/>
                </a:solidFill>
              </a:rPr>
              <a:t>D3</a:t>
            </a:r>
            <a:endParaRPr lang="en-US" sz="1100" dirty="0"/>
          </a:p>
        </p:txBody>
      </p:sp>
      <p:sp>
        <p:nvSpPr>
          <p:cNvPr id="32" name="Text 29"/>
          <p:cNvSpPr txBox="1"/>
          <p:nvPr/>
        </p:nvSpPr>
        <p:spPr>
          <a:xfrm>
            <a:off x="5257800" y="3063240"/>
            <a:ext cx="6336792" cy="457200"/>
          </a:xfrm>
          <a:prstGeom prst="rect">
            <a:avLst/>
          </a:prstGeom>
          <a:noFill/>
          <a:ln/>
        </p:spPr>
        <p:txBody>
          <a:bodyPr wrap="square" lIns="0" tIns="0" rIns="0" bIns="0" rtlCol="0" anchor="ctr"/>
          <a:lstStyle/>
          <a:p>
            <a:pPr marL="0" indent="0" algn="l">
              <a:buNone/>
            </a:pPr>
            <a:r>
              <a:rPr lang="en-US" sz="1100" dirty="0">
                <a:solidFill>
                  <a:schemeClr val="tx1"/>
                </a:solidFill>
              </a:rPr>
              <a:t>Timeline DB (SQLite): events, parsing gaps, detections</a:t>
            </a:r>
            <a:endParaRPr lang="en-US" sz="1100" dirty="0"/>
          </a:p>
        </p:txBody>
      </p:sp>
      <p:sp>
        <p:nvSpPr>
          <p:cNvPr id="33" name="Shape 30"/>
          <p:cNvSpPr/>
          <p:nvPr/>
        </p:nvSpPr>
        <p:spPr>
          <a:xfrm>
            <a:off x="594360" y="4206240"/>
            <a:ext cx="1097280" cy="822960"/>
          </a:xfrm>
          <a:prstGeom prst="rect">
            <a:avLst/>
          </a:prstGeom>
          <a:solidFill>
            <a:srgbClr val="CBD5E1"/>
          </a:solidFill>
          <a:ln/>
        </p:spPr>
      </p:sp>
      <p:sp>
        <p:nvSpPr>
          <p:cNvPr id="34" name="Text 31"/>
          <p:cNvSpPr/>
          <p:nvPr/>
        </p:nvSpPr>
        <p:spPr>
          <a:xfrm>
            <a:off x="548640" y="4160520"/>
            <a:ext cx="1097280" cy="822960"/>
          </a:xfrm>
          <a:prstGeom prst="rect">
            <a:avLst/>
          </a:prstGeom>
          <a:solidFill>
            <a:srgbClr val="EEF1F5"/>
          </a:solidFill>
          <a:ln w="15875">
            <a:solidFill>
              <a:schemeClr val="tx2"/>
            </a:solidFill>
            <a:prstDash val="solid"/>
          </a:ln>
        </p:spPr>
        <p:txBody>
          <a:bodyPr wrap="square" lIns="38100" tIns="38100" rIns="38100" bIns="38100" rtlCol="0" anchor="ctr"/>
          <a:lstStyle/>
          <a:p>
            <a:pPr marL="0" indent="0" algn="ctr">
              <a:buNone/>
            </a:pPr>
            <a:r>
              <a:rPr lang="en-US" sz="1200" b="1" dirty="0">
                <a:solidFill>
                  <a:schemeClr val="tx1"/>
                </a:solidFill>
              </a:rPr>
              <a:t>Analyst / reviewers</a:t>
            </a:r>
            <a:endParaRPr lang="en-US" sz="1200" dirty="0"/>
          </a:p>
        </p:txBody>
      </p:sp>
      <p:sp>
        <p:nvSpPr>
          <p:cNvPr id="35" name="Text 32"/>
          <p:cNvSpPr/>
          <p:nvPr/>
        </p:nvSpPr>
        <p:spPr>
          <a:xfrm>
            <a:off x="2240280" y="4160520"/>
            <a:ext cx="2103120" cy="822960"/>
          </a:xfrm>
          <a:prstGeom prst="roundRect">
            <a:avLst>
              <a:gd name="adj" fmla="val 13333"/>
            </a:avLst>
          </a:prstGeom>
          <a:solidFill>
            <a:srgbClr val="FFFFFF"/>
          </a:solidFill>
          <a:ln w="19050">
            <a:solidFill>
              <a:schemeClr val="accent1"/>
            </a:solidFill>
            <a:prstDash val="solid"/>
          </a:ln>
        </p:spPr>
        <p:txBody>
          <a:bodyPr wrap="square" lIns="38100" tIns="38100" rIns="38100" bIns="38100" rtlCol="0" anchor="ctr"/>
          <a:lstStyle/>
          <a:p>
            <a:pPr marL="0" indent="0" algn="ctr">
              <a:buNone/>
            </a:pPr>
            <a:r>
              <a:rPr lang="en-US" sz="1100" b="1" dirty="0">
                <a:solidFill>
                  <a:srgbClr val="0000DC"/>
                </a:solidFill>
              </a:rPr>
              <a:t>6.0</a:t>
            </a:r>
            <a:endParaRPr lang="en-US" sz="1100" dirty="0"/>
          </a:p>
          <a:p>
            <a:pPr marL="0" indent="0" algn="ctr">
              <a:buNone/>
            </a:pPr>
            <a:r>
              <a:rPr lang="en-US" sz="1200" b="1" dirty="0">
                <a:solidFill>
                  <a:schemeClr val="tx1"/>
                </a:solidFill>
              </a:rPr>
              <a:t>Generate report</a:t>
            </a:r>
            <a:endParaRPr lang="en-US" sz="1100" dirty="0"/>
          </a:p>
        </p:txBody>
      </p:sp>
      <p:sp>
        <p:nvSpPr>
          <p:cNvPr id="36" name="Text 33"/>
          <p:cNvSpPr/>
          <p:nvPr/>
        </p:nvSpPr>
        <p:spPr>
          <a:xfrm>
            <a:off x="4754880" y="4160520"/>
            <a:ext cx="2103120" cy="822960"/>
          </a:xfrm>
          <a:prstGeom prst="roundRect">
            <a:avLst>
              <a:gd name="adj" fmla="val 13333"/>
            </a:avLst>
          </a:prstGeom>
          <a:solidFill>
            <a:srgbClr val="FFFFFF"/>
          </a:solidFill>
          <a:ln w="19050">
            <a:solidFill>
              <a:schemeClr val="accent1"/>
            </a:solidFill>
            <a:prstDash val="solid"/>
          </a:ln>
        </p:spPr>
        <p:txBody>
          <a:bodyPr wrap="square" lIns="38100" tIns="38100" rIns="38100" bIns="38100" rtlCol="0" anchor="ctr"/>
          <a:lstStyle/>
          <a:p>
            <a:pPr marL="0" indent="0" algn="ctr">
              <a:buNone/>
            </a:pPr>
            <a:r>
              <a:rPr lang="en-US" sz="1100" b="1" dirty="0">
                <a:solidFill>
                  <a:srgbClr val="0000DC"/>
                </a:solidFill>
              </a:rPr>
              <a:t>5.0</a:t>
            </a:r>
            <a:endParaRPr lang="en-US" sz="1100" dirty="0"/>
          </a:p>
          <a:p>
            <a:pPr marL="0" indent="0" algn="ctr">
              <a:buNone/>
            </a:pPr>
            <a:r>
              <a:rPr lang="en-US" sz="1200" b="1" dirty="0">
                <a:solidFill>
                  <a:schemeClr val="tx1"/>
                </a:solidFill>
              </a:rPr>
              <a:t>Search &amp; visualise</a:t>
            </a:r>
            <a:endParaRPr lang="en-US" sz="1100" dirty="0"/>
          </a:p>
        </p:txBody>
      </p:sp>
      <p:sp>
        <p:nvSpPr>
          <p:cNvPr id="37" name="Text 34"/>
          <p:cNvSpPr/>
          <p:nvPr/>
        </p:nvSpPr>
        <p:spPr>
          <a:xfrm>
            <a:off x="7269480" y="4160520"/>
            <a:ext cx="2103120" cy="822960"/>
          </a:xfrm>
          <a:prstGeom prst="roundRect">
            <a:avLst>
              <a:gd name="adj" fmla="val 13333"/>
            </a:avLst>
          </a:prstGeom>
          <a:solidFill>
            <a:srgbClr val="FFFFFF"/>
          </a:solidFill>
          <a:ln w="19050">
            <a:solidFill>
              <a:srgbClr val="7C3AED"/>
            </a:solidFill>
            <a:prstDash val="dash"/>
          </a:ln>
        </p:spPr>
        <p:txBody>
          <a:bodyPr wrap="square" lIns="38100" tIns="38100" rIns="38100" bIns="38100" rtlCol="0" anchor="ctr"/>
          <a:lstStyle/>
          <a:p>
            <a:pPr marL="0" indent="0" algn="ctr">
              <a:buNone/>
            </a:pPr>
            <a:r>
              <a:rPr lang="en-US" sz="1100" b="1" dirty="0">
                <a:solidFill>
                  <a:srgbClr val="7C3AED"/>
                </a:solidFill>
              </a:rPr>
              <a:t>7.0</a:t>
            </a:r>
            <a:endParaRPr lang="en-US" sz="1100" dirty="0"/>
          </a:p>
          <a:p>
            <a:pPr marL="0" indent="0" algn="ctr">
              <a:buNone/>
            </a:pPr>
            <a:r>
              <a:rPr lang="en-US" sz="1200" b="1" dirty="0">
                <a:solidFill>
                  <a:schemeClr val="tx1"/>
                </a:solidFill>
              </a:rPr>
              <a:t>AI assist (optional)</a:t>
            </a:r>
            <a:endParaRPr lang="en-US" sz="1100" dirty="0"/>
          </a:p>
        </p:txBody>
      </p:sp>
      <p:sp>
        <p:nvSpPr>
          <p:cNvPr id="38" name="Shape 35"/>
          <p:cNvSpPr/>
          <p:nvPr/>
        </p:nvSpPr>
        <p:spPr>
          <a:xfrm>
            <a:off x="9875520" y="4251960"/>
            <a:ext cx="1810512" cy="731520"/>
          </a:xfrm>
          <a:prstGeom prst="rect">
            <a:avLst/>
          </a:prstGeom>
          <a:solidFill>
            <a:srgbClr val="CBD5E1"/>
          </a:solidFill>
          <a:ln/>
        </p:spPr>
      </p:sp>
      <p:sp>
        <p:nvSpPr>
          <p:cNvPr id="39" name="Text 36"/>
          <p:cNvSpPr/>
          <p:nvPr/>
        </p:nvSpPr>
        <p:spPr>
          <a:xfrm>
            <a:off x="9829800" y="4206240"/>
            <a:ext cx="1810512" cy="731520"/>
          </a:xfrm>
          <a:prstGeom prst="rect">
            <a:avLst/>
          </a:prstGeom>
          <a:solidFill>
            <a:srgbClr val="EEF1F5"/>
          </a:solidFill>
          <a:ln w="15875">
            <a:solidFill>
              <a:schemeClr val="tx2"/>
            </a:solidFill>
            <a:prstDash val="dash"/>
          </a:ln>
        </p:spPr>
        <p:txBody>
          <a:bodyPr wrap="square" lIns="38100" tIns="38100" rIns="38100" bIns="38100" rtlCol="0" anchor="ctr"/>
          <a:lstStyle/>
          <a:p>
            <a:pPr marL="0" indent="0" algn="ctr">
              <a:buNone/>
            </a:pPr>
            <a:r>
              <a:rPr lang="en-US" sz="1200" b="1" dirty="0">
                <a:solidFill>
                  <a:schemeClr val="tx1"/>
                </a:solidFill>
              </a:rPr>
              <a:t>Gemini API</a:t>
            </a:r>
            <a:endParaRPr lang="en-US" sz="1200" dirty="0"/>
          </a:p>
        </p:txBody>
      </p:sp>
      <p:sp>
        <p:nvSpPr>
          <p:cNvPr id="40" name="Shape 37"/>
          <p:cNvSpPr/>
          <p:nvPr/>
        </p:nvSpPr>
        <p:spPr>
          <a:xfrm>
            <a:off x="1645920" y="2240280"/>
            <a:ext cx="594360" cy="0"/>
          </a:xfrm>
          <a:prstGeom prst="line">
            <a:avLst/>
          </a:prstGeom>
          <a:noFill/>
          <a:ln w="15875">
            <a:solidFill>
              <a:schemeClr val="tx2"/>
            </a:solidFill>
            <a:prstDash val="solid"/>
            <a:headEnd type="none"/>
            <a:tailEnd type="triangle"/>
          </a:ln>
        </p:spPr>
      </p:sp>
      <p:sp>
        <p:nvSpPr>
          <p:cNvPr id="41" name="Text 38"/>
          <p:cNvSpPr txBox="1"/>
          <p:nvPr/>
        </p:nvSpPr>
        <p:spPr>
          <a:xfrm>
            <a:off x="1645920" y="1783080"/>
            <a:ext cx="594360" cy="420624"/>
          </a:xfrm>
          <a:prstGeom prst="rect">
            <a:avLst/>
          </a:prstGeom>
          <a:noFill/>
          <a:ln/>
        </p:spPr>
        <p:txBody>
          <a:bodyPr wrap="square" lIns="0" tIns="0" rIns="0" bIns="0" rtlCol="0" anchor="ctr"/>
          <a:lstStyle/>
          <a:p>
            <a:pPr marL="0" indent="0" algn="ctr">
              <a:buNone/>
            </a:pPr>
            <a:r>
              <a:rPr lang="en-US" sz="900" dirty="0">
                <a:solidFill>
                  <a:schemeClr val="tx2"/>
                </a:solidFill>
              </a:rPr>
              <a:t>logs,</a:t>
            </a:r>
            <a:endParaRPr lang="en-US" sz="900" dirty="0"/>
          </a:p>
          <a:p>
            <a:pPr marL="0" indent="0" algn="ctr">
              <a:buNone/>
            </a:pPr>
            <a:r>
              <a:rPr lang="en-US" sz="900" dirty="0">
                <a:solidFill>
                  <a:schemeClr val="tx2"/>
                </a:solidFill>
              </a:rPr>
              <a:t>settings</a:t>
            </a:r>
            <a:endParaRPr lang="en-US" sz="900" dirty="0"/>
          </a:p>
        </p:txBody>
      </p:sp>
      <p:sp>
        <p:nvSpPr>
          <p:cNvPr id="42" name="Shape 39"/>
          <p:cNvSpPr/>
          <p:nvPr/>
        </p:nvSpPr>
        <p:spPr>
          <a:xfrm>
            <a:off x="4343400" y="2240280"/>
            <a:ext cx="411480" cy="0"/>
          </a:xfrm>
          <a:prstGeom prst="line">
            <a:avLst/>
          </a:prstGeom>
          <a:noFill/>
          <a:ln w="15875">
            <a:solidFill>
              <a:schemeClr val="tx2"/>
            </a:solidFill>
            <a:prstDash val="solid"/>
            <a:headEnd type="none"/>
            <a:tailEnd type="triangle"/>
          </a:ln>
        </p:spPr>
      </p:sp>
      <p:sp>
        <p:nvSpPr>
          <p:cNvPr id="43" name="Text 40"/>
          <p:cNvSpPr txBox="1"/>
          <p:nvPr/>
        </p:nvSpPr>
        <p:spPr>
          <a:xfrm>
            <a:off x="4343400" y="1783080"/>
            <a:ext cx="411480" cy="420624"/>
          </a:xfrm>
          <a:prstGeom prst="rect">
            <a:avLst/>
          </a:prstGeom>
          <a:noFill/>
          <a:ln/>
        </p:spPr>
        <p:txBody>
          <a:bodyPr wrap="square" lIns="0" tIns="0" rIns="0" bIns="0" rtlCol="0" anchor="ctr"/>
          <a:lstStyle/>
          <a:p>
            <a:pPr marL="0" indent="0" algn="ctr">
              <a:buNone/>
            </a:pPr>
            <a:r>
              <a:rPr lang="en-US" sz="900" dirty="0">
                <a:solidFill>
                  <a:schemeClr val="tx2"/>
                </a:solidFill>
              </a:rPr>
              <a:t>file +</a:t>
            </a:r>
            <a:endParaRPr lang="en-US" sz="900" dirty="0"/>
          </a:p>
          <a:p>
            <a:pPr marL="0" indent="0" algn="ctr">
              <a:buNone/>
            </a:pPr>
            <a:r>
              <a:rPr lang="en-US" sz="900" dirty="0">
                <a:solidFill>
                  <a:schemeClr val="tx2"/>
                </a:solidFill>
              </a:rPr>
              <a:t>hash</a:t>
            </a:r>
            <a:endParaRPr lang="en-US" sz="900" dirty="0"/>
          </a:p>
        </p:txBody>
      </p:sp>
      <p:sp>
        <p:nvSpPr>
          <p:cNvPr id="44" name="Shape 41"/>
          <p:cNvSpPr/>
          <p:nvPr/>
        </p:nvSpPr>
        <p:spPr>
          <a:xfrm>
            <a:off x="6858000" y="2240280"/>
            <a:ext cx="411480" cy="0"/>
          </a:xfrm>
          <a:prstGeom prst="line">
            <a:avLst/>
          </a:prstGeom>
          <a:noFill/>
          <a:ln w="15875">
            <a:solidFill>
              <a:schemeClr val="tx2"/>
            </a:solidFill>
            <a:prstDash val="solid"/>
            <a:headEnd type="none"/>
            <a:tailEnd type="triangle"/>
          </a:ln>
        </p:spPr>
      </p:sp>
      <p:sp>
        <p:nvSpPr>
          <p:cNvPr id="45" name="Text 42"/>
          <p:cNvSpPr txBox="1"/>
          <p:nvPr/>
        </p:nvSpPr>
        <p:spPr>
          <a:xfrm>
            <a:off x="6858000" y="1783080"/>
            <a:ext cx="411480" cy="420624"/>
          </a:xfrm>
          <a:prstGeom prst="rect">
            <a:avLst/>
          </a:prstGeom>
          <a:noFill/>
          <a:ln/>
        </p:spPr>
        <p:txBody>
          <a:bodyPr wrap="square" lIns="0" tIns="0" rIns="0" bIns="0" rtlCol="0" anchor="ctr"/>
          <a:lstStyle/>
          <a:p>
            <a:pPr marL="0" indent="0" algn="ctr">
              <a:buNone/>
            </a:pPr>
            <a:r>
              <a:rPr lang="en-US" sz="900" dirty="0">
                <a:solidFill>
                  <a:schemeClr val="tx2"/>
                </a:solidFill>
              </a:rPr>
              <a:t>parsed</a:t>
            </a:r>
            <a:endParaRPr lang="en-US" sz="900" dirty="0"/>
          </a:p>
          <a:p>
            <a:pPr marL="0" indent="0" algn="ctr">
              <a:buNone/>
            </a:pPr>
            <a:r>
              <a:rPr lang="en-US" sz="900" dirty="0">
                <a:solidFill>
                  <a:schemeClr val="tx2"/>
                </a:solidFill>
              </a:rPr>
              <a:t>lines</a:t>
            </a:r>
            <a:endParaRPr lang="en-US" sz="900" dirty="0"/>
          </a:p>
        </p:txBody>
      </p:sp>
      <p:sp>
        <p:nvSpPr>
          <p:cNvPr id="46" name="Shape 43"/>
          <p:cNvSpPr/>
          <p:nvPr/>
        </p:nvSpPr>
        <p:spPr>
          <a:xfrm>
            <a:off x="3291840" y="2560320"/>
            <a:ext cx="0" cy="502920"/>
          </a:xfrm>
          <a:prstGeom prst="line">
            <a:avLst/>
          </a:prstGeom>
          <a:noFill/>
          <a:ln w="15875">
            <a:solidFill>
              <a:schemeClr val="tx2"/>
            </a:solidFill>
            <a:prstDash val="solid"/>
            <a:headEnd type="none"/>
            <a:tailEnd type="triangle"/>
          </a:ln>
        </p:spPr>
      </p:sp>
      <p:sp>
        <p:nvSpPr>
          <p:cNvPr id="47" name="Text 44"/>
          <p:cNvSpPr txBox="1"/>
          <p:nvPr/>
        </p:nvSpPr>
        <p:spPr>
          <a:xfrm>
            <a:off x="3346704" y="2651760"/>
            <a:ext cx="1005840" cy="274320"/>
          </a:xfrm>
          <a:prstGeom prst="rect">
            <a:avLst/>
          </a:prstGeom>
          <a:noFill/>
          <a:ln/>
        </p:spPr>
        <p:txBody>
          <a:bodyPr wrap="square" lIns="0" tIns="0" rIns="0" bIns="0" rtlCol="0" anchor="ctr"/>
          <a:lstStyle/>
          <a:p>
            <a:pPr marL="0" indent="0" algn="l">
              <a:buNone/>
            </a:pPr>
            <a:r>
              <a:rPr lang="en-US" sz="900" dirty="0">
                <a:solidFill>
                  <a:schemeClr val="tx2"/>
                </a:solidFill>
              </a:rPr>
              <a:t>copy + SHA-256</a:t>
            </a:r>
            <a:endParaRPr lang="en-US" sz="900" dirty="0"/>
          </a:p>
        </p:txBody>
      </p:sp>
      <p:sp>
        <p:nvSpPr>
          <p:cNvPr id="48" name="Shape 45"/>
          <p:cNvSpPr/>
          <p:nvPr/>
        </p:nvSpPr>
        <p:spPr>
          <a:xfrm flipH="1">
            <a:off x="1737360" y="2560320"/>
            <a:ext cx="640080" cy="502920"/>
          </a:xfrm>
          <a:prstGeom prst="line">
            <a:avLst/>
          </a:prstGeom>
          <a:noFill/>
          <a:ln w="15875">
            <a:solidFill>
              <a:schemeClr val="tx2"/>
            </a:solidFill>
            <a:prstDash val="solid"/>
            <a:headEnd type="none"/>
            <a:tailEnd type="triangle"/>
          </a:ln>
        </p:spPr>
      </p:sp>
      <p:sp>
        <p:nvSpPr>
          <p:cNvPr id="49" name="Text 46"/>
          <p:cNvSpPr txBox="1"/>
          <p:nvPr/>
        </p:nvSpPr>
        <p:spPr>
          <a:xfrm>
            <a:off x="594360" y="2633472"/>
            <a:ext cx="1143000" cy="274320"/>
          </a:xfrm>
          <a:prstGeom prst="rect">
            <a:avLst/>
          </a:prstGeom>
          <a:noFill/>
          <a:ln/>
        </p:spPr>
        <p:txBody>
          <a:bodyPr wrap="square" lIns="0" tIns="0" rIns="0" bIns="0" rtlCol="0" anchor="ctr"/>
          <a:lstStyle/>
          <a:p>
            <a:pPr marL="0" indent="0" algn="r">
              <a:buNone/>
            </a:pPr>
            <a:r>
              <a:rPr lang="en-US" sz="900" dirty="0">
                <a:solidFill>
                  <a:schemeClr val="tx2"/>
                </a:solidFill>
              </a:rPr>
              <a:t>custody entry</a:t>
            </a:r>
            <a:endParaRPr lang="en-US" sz="900" dirty="0"/>
          </a:p>
        </p:txBody>
      </p:sp>
      <p:sp>
        <p:nvSpPr>
          <p:cNvPr id="50" name="Shape 47"/>
          <p:cNvSpPr/>
          <p:nvPr/>
        </p:nvSpPr>
        <p:spPr>
          <a:xfrm>
            <a:off x="5806440" y="2560320"/>
            <a:ext cx="0" cy="502920"/>
          </a:xfrm>
          <a:prstGeom prst="line">
            <a:avLst/>
          </a:prstGeom>
          <a:noFill/>
          <a:ln w="15875">
            <a:solidFill>
              <a:schemeClr val="tx2"/>
            </a:solidFill>
            <a:prstDash val="solid"/>
            <a:headEnd type="none"/>
            <a:tailEnd type="triangle"/>
          </a:ln>
        </p:spPr>
      </p:sp>
      <p:sp>
        <p:nvSpPr>
          <p:cNvPr id="51" name="Text 48"/>
          <p:cNvSpPr txBox="1"/>
          <p:nvPr/>
        </p:nvSpPr>
        <p:spPr>
          <a:xfrm>
            <a:off x="5870448" y="2578608"/>
            <a:ext cx="960120" cy="438912"/>
          </a:xfrm>
          <a:prstGeom prst="rect">
            <a:avLst/>
          </a:prstGeom>
          <a:noFill/>
          <a:ln/>
        </p:spPr>
        <p:txBody>
          <a:bodyPr wrap="square" lIns="0" tIns="0" rIns="0" bIns="0" rtlCol="0" anchor="ctr"/>
          <a:lstStyle/>
          <a:p>
            <a:pPr marL="0" indent="0" algn="l">
              <a:buNone/>
            </a:pPr>
            <a:r>
              <a:rPr lang="en-US" sz="900" dirty="0">
                <a:solidFill>
                  <a:schemeClr val="tx2"/>
                </a:solidFill>
              </a:rPr>
              <a:t>parsing gaps</a:t>
            </a:r>
            <a:endParaRPr lang="en-US" sz="900" dirty="0"/>
          </a:p>
          <a:p>
            <a:pPr marL="0" indent="0" algn="l">
              <a:buNone/>
            </a:pPr>
            <a:r>
              <a:rPr lang="en-US" sz="900" dirty="0">
                <a:solidFill>
                  <a:schemeClr val="tx2"/>
                </a:solidFill>
              </a:rPr>
              <a:t>(+ .jsonl file)</a:t>
            </a:r>
            <a:endParaRPr lang="en-US" sz="900" dirty="0"/>
          </a:p>
        </p:txBody>
      </p:sp>
      <p:sp>
        <p:nvSpPr>
          <p:cNvPr id="52" name="Shape 49"/>
          <p:cNvSpPr/>
          <p:nvPr/>
        </p:nvSpPr>
        <p:spPr>
          <a:xfrm>
            <a:off x="8321040" y="2560320"/>
            <a:ext cx="0" cy="502920"/>
          </a:xfrm>
          <a:prstGeom prst="line">
            <a:avLst/>
          </a:prstGeom>
          <a:noFill/>
          <a:ln w="15875">
            <a:solidFill>
              <a:schemeClr val="tx2"/>
            </a:solidFill>
            <a:prstDash val="solid"/>
            <a:headEnd type="none"/>
            <a:tailEnd type="triangle"/>
          </a:ln>
        </p:spPr>
      </p:sp>
      <p:sp>
        <p:nvSpPr>
          <p:cNvPr id="53" name="Text 50"/>
          <p:cNvSpPr txBox="1"/>
          <p:nvPr/>
        </p:nvSpPr>
        <p:spPr>
          <a:xfrm>
            <a:off x="8375904" y="2651760"/>
            <a:ext cx="914400" cy="274320"/>
          </a:xfrm>
          <a:prstGeom prst="rect">
            <a:avLst/>
          </a:prstGeom>
          <a:noFill/>
          <a:ln/>
        </p:spPr>
        <p:txBody>
          <a:bodyPr wrap="square" lIns="0" tIns="0" rIns="0" bIns="0" rtlCol="0" anchor="ctr"/>
          <a:lstStyle/>
          <a:p>
            <a:pPr marL="0" indent="0" algn="l">
              <a:buNone/>
            </a:pPr>
            <a:r>
              <a:rPr lang="en-US" sz="900" dirty="0">
                <a:solidFill>
                  <a:schemeClr val="tx2"/>
                </a:solidFill>
              </a:rPr>
              <a:t>UTC events</a:t>
            </a:r>
            <a:endParaRPr lang="en-US" sz="900" dirty="0"/>
          </a:p>
        </p:txBody>
      </p:sp>
      <p:sp>
        <p:nvSpPr>
          <p:cNvPr id="54" name="Shape 51"/>
          <p:cNvSpPr/>
          <p:nvPr/>
        </p:nvSpPr>
        <p:spPr>
          <a:xfrm>
            <a:off x="10643616" y="2560320"/>
            <a:ext cx="0" cy="502920"/>
          </a:xfrm>
          <a:prstGeom prst="line">
            <a:avLst/>
          </a:prstGeom>
          <a:noFill/>
          <a:ln w="15875">
            <a:solidFill>
              <a:schemeClr val="tx2"/>
            </a:solidFill>
            <a:prstDash val="solid"/>
            <a:headEnd type="triangle"/>
            <a:tailEnd type="triangle"/>
          </a:ln>
        </p:spPr>
      </p:sp>
      <p:sp>
        <p:nvSpPr>
          <p:cNvPr id="55" name="Text 52"/>
          <p:cNvSpPr txBox="1"/>
          <p:nvPr/>
        </p:nvSpPr>
        <p:spPr>
          <a:xfrm>
            <a:off x="10698480" y="2578608"/>
            <a:ext cx="941832" cy="438912"/>
          </a:xfrm>
          <a:prstGeom prst="rect">
            <a:avLst/>
          </a:prstGeom>
          <a:noFill/>
          <a:ln/>
        </p:spPr>
        <p:txBody>
          <a:bodyPr wrap="square" lIns="0" tIns="0" rIns="0" bIns="0" rtlCol="0" anchor="ctr"/>
          <a:lstStyle/>
          <a:p>
            <a:pPr marL="0" indent="0" algn="l">
              <a:buNone/>
            </a:pPr>
            <a:r>
              <a:rPr lang="en-US" sz="900" dirty="0">
                <a:solidFill>
                  <a:schemeClr val="tx2"/>
                </a:solidFill>
              </a:rPr>
              <a:t>read events,</a:t>
            </a:r>
            <a:endParaRPr lang="en-US" sz="900" dirty="0"/>
          </a:p>
          <a:p>
            <a:pPr marL="0" indent="0" algn="l">
              <a:buNone/>
            </a:pPr>
            <a:r>
              <a:rPr lang="en-US" sz="900" dirty="0">
                <a:solidFill>
                  <a:schemeClr val="tx2"/>
                </a:solidFill>
              </a:rPr>
              <a:t>write alerts</a:t>
            </a:r>
            <a:endParaRPr lang="en-US" sz="900" dirty="0"/>
          </a:p>
        </p:txBody>
      </p:sp>
      <p:sp>
        <p:nvSpPr>
          <p:cNvPr id="56" name="Shape 53"/>
          <p:cNvSpPr/>
          <p:nvPr/>
        </p:nvSpPr>
        <p:spPr>
          <a:xfrm>
            <a:off x="3291840" y="3520440"/>
            <a:ext cx="0" cy="640080"/>
          </a:xfrm>
          <a:prstGeom prst="line">
            <a:avLst/>
          </a:prstGeom>
          <a:noFill/>
          <a:ln w="15875">
            <a:solidFill>
              <a:schemeClr val="tx2"/>
            </a:solidFill>
            <a:prstDash val="solid"/>
            <a:headEnd type="none"/>
            <a:tailEnd type="triangle"/>
          </a:ln>
        </p:spPr>
      </p:sp>
      <p:sp>
        <p:nvSpPr>
          <p:cNvPr id="57" name="Text 54"/>
          <p:cNvSpPr txBox="1"/>
          <p:nvPr/>
        </p:nvSpPr>
        <p:spPr>
          <a:xfrm>
            <a:off x="3346704" y="3703320"/>
            <a:ext cx="640080" cy="274320"/>
          </a:xfrm>
          <a:prstGeom prst="rect">
            <a:avLst/>
          </a:prstGeom>
          <a:noFill/>
          <a:ln/>
        </p:spPr>
        <p:txBody>
          <a:bodyPr wrap="square" lIns="0" tIns="0" rIns="0" bIns="0" rtlCol="0" anchor="ctr"/>
          <a:lstStyle/>
          <a:p>
            <a:pPr marL="0" indent="0" algn="l">
              <a:buNone/>
            </a:pPr>
            <a:r>
              <a:rPr lang="en-US" sz="900" dirty="0">
                <a:solidFill>
                  <a:schemeClr val="tx2"/>
                </a:solidFill>
              </a:rPr>
              <a:t>hashes</a:t>
            </a:r>
            <a:endParaRPr lang="en-US" sz="900" dirty="0"/>
          </a:p>
        </p:txBody>
      </p:sp>
      <p:sp>
        <p:nvSpPr>
          <p:cNvPr id="58" name="Shape 55"/>
          <p:cNvSpPr/>
          <p:nvPr/>
        </p:nvSpPr>
        <p:spPr>
          <a:xfrm>
            <a:off x="1371600" y="3520440"/>
            <a:ext cx="960120" cy="685800"/>
          </a:xfrm>
          <a:prstGeom prst="line">
            <a:avLst/>
          </a:prstGeom>
          <a:noFill/>
          <a:ln w="15875">
            <a:solidFill>
              <a:schemeClr val="tx2"/>
            </a:solidFill>
            <a:prstDash val="solid"/>
            <a:headEnd type="none"/>
            <a:tailEnd type="triangle"/>
          </a:ln>
        </p:spPr>
      </p:sp>
      <p:sp>
        <p:nvSpPr>
          <p:cNvPr id="59" name="Text 56"/>
          <p:cNvSpPr txBox="1"/>
          <p:nvPr/>
        </p:nvSpPr>
        <p:spPr>
          <a:xfrm>
            <a:off x="594360" y="3730752"/>
            <a:ext cx="914400" cy="256032"/>
          </a:xfrm>
          <a:prstGeom prst="rect">
            <a:avLst/>
          </a:prstGeom>
          <a:noFill/>
          <a:ln/>
        </p:spPr>
        <p:txBody>
          <a:bodyPr wrap="square" lIns="0" tIns="0" rIns="0" bIns="0" rtlCol="0" anchor="ctr"/>
          <a:lstStyle/>
          <a:p>
            <a:pPr marL="0" indent="0" algn="r">
              <a:buNone/>
            </a:pPr>
            <a:r>
              <a:rPr lang="en-US" sz="900" dirty="0">
                <a:solidFill>
                  <a:schemeClr val="tx2"/>
                </a:solidFill>
              </a:rPr>
              <a:t>custody</a:t>
            </a:r>
            <a:endParaRPr lang="en-US" sz="900" dirty="0"/>
          </a:p>
        </p:txBody>
      </p:sp>
      <p:sp>
        <p:nvSpPr>
          <p:cNvPr id="60" name="Shape 57"/>
          <p:cNvSpPr/>
          <p:nvPr/>
        </p:nvSpPr>
        <p:spPr>
          <a:xfrm flipH="1">
            <a:off x="4224528" y="3520440"/>
            <a:ext cx="667512" cy="640080"/>
          </a:xfrm>
          <a:prstGeom prst="line">
            <a:avLst/>
          </a:prstGeom>
          <a:noFill/>
          <a:ln w="15875">
            <a:solidFill>
              <a:schemeClr val="tx2"/>
            </a:solidFill>
            <a:prstDash val="solid"/>
            <a:headEnd type="none"/>
            <a:tailEnd type="triangle"/>
          </a:ln>
        </p:spPr>
      </p:sp>
      <p:sp>
        <p:nvSpPr>
          <p:cNvPr id="61" name="Text 58"/>
          <p:cNvSpPr txBox="1"/>
          <p:nvPr/>
        </p:nvSpPr>
        <p:spPr>
          <a:xfrm>
            <a:off x="4828032" y="3593592"/>
            <a:ext cx="960120" cy="438912"/>
          </a:xfrm>
          <a:prstGeom prst="rect">
            <a:avLst/>
          </a:prstGeom>
          <a:noFill/>
          <a:ln/>
        </p:spPr>
        <p:txBody>
          <a:bodyPr wrap="square" lIns="0" tIns="0" rIns="0" bIns="0" rtlCol="0" anchor="ctr"/>
          <a:lstStyle/>
          <a:p>
            <a:pPr marL="0" indent="0" algn="l">
              <a:buNone/>
            </a:pPr>
            <a:r>
              <a:rPr lang="en-US" sz="900" dirty="0">
                <a:solidFill>
                  <a:schemeClr val="tx2"/>
                </a:solidFill>
              </a:rPr>
              <a:t>events, gaps,</a:t>
            </a:r>
            <a:endParaRPr lang="en-US" sz="900" dirty="0"/>
          </a:p>
          <a:p>
            <a:pPr marL="0" indent="0" algn="l">
              <a:buNone/>
            </a:pPr>
            <a:r>
              <a:rPr lang="en-US" sz="900" dirty="0">
                <a:solidFill>
                  <a:schemeClr val="tx2"/>
                </a:solidFill>
              </a:rPr>
              <a:t>alerts</a:t>
            </a:r>
            <a:endParaRPr lang="en-US" sz="900" dirty="0"/>
          </a:p>
        </p:txBody>
      </p:sp>
      <p:sp>
        <p:nvSpPr>
          <p:cNvPr id="62" name="Shape 59"/>
          <p:cNvSpPr/>
          <p:nvPr/>
        </p:nvSpPr>
        <p:spPr>
          <a:xfrm>
            <a:off x="6035040" y="3520440"/>
            <a:ext cx="0" cy="640080"/>
          </a:xfrm>
          <a:prstGeom prst="line">
            <a:avLst/>
          </a:prstGeom>
          <a:noFill/>
          <a:ln w="15875">
            <a:solidFill>
              <a:schemeClr val="tx2"/>
            </a:solidFill>
            <a:prstDash val="solid"/>
            <a:headEnd type="none"/>
            <a:tailEnd type="triangle"/>
          </a:ln>
        </p:spPr>
      </p:sp>
      <p:sp>
        <p:nvSpPr>
          <p:cNvPr id="63" name="Text 60"/>
          <p:cNvSpPr txBox="1"/>
          <p:nvPr/>
        </p:nvSpPr>
        <p:spPr>
          <a:xfrm>
            <a:off x="6089904" y="3593592"/>
            <a:ext cx="822960" cy="438912"/>
          </a:xfrm>
          <a:prstGeom prst="rect">
            <a:avLst/>
          </a:prstGeom>
          <a:noFill/>
          <a:ln/>
        </p:spPr>
        <p:txBody>
          <a:bodyPr wrap="square" lIns="0" tIns="0" rIns="0" bIns="0" rtlCol="0" anchor="ctr"/>
          <a:lstStyle/>
          <a:p>
            <a:pPr marL="0" indent="0" algn="l">
              <a:buNone/>
            </a:pPr>
            <a:r>
              <a:rPr lang="en-US" sz="900" dirty="0">
                <a:solidFill>
                  <a:schemeClr val="tx2"/>
                </a:solidFill>
              </a:rPr>
              <a:t>timeline,</a:t>
            </a:r>
            <a:endParaRPr lang="en-US" sz="900" dirty="0"/>
          </a:p>
          <a:p>
            <a:pPr marL="0" indent="0" algn="l">
              <a:buNone/>
            </a:pPr>
            <a:r>
              <a:rPr lang="en-US" sz="900" dirty="0">
                <a:solidFill>
                  <a:schemeClr val="tx2"/>
                </a:solidFill>
              </a:rPr>
              <a:t>alerts</a:t>
            </a:r>
            <a:endParaRPr lang="en-US" sz="900" dirty="0"/>
          </a:p>
        </p:txBody>
      </p:sp>
      <p:sp>
        <p:nvSpPr>
          <p:cNvPr id="64" name="Shape 61"/>
          <p:cNvSpPr/>
          <p:nvPr/>
        </p:nvSpPr>
        <p:spPr>
          <a:xfrm>
            <a:off x="8321040" y="3520440"/>
            <a:ext cx="0" cy="640080"/>
          </a:xfrm>
          <a:prstGeom prst="line">
            <a:avLst/>
          </a:prstGeom>
          <a:noFill/>
          <a:ln w="15875">
            <a:solidFill>
              <a:srgbClr val="7C3AED"/>
            </a:solidFill>
            <a:prstDash val="solid"/>
            <a:headEnd type="none"/>
            <a:tailEnd type="triangle"/>
          </a:ln>
        </p:spPr>
      </p:sp>
      <p:sp>
        <p:nvSpPr>
          <p:cNvPr id="65" name="Text 62"/>
          <p:cNvSpPr txBox="1"/>
          <p:nvPr/>
        </p:nvSpPr>
        <p:spPr>
          <a:xfrm>
            <a:off x="8375904" y="3593592"/>
            <a:ext cx="1097280" cy="438912"/>
          </a:xfrm>
          <a:prstGeom prst="rect">
            <a:avLst/>
          </a:prstGeom>
          <a:noFill/>
          <a:ln/>
        </p:spPr>
        <p:txBody>
          <a:bodyPr wrap="square" lIns="0" tIns="0" rIns="0" bIns="0" rtlCol="0" anchor="ctr"/>
          <a:lstStyle/>
          <a:p>
            <a:pPr marL="0" indent="0" algn="l">
              <a:buNone/>
            </a:pPr>
            <a:r>
              <a:rPr lang="en-US" sz="900" dirty="0">
                <a:solidFill>
                  <a:srgbClr val="7C3AED"/>
                </a:solidFill>
              </a:rPr>
              <a:t>flagged events,</a:t>
            </a:r>
            <a:endParaRPr lang="en-US" sz="900" dirty="0"/>
          </a:p>
          <a:p>
            <a:pPr marL="0" indent="0" algn="l">
              <a:buNone/>
            </a:pPr>
            <a:r>
              <a:rPr lang="en-US" sz="900" dirty="0">
                <a:solidFill>
                  <a:srgbClr val="7C3AED"/>
                </a:solidFill>
              </a:rPr>
              <a:t>gap lines</a:t>
            </a:r>
            <a:endParaRPr lang="en-US" sz="900" dirty="0"/>
          </a:p>
        </p:txBody>
      </p:sp>
      <p:sp>
        <p:nvSpPr>
          <p:cNvPr id="66" name="Shape 63"/>
          <p:cNvSpPr/>
          <p:nvPr/>
        </p:nvSpPr>
        <p:spPr>
          <a:xfrm>
            <a:off x="9372600" y="4572000"/>
            <a:ext cx="457200" cy="0"/>
          </a:xfrm>
          <a:prstGeom prst="line">
            <a:avLst/>
          </a:prstGeom>
          <a:noFill/>
          <a:ln w="15875">
            <a:solidFill>
              <a:srgbClr val="7C3AED"/>
            </a:solidFill>
            <a:prstDash val="dash"/>
            <a:headEnd type="triangle"/>
            <a:tailEnd type="triangle"/>
          </a:ln>
        </p:spPr>
      </p:sp>
      <p:sp>
        <p:nvSpPr>
          <p:cNvPr id="67" name="Text 64"/>
          <p:cNvSpPr txBox="1"/>
          <p:nvPr/>
        </p:nvSpPr>
        <p:spPr>
          <a:xfrm>
            <a:off x="9098280" y="5001768"/>
            <a:ext cx="1188720" cy="237744"/>
          </a:xfrm>
          <a:prstGeom prst="rect">
            <a:avLst/>
          </a:prstGeom>
          <a:noFill/>
          <a:ln/>
        </p:spPr>
        <p:txBody>
          <a:bodyPr wrap="square" lIns="0" tIns="0" rIns="0" bIns="0" rtlCol="0" anchor="ctr"/>
          <a:lstStyle/>
          <a:p>
            <a:pPr marL="0" indent="0" algn="ctr">
              <a:buNone/>
            </a:pPr>
            <a:r>
              <a:rPr lang="en-US" sz="900" dirty="0">
                <a:solidFill>
                  <a:srgbClr val="7C3AED"/>
                </a:solidFill>
              </a:rPr>
              <a:t>redacted / JSON</a:t>
            </a:r>
            <a:endParaRPr lang="en-US" sz="900" dirty="0"/>
          </a:p>
        </p:txBody>
      </p:sp>
      <p:sp>
        <p:nvSpPr>
          <p:cNvPr id="68" name="Shape 65"/>
          <p:cNvSpPr/>
          <p:nvPr/>
        </p:nvSpPr>
        <p:spPr>
          <a:xfrm flipH="1">
            <a:off x="1645920" y="4572000"/>
            <a:ext cx="594360" cy="0"/>
          </a:xfrm>
          <a:prstGeom prst="line">
            <a:avLst/>
          </a:prstGeom>
          <a:noFill/>
          <a:ln w="15875">
            <a:solidFill>
              <a:schemeClr val="tx2"/>
            </a:solidFill>
            <a:prstDash val="solid"/>
            <a:headEnd type="none"/>
            <a:tailEnd type="triangle"/>
          </a:ln>
        </p:spPr>
      </p:sp>
      <p:sp>
        <p:nvSpPr>
          <p:cNvPr id="69" name="Text 66"/>
          <p:cNvSpPr txBox="1"/>
          <p:nvPr/>
        </p:nvSpPr>
        <p:spPr>
          <a:xfrm>
            <a:off x="1645920" y="4279392"/>
            <a:ext cx="594360" cy="274320"/>
          </a:xfrm>
          <a:prstGeom prst="rect">
            <a:avLst/>
          </a:prstGeom>
          <a:noFill/>
          <a:ln/>
        </p:spPr>
        <p:txBody>
          <a:bodyPr wrap="square" lIns="0" tIns="0" rIns="0" bIns="0" rtlCol="0" anchor="ctr"/>
          <a:lstStyle/>
          <a:p>
            <a:pPr marL="0" indent="0" algn="ctr">
              <a:buNone/>
            </a:pPr>
            <a:r>
              <a:rPr lang="en-US" sz="900" dirty="0">
                <a:solidFill>
                  <a:schemeClr val="tx2"/>
                </a:solidFill>
              </a:rPr>
              <a:t>report</a:t>
            </a:r>
            <a:endParaRPr lang="en-US" sz="900" dirty="0"/>
          </a:p>
        </p:txBody>
      </p:sp>
      <p:sp>
        <p:nvSpPr>
          <p:cNvPr id="70" name="Shape 67"/>
          <p:cNvSpPr/>
          <p:nvPr/>
        </p:nvSpPr>
        <p:spPr>
          <a:xfrm>
            <a:off x="5806440" y="4983480"/>
            <a:ext cx="0" cy="365760"/>
          </a:xfrm>
          <a:prstGeom prst="line">
            <a:avLst/>
          </a:prstGeom>
          <a:noFill/>
          <a:ln w="15875">
            <a:solidFill>
              <a:schemeClr val="tx2"/>
            </a:solidFill>
            <a:prstDash val="solid"/>
            <a:headEnd type="none"/>
            <a:tailEnd type="none"/>
          </a:ln>
        </p:spPr>
      </p:sp>
      <p:sp>
        <p:nvSpPr>
          <p:cNvPr id="71" name="Shape 68"/>
          <p:cNvSpPr/>
          <p:nvPr/>
        </p:nvSpPr>
        <p:spPr>
          <a:xfrm flipH="1">
            <a:off x="1097280" y="5349240"/>
            <a:ext cx="4709160" cy="0"/>
          </a:xfrm>
          <a:prstGeom prst="line">
            <a:avLst/>
          </a:prstGeom>
          <a:noFill/>
          <a:ln w="15875">
            <a:solidFill>
              <a:schemeClr val="tx2"/>
            </a:solidFill>
            <a:prstDash val="solid"/>
            <a:headEnd type="none"/>
            <a:tailEnd type="none"/>
          </a:ln>
        </p:spPr>
      </p:sp>
      <p:sp>
        <p:nvSpPr>
          <p:cNvPr id="72" name="Shape 69"/>
          <p:cNvSpPr/>
          <p:nvPr/>
        </p:nvSpPr>
        <p:spPr>
          <a:xfrm flipV="1">
            <a:off x="1097280" y="4983480"/>
            <a:ext cx="0" cy="365760"/>
          </a:xfrm>
          <a:prstGeom prst="line">
            <a:avLst/>
          </a:prstGeom>
          <a:noFill/>
          <a:ln w="15875">
            <a:solidFill>
              <a:schemeClr val="tx2"/>
            </a:solidFill>
            <a:prstDash val="solid"/>
            <a:headEnd type="none"/>
            <a:tailEnd type="triangle"/>
          </a:ln>
        </p:spPr>
      </p:sp>
      <p:sp>
        <p:nvSpPr>
          <p:cNvPr id="73" name="Text 70"/>
          <p:cNvSpPr txBox="1"/>
          <p:nvPr/>
        </p:nvSpPr>
        <p:spPr>
          <a:xfrm>
            <a:off x="2194560" y="5376672"/>
            <a:ext cx="3108960" cy="256032"/>
          </a:xfrm>
          <a:prstGeom prst="rect">
            <a:avLst/>
          </a:prstGeom>
          <a:noFill/>
          <a:ln/>
        </p:spPr>
        <p:txBody>
          <a:bodyPr wrap="square" lIns="0" tIns="0" rIns="0" bIns="0" rtlCol="0" anchor="ctr"/>
          <a:lstStyle/>
          <a:p>
            <a:pPr marL="0" indent="0" algn="ctr">
              <a:buNone/>
            </a:pPr>
            <a:r>
              <a:rPr lang="en-US" sz="900" dirty="0">
                <a:solidFill>
                  <a:schemeClr val="tx2"/>
                </a:solidFill>
              </a:rPr>
              <a:t>timeline, kill chain, attack graph, filters</a:t>
            </a:r>
            <a:endParaRPr lang="en-US" sz="900" dirty="0"/>
          </a:p>
        </p:txBody>
      </p:sp>
      <p:sp>
        <p:nvSpPr>
          <p:cNvPr id="74" name="Text 71"/>
          <p:cNvSpPr txBox="1"/>
          <p:nvPr/>
        </p:nvSpPr>
        <p:spPr>
          <a:xfrm>
            <a:off x="548640" y="5961888"/>
            <a:ext cx="11094415" cy="274320"/>
          </a:xfrm>
          <a:prstGeom prst="rect">
            <a:avLst/>
          </a:prstGeom>
          <a:noFill/>
          <a:ln/>
        </p:spPr>
        <p:txBody>
          <a:bodyPr wrap="square" lIns="0" tIns="0" rIns="0" bIns="0" rtlCol="0" anchor="t"/>
          <a:lstStyle/>
          <a:p>
            <a:pPr marL="0" indent="0" algn="ctr">
              <a:buNone/>
            </a:pPr>
            <a:r>
              <a:rPr lang="en-US" sz="1100" dirty="0">
                <a:solidFill>
                  <a:schemeClr val="accent1"/>
                </a:solidFill>
              </a:rPr>
              <a:t>Figure: </a:t>
            </a:r>
            <a:r>
              <a:rPr lang="en-US" sz="1100" dirty="0">
                <a:solidFill>
                  <a:schemeClr val="tx1"/>
                </a:solidFill>
              </a:rPr>
              <a:t>Data Flow Diagram (DFD), Level 1</a:t>
            </a:r>
            <a:endParaRPr lang="en-US" sz="1100" dirty="0"/>
          </a:p>
        </p:txBody>
      </p:sp>
      <p:sp>
        <p:nvSpPr>
          <p:cNvPr id="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Deployment Timeline</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Deployment Timeline</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Agile delivery in six sprints, each closed by tests and a working demo; two deployment modes, both keep evidence local</a:t>
            </a:r>
            <a:endParaRPr lang="en-US" sz="1600" dirty="0"/>
          </a:p>
        </p:txBody>
      </p:sp>
      <p:sp>
        <p:nvSpPr>
          <p:cNvPr id="6" name="Shape 3"/>
          <p:cNvSpPr/>
          <p:nvPr/>
        </p:nvSpPr>
        <p:spPr>
          <a:xfrm>
            <a:off x="548640" y="1645920"/>
            <a:ext cx="11094415" cy="329184"/>
          </a:xfrm>
          <a:prstGeom prst="rect">
            <a:avLst/>
          </a:prstGeom>
          <a:solidFill>
            <a:schemeClr val="accent1"/>
          </a:solidFill>
          <a:ln/>
        </p:spPr>
      </p:sp>
      <p:sp>
        <p:nvSpPr>
          <p:cNvPr id="7" name="Text 4"/>
          <p:cNvSpPr txBox="1"/>
          <p:nvPr/>
        </p:nvSpPr>
        <p:spPr>
          <a:xfrm>
            <a:off x="621792" y="1645920"/>
            <a:ext cx="4160520" cy="329184"/>
          </a:xfrm>
          <a:prstGeom prst="rect">
            <a:avLst/>
          </a:prstGeom>
          <a:noFill/>
          <a:ln/>
        </p:spPr>
        <p:txBody>
          <a:bodyPr wrap="square" lIns="0" tIns="0" rIns="0" bIns="0" rtlCol="0" anchor="ctr"/>
          <a:lstStyle/>
          <a:p>
            <a:pPr marL="0" indent="0" algn="l">
              <a:buNone/>
            </a:pPr>
            <a:r>
              <a:rPr lang="en-US" sz="1250" b="1" dirty="0">
                <a:solidFill>
                  <a:srgbClr val="FFFFFF"/>
                </a:solidFill>
              </a:rPr>
              <a:t>Milestone</a:t>
            </a:r>
            <a:endParaRPr lang="en-US" sz="1250" dirty="0"/>
          </a:p>
        </p:txBody>
      </p:sp>
      <p:sp>
        <p:nvSpPr>
          <p:cNvPr id="8" name="Text 5"/>
          <p:cNvSpPr txBox="1"/>
          <p:nvPr/>
        </p:nvSpPr>
        <p:spPr>
          <a:xfrm>
            <a:off x="4800600"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Sprint 1</a:t>
            </a:r>
            <a:endParaRPr lang="en-US" sz="1100" dirty="0"/>
          </a:p>
        </p:txBody>
      </p:sp>
      <p:sp>
        <p:nvSpPr>
          <p:cNvPr id="9" name="Text 6"/>
          <p:cNvSpPr txBox="1"/>
          <p:nvPr/>
        </p:nvSpPr>
        <p:spPr>
          <a:xfrm>
            <a:off x="5627871"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Sprint 2</a:t>
            </a:r>
            <a:endParaRPr lang="en-US" sz="1100" dirty="0"/>
          </a:p>
        </p:txBody>
      </p:sp>
      <p:sp>
        <p:nvSpPr>
          <p:cNvPr id="10" name="Text 7"/>
          <p:cNvSpPr txBox="1"/>
          <p:nvPr/>
        </p:nvSpPr>
        <p:spPr>
          <a:xfrm>
            <a:off x="6455141"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Sprint 3</a:t>
            </a:r>
            <a:endParaRPr lang="en-US" sz="1100" dirty="0"/>
          </a:p>
        </p:txBody>
      </p:sp>
      <p:sp>
        <p:nvSpPr>
          <p:cNvPr id="11" name="Text 8"/>
          <p:cNvSpPr txBox="1"/>
          <p:nvPr/>
        </p:nvSpPr>
        <p:spPr>
          <a:xfrm>
            <a:off x="7282412"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Sprint 4</a:t>
            </a:r>
            <a:endParaRPr lang="en-US" sz="1100" dirty="0"/>
          </a:p>
        </p:txBody>
      </p:sp>
      <p:sp>
        <p:nvSpPr>
          <p:cNvPr id="12" name="Text 9"/>
          <p:cNvSpPr txBox="1"/>
          <p:nvPr/>
        </p:nvSpPr>
        <p:spPr>
          <a:xfrm>
            <a:off x="8109683"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Sprint 5</a:t>
            </a:r>
            <a:endParaRPr lang="en-US" sz="1100" dirty="0"/>
          </a:p>
        </p:txBody>
      </p:sp>
      <p:sp>
        <p:nvSpPr>
          <p:cNvPr id="13" name="Text 10"/>
          <p:cNvSpPr txBox="1"/>
          <p:nvPr/>
        </p:nvSpPr>
        <p:spPr>
          <a:xfrm>
            <a:off x="8936954"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Sprint 6</a:t>
            </a:r>
            <a:endParaRPr lang="en-US" sz="1100" dirty="0"/>
          </a:p>
        </p:txBody>
      </p:sp>
      <p:sp>
        <p:nvSpPr>
          <p:cNvPr id="14" name="Text 11"/>
          <p:cNvSpPr txBox="1"/>
          <p:nvPr/>
        </p:nvSpPr>
        <p:spPr>
          <a:xfrm>
            <a:off x="9764224" y="1645920"/>
            <a:ext cx="827271" cy="329184"/>
          </a:xfrm>
          <a:prstGeom prst="rect">
            <a:avLst/>
          </a:prstGeom>
          <a:noFill/>
          <a:ln/>
        </p:spPr>
        <p:txBody>
          <a:bodyPr wrap="square" lIns="0" tIns="0" rIns="0" bIns="0" rtlCol="0" anchor="ctr"/>
          <a:lstStyle/>
          <a:p>
            <a:pPr marL="0" indent="0" algn="ctr">
              <a:buNone/>
            </a:pPr>
            <a:r>
              <a:rPr lang="en-US" sz="1100" b="1" dirty="0">
                <a:solidFill>
                  <a:srgbClr val="FFFFFF"/>
                </a:solidFill>
              </a:rPr>
              <a:t>Next</a:t>
            </a:r>
            <a:endParaRPr lang="en-US" sz="1100" dirty="0"/>
          </a:p>
        </p:txBody>
      </p:sp>
      <p:sp>
        <p:nvSpPr>
          <p:cNvPr id="15" name="Text 12"/>
          <p:cNvSpPr txBox="1"/>
          <p:nvPr/>
        </p:nvSpPr>
        <p:spPr>
          <a:xfrm>
            <a:off x="10591495" y="1645920"/>
            <a:ext cx="1051560" cy="329184"/>
          </a:xfrm>
          <a:prstGeom prst="rect">
            <a:avLst/>
          </a:prstGeom>
          <a:noFill/>
          <a:ln/>
        </p:spPr>
        <p:txBody>
          <a:bodyPr wrap="square" lIns="0" tIns="0" rIns="0" bIns="0" rtlCol="0" anchor="ctr"/>
          <a:lstStyle/>
          <a:p>
            <a:pPr marL="0" indent="0" algn="ctr">
              <a:buNone/>
            </a:pPr>
            <a:r>
              <a:rPr lang="en-US" sz="1250" b="1" dirty="0">
                <a:solidFill>
                  <a:srgbClr val="FFFFFF"/>
                </a:solidFill>
              </a:rPr>
              <a:t>Status</a:t>
            </a:r>
            <a:endParaRPr lang="en-US" sz="1250" dirty="0"/>
          </a:p>
        </p:txBody>
      </p:sp>
      <p:sp>
        <p:nvSpPr>
          <p:cNvPr id="16" name="Text 13"/>
          <p:cNvSpPr txBox="1"/>
          <p:nvPr/>
        </p:nvSpPr>
        <p:spPr>
          <a:xfrm>
            <a:off x="621792" y="197510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M1  Requirements and standards review</a:t>
            </a:r>
            <a:endParaRPr lang="en-US" sz="1250" dirty="0"/>
          </a:p>
        </p:txBody>
      </p:sp>
      <p:sp>
        <p:nvSpPr>
          <p:cNvPr id="17" name="Shape 14"/>
          <p:cNvSpPr/>
          <p:nvPr/>
        </p:nvSpPr>
        <p:spPr>
          <a:xfrm>
            <a:off x="4855464" y="2057400"/>
            <a:ext cx="717543" cy="201168"/>
          </a:xfrm>
          <a:prstGeom prst="roundRect">
            <a:avLst>
              <a:gd name="adj" fmla="val 22727"/>
            </a:avLst>
          </a:prstGeom>
          <a:solidFill>
            <a:schemeClr val="accent1"/>
          </a:solidFill>
          <a:ln/>
        </p:spPr>
      </p:sp>
      <p:sp>
        <p:nvSpPr>
          <p:cNvPr id="18" name="Text 15"/>
          <p:cNvSpPr txBox="1"/>
          <p:nvPr/>
        </p:nvSpPr>
        <p:spPr>
          <a:xfrm>
            <a:off x="10591495" y="1975104"/>
            <a:ext cx="1051560" cy="365760"/>
          </a:xfrm>
          <a:prstGeom prst="rect">
            <a:avLst/>
          </a:prstGeom>
          <a:noFill/>
          <a:ln/>
        </p:spPr>
        <p:txBody>
          <a:bodyPr wrap="square" lIns="0" tIns="0" rIns="0" bIns="0" rtlCol="0" anchor="ctr"/>
          <a:lstStyle/>
          <a:p>
            <a:pPr marL="0" indent="0" algn="ctr">
              <a:buNone/>
            </a:pPr>
            <a:r>
              <a:rPr lang="en-US" sz="1200" b="1" dirty="0">
                <a:solidFill>
                  <a:schemeClr val="accent5"/>
                </a:solidFill>
              </a:rPr>
              <a:t>Done</a:t>
            </a:r>
            <a:endParaRPr lang="en-US" sz="1200" dirty="0"/>
          </a:p>
        </p:txBody>
      </p:sp>
      <p:sp>
        <p:nvSpPr>
          <p:cNvPr id="19" name="Shape 16"/>
          <p:cNvSpPr/>
          <p:nvPr/>
        </p:nvSpPr>
        <p:spPr>
          <a:xfrm>
            <a:off x="548640" y="2340864"/>
            <a:ext cx="11094415" cy="365760"/>
          </a:xfrm>
          <a:prstGeom prst="rect">
            <a:avLst/>
          </a:prstGeom>
          <a:solidFill>
            <a:srgbClr val="F3F5FE"/>
          </a:solidFill>
          <a:ln/>
        </p:spPr>
      </p:sp>
      <p:sp>
        <p:nvSpPr>
          <p:cNvPr id="20" name="Text 17"/>
          <p:cNvSpPr txBox="1"/>
          <p:nvPr/>
        </p:nvSpPr>
        <p:spPr>
          <a:xfrm>
            <a:off x="621792" y="234086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M2  Evidence integrity, parsers, gap log</a:t>
            </a:r>
            <a:endParaRPr lang="en-US" sz="1250" dirty="0"/>
          </a:p>
        </p:txBody>
      </p:sp>
      <p:sp>
        <p:nvSpPr>
          <p:cNvPr id="21" name="Shape 18"/>
          <p:cNvSpPr/>
          <p:nvPr/>
        </p:nvSpPr>
        <p:spPr>
          <a:xfrm>
            <a:off x="4855464" y="2423160"/>
            <a:ext cx="1544813" cy="201168"/>
          </a:xfrm>
          <a:prstGeom prst="roundRect">
            <a:avLst>
              <a:gd name="adj" fmla="val 22727"/>
            </a:avLst>
          </a:prstGeom>
          <a:solidFill>
            <a:schemeClr val="accent1"/>
          </a:solidFill>
          <a:ln/>
        </p:spPr>
      </p:sp>
      <p:sp>
        <p:nvSpPr>
          <p:cNvPr id="22" name="Text 19"/>
          <p:cNvSpPr txBox="1"/>
          <p:nvPr/>
        </p:nvSpPr>
        <p:spPr>
          <a:xfrm>
            <a:off x="10591495" y="2340864"/>
            <a:ext cx="1051560" cy="365760"/>
          </a:xfrm>
          <a:prstGeom prst="rect">
            <a:avLst/>
          </a:prstGeom>
          <a:noFill/>
          <a:ln/>
        </p:spPr>
        <p:txBody>
          <a:bodyPr wrap="square" lIns="0" tIns="0" rIns="0" bIns="0" rtlCol="0" anchor="ctr"/>
          <a:lstStyle/>
          <a:p>
            <a:pPr marL="0" indent="0" algn="ctr">
              <a:buNone/>
            </a:pPr>
            <a:r>
              <a:rPr lang="en-US" sz="1200" b="1" dirty="0">
                <a:solidFill>
                  <a:schemeClr val="accent5"/>
                </a:solidFill>
              </a:rPr>
              <a:t>Done</a:t>
            </a:r>
            <a:endParaRPr lang="en-US" sz="1200" dirty="0"/>
          </a:p>
        </p:txBody>
      </p:sp>
      <p:sp>
        <p:nvSpPr>
          <p:cNvPr id="23" name="Text 20"/>
          <p:cNvSpPr txBox="1"/>
          <p:nvPr/>
        </p:nvSpPr>
        <p:spPr>
          <a:xfrm>
            <a:off x="621792" y="270662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M3  UTC normalisation, SQLite timeline, CLI</a:t>
            </a:r>
            <a:endParaRPr lang="en-US" sz="1250" dirty="0"/>
          </a:p>
        </p:txBody>
      </p:sp>
      <p:sp>
        <p:nvSpPr>
          <p:cNvPr id="24" name="Shape 21"/>
          <p:cNvSpPr/>
          <p:nvPr/>
        </p:nvSpPr>
        <p:spPr>
          <a:xfrm>
            <a:off x="5682735" y="2788920"/>
            <a:ext cx="1544813" cy="201168"/>
          </a:xfrm>
          <a:prstGeom prst="roundRect">
            <a:avLst>
              <a:gd name="adj" fmla="val 22727"/>
            </a:avLst>
          </a:prstGeom>
          <a:solidFill>
            <a:schemeClr val="accent1"/>
          </a:solidFill>
          <a:ln/>
        </p:spPr>
      </p:sp>
      <p:sp>
        <p:nvSpPr>
          <p:cNvPr id="25" name="Text 22"/>
          <p:cNvSpPr txBox="1"/>
          <p:nvPr/>
        </p:nvSpPr>
        <p:spPr>
          <a:xfrm>
            <a:off x="10591495" y="2706624"/>
            <a:ext cx="1051560" cy="365760"/>
          </a:xfrm>
          <a:prstGeom prst="rect">
            <a:avLst/>
          </a:prstGeom>
          <a:noFill/>
          <a:ln/>
        </p:spPr>
        <p:txBody>
          <a:bodyPr wrap="square" lIns="0" tIns="0" rIns="0" bIns="0" rtlCol="0" anchor="ctr"/>
          <a:lstStyle/>
          <a:p>
            <a:pPr marL="0" indent="0" algn="ctr">
              <a:buNone/>
            </a:pPr>
            <a:r>
              <a:rPr lang="en-US" sz="1200" b="1" dirty="0">
                <a:solidFill>
                  <a:schemeClr val="accent5"/>
                </a:solidFill>
              </a:rPr>
              <a:t>Done</a:t>
            </a:r>
            <a:endParaRPr lang="en-US" sz="1200" dirty="0"/>
          </a:p>
        </p:txBody>
      </p:sp>
      <p:sp>
        <p:nvSpPr>
          <p:cNvPr id="26" name="Shape 23"/>
          <p:cNvSpPr/>
          <p:nvPr/>
        </p:nvSpPr>
        <p:spPr>
          <a:xfrm>
            <a:off x="548640" y="3072384"/>
            <a:ext cx="11094415" cy="365760"/>
          </a:xfrm>
          <a:prstGeom prst="rect">
            <a:avLst/>
          </a:prstGeom>
          <a:solidFill>
            <a:srgbClr val="F3F5FE"/>
          </a:solidFill>
          <a:ln/>
        </p:spPr>
      </p:sp>
      <p:sp>
        <p:nvSpPr>
          <p:cNvPr id="27" name="Text 24"/>
          <p:cNvSpPr txBox="1"/>
          <p:nvPr/>
        </p:nvSpPr>
        <p:spPr>
          <a:xfrm>
            <a:off x="621792" y="307238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M4  Rules R1–R8, kill chain, attack graph</a:t>
            </a:r>
            <a:endParaRPr lang="en-US" sz="1250" dirty="0"/>
          </a:p>
        </p:txBody>
      </p:sp>
      <p:sp>
        <p:nvSpPr>
          <p:cNvPr id="28" name="Shape 25"/>
          <p:cNvSpPr/>
          <p:nvPr/>
        </p:nvSpPr>
        <p:spPr>
          <a:xfrm>
            <a:off x="6510005" y="3154680"/>
            <a:ext cx="1544813" cy="201168"/>
          </a:xfrm>
          <a:prstGeom prst="roundRect">
            <a:avLst>
              <a:gd name="adj" fmla="val 22727"/>
            </a:avLst>
          </a:prstGeom>
          <a:solidFill>
            <a:schemeClr val="accent1"/>
          </a:solidFill>
          <a:ln/>
        </p:spPr>
      </p:sp>
      <p:sp>
        <p:nvSpPr>
          <p:cNvPr id="29" name="Text 26"/>
          <p:cNvSpPr txBox="1"/>
          <p:nvPr/>
        </p:nvSpPr>
        <p:spPr>
          <a:xfrm>
            <a:off x="10591495" y="3072384"/>
            <a:ext cx="1051560" cy="365760"/>
          </a:xfrm>
          <a:prstGeom prst="rect">
            <a:avLst/>
          </a:prstGeom>
          <a:noFill/>
          <a:ln/>
        </p:spPr>
        <p:txBody>
          <a:bodyPr wrap="square" lIns="0" tIns="0" rIns="0" bIns="0" rtlCol="0" anchor="ctr"/>
          <a:lstStyle/>
          <a:p>
            <a:pPr marL="0" indent="0" algn="ctr">
              <a:buNone/>
            </a:pPr>
            <a:r>
              <a:rPr lang="en-US" sz="1200" b="1" dirty="0">
                <a:solidFill>
                  <a:schemeClr val="accent5"/>
                </a:solidFill>
              </a:rPr>
              <a:t>Done</a:t>
            </a:r>
            <a:endParaRPr lang="en-US" sz="1200" dirty="0"/>
          </a:p>
        </p:txBody>
      </p:sp>
      <p:sp>
        <p:nvSpPr>
          <p:cNvPr id="30" name="Text 27"/>
          <p:cNvSpPr txBox="1"/>
          <p:nvPr/>
        </p:nvSpPr>
        <p:spPr>
          <a:xfrm>
            <a:off x="621792" y="343814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M5  Dashboard, reports, guarded AI copilot</a:t>
            </a:r>
            <a:endParaRPr lang="en-US" sz="1250" dirty="0"/>
          </a:p>
        </p:txBody>
      </p:sp>
      <p:sp>
        <p:nvSpPr>
          <p:cNvPr id="31" name="Shape 28"/>
          <p:cNvSpPr/>
          <p:nvPr/>
        </p:nvSpPr>
        <p:spPr>
          <a:xfrm>
            <a:off x="7337276" y="3520440"/>
            <a:ext cx="1544813" cy="201168"/>
          </a:xfrm>
          <a:prstGeom prst="roundRect">
            <a:avLst>
              <a:gd name="adj" fmla="val 22727"/>
            </a:avLst>
          </a:prstGeom>
          <a:solidFill>
            <a:schemeClr val="accent1"/>
          </a:solidFill>
          <a:ln/>
        </p:spPr>
      </p:sp>
      <p:sp>
        <p:nvSpPr>
          <p:cNvPr id="32" name="Text 29"/>
          <p:cNvSpPr txBox="1"/>
          <p:nvPr/>
        </p:nvSpPr>
        <p:spPr>
          <a:xfrm>
            <a:off x="10591495" y="3438144"/>
            <a:ext cx="1051560" cy="365760"/>
          </a:xfrm>
          <a:prstGeom prst="rect">
            <a:avLst/>
          </a:prstGeom>
          <a:noFill/>
          <a:ln/>
        </p:spPr>
        <p:txBody>
          <a:bodyPr wrap="square" lIns="0" tIns="0" rIns="0" bIns="0" rtlCol="0" anchor="ctr"/>
          <a:lstStyle/>
          <a:p>
            <a:pPr marL="0" indent="0" algn="ctr">
              <a:buNone/>
            </a:pPr>
            <a:r>
              <a:rPr lang="en-US" sz="1200" b="1" dirty="0">
                <a:solidFill>
                  <a:schemeClr val="accent5"/>
                </a:solidFill>
              </a:rPr>
              <a:t>Done</a:t>
            </a:r>
            <a:endParaRPr lang="en-US" sz="1200" dirty="0"/>
          </a:p>
        </p:txBody>
      </p:sp>
      <p:sp>
        <p:nvSpPr>
          <p:cNvPr id="33" name="Shape 30"/>
          <p:cNvSpPr/>
          <p:nvPr/>
        </p:nvSpPr>
        <p:spPr>
          <a:xfrm>
            <a:off x="548640" y="3803904"/>
            <a:ext cx="11094415" cy="365760"/>
          </a:xfrm>
          <a:prstGeom prst="rect">
            <a:avLst/>
          </a:prstGeom>
          <a:solidFill>
            <a:srgbClr val="F3F5FE"/>
          </a:solidFill>
          <a:ln/>
        </p:spPr>
      </p:sp>
      <p:sp>
        <p:nvSpPr>
          <p:cNvPr id="34" name="Text 31"/>
          <p:cNvSpPr txBox="1"/>
          <p:nvPr/>
        </p:nvSpPr>
        <p:spPr>
          <a:xfrm>
            <a:off x="621792" y="380390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M6  Validation, real logs, browser edition</a:t>
            </a:r>
            <a:endParaRPr lang="en-US" sz="1250" dirty="0"/>
          </a:p>
        </p:txBody>
      </p:sp>
      <p:sp>
        <p:nvSpPr>
          <p:cNvPr id="35" name="Shape 32"/>
          <p:cNvSpPr/>
          <p:nvPr/>
        </p:nvSpPr>
        <p:spPr>
          <a:xfrm>
            <a:off x="8164547" y="3886200"/>
            <a:ext cx="1544813" cy="201168"/>
          </a:xfrm>
          <a:prstGeom prst="roundRect">
            <a:avLst>
              <a:gd name="adj" fmla="val 22727"/>
            </a:avLst>
          </a:prstGeom>
          <a:solidFill>
            <a:schemeClr val="accent1"/>
          </a:solidFill>
          <a:ln/>
        </p:spPr>
      </p:sp>
      <p:sp>
        <p:nvSpPr>
          <p:cNvPr id="36" name="Text 33"/>
          <p:cNvSpPr txBox="1"/>
          <p:nvPr/>
        </p:nvSpPr>
        <p:spPr>
          <a:xfrm>
            <a:off x="10591495" y="3803904"/>
            <a:ext cx="1051560" cy="365760"/>
          </a:xfrm>
          <a:prstGeom prst="rect">
            <a:avLst/>
          </a:prstGeom>
          <a:noFill/>
          <a:ln/>
        </p:spPr>
        <p:txBody>
          <a:bodyPr wrap="square" lIns="0" tIns="0" rIns="0" bIns="0" rtlCol="0" anchor="ctr"/>
          <a:lstStyle/>
          <a:p>
            <a:pPr marL="0" indent="0" algn="ctr">
              <a:buNone/>
            </a:pPr>
            <a:r>
              <a:rPr lang="en-US" sz="1200" b="1" dirty="0">
                <a:solidFill>
                  <a:schemeClr val="accent5"/>
                </a:solidFill>
              </a:rPr>
              <a:t>Done</a:t>
            </a:r>
            <a:endParaRPr lang="en-US" sz="1200" dirty="0"/>
          </a:p>
        </p:txBody>
      </p:sp>
      <p:sp>
        <p:nvSpPr>
          <p:cNvPr id="37" name="Text 34"/>
          <p:cNvSpPr txBox="1"/>
          <p:nvPr/>
        </p:nvSpPr>
        <p:spPr>
          <a:xfrm>
            <a:off x="621792" y="416966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M7  Demo, documentation, team video</a:t>
            </a:r>
            <a:endParaRPr lang="en-US" sz="1250" dirty="0"/>
          </a:p>
        </p:txBody>
      </p:sp>
      <p:sp>
        <p:nvSpPr>
          <p:cNvPr id="38" name="Shape 35"/>
          <p:cNvSpPr/>
          <p:nvPr/>
        </p:nvSpPr>
        <p:spPr>
          <a:xfrm>
            <a:off x="8991818" y="4251960"/>
            <a:ext cx="717543" cy="201168"/>
          </a:xfrm>
          <a:prstGeom prst="roundRect">
            <a:avLst>
              <a:gd name="adj" fmla="val 22727"/>
            </a:avLst>
          </a:prstGeom>
          <a:solidFill>
            <a:schemeClr val="accent3"/>
          </a:solidFill>
          <a:ln/>
        </p:spPr>
      </p:sp>
      <p:sp>
        <p:nvSpPr>
          <p:cNvPr id="39" name="Text 36"/>
          <p:cNvSpPr txBox="1"/>
          <p:nvPr/>
        </p:nvSpPr>
        <p:spPr>
          <a:xfrm>
            <a:off x="10591495" y="4169664"/>
            <a:ext cx="1051560" cy="365760"/>
          </a:xfrm>
          <a:prstGeom prst="rect">
            <a:avLst/>
          </a:prstGeom>
          <a:noFill/>
          <a:ln/>
        </p:spPr>
        <p:txBody>
          <a:bodyPr wrap="square" lIns="0" tIns="0" rIns="0" bIns="0" rtlCol="0" anchor="ctr"/>
          <a:lstStyle/>
          <a:p>
            <a:pPr marL="0" indent="0" algn="ctr">
              <a:buNone/>
            </a:pPr>
            <a:r>
              <a:rPr lang="en-US" sz="1200" b="1" dirty="0">
                <a:solidFill>
                  <a:schemeClr val="accent3"/>
                </a:solidFill>
              </a:rPr>
              <a:t>In progress</a:t>
            </a:r>
            <a:endParaRPr lang="en-US" sz="1200" dirty="0"/>
          </a:p>
        </p:txBody>
      </p:sp>
      <p:sp>
        <p:nvSpPr>
          <p:cNvPr id="40" name="Shape 37"/>
          <p:cNvSpPr/>
          <p:nvPr/>
        </p:nvSpPr>
        <p:spPr>
          <a:xfrm>
            <a:off x="548640" y="4535424"/>
            <a:ext cx="11094415" cy="365760"/>
          </a:xfrm>
          <a:prstGeom prst="rect">
            <a:avLst/>
          </a:prstGeom>
          <a:solidFill>
            <a:srgbClr val="F3F5FE"/>
          </a:solidFill>
          <a:ln/>
        </p:spPr>
      </p:sp>
      <p:sp>
        <p:nvSpPr>
          <p:cNvPr id="41" name="Text 38"/>
          <p:cNvSpPr txBox="1"/>
          <p:nvPr/>
        </p:nvSpPr>
        <p:spPr>
          <a:xfrm>
            <a:off x="621792" y="4535424"/>
            <a:ext cx="4160520" cy="365760"/>
          </a:xfrm>
          <a:prstGeom prst="rect">
            <a:avLst/>
          </a:prstGeom>
          <a:noFill/>
          <a:ln/>
        </p:spPr>
        <p:txBody>
          <a:bodyPr wrap="square" lIns="0" tIns="0" rIns="0" bIns="0" rtlCol="0" anchor="ctr"/>
          <a:lstStyle/>
          <a:p>
            <a:pPr marL="0" indent="0" algn="l">
              <a:buNone/>
            </a:pPr>
            <a:r>
              <a:rPr lang="en-US" sz="1250" dirty="0">
                <a:solidFill>
                  <a:schemeClr val="tx1"/>
                </a:solidFill>
              </a:rPr>
              <a:t>M8  v2: Windows logs, Sigma rules, auto skew</a:t>
            </a:r>
            <a:endParaRPr lang="en-US" sz="1250" dirty="0"/>
          </a:p>
        </p:txBody>
      </p:sp>
      <p:sp>
        <p:nvSpPr>
          <p:cNvPr id="42" name="Shape 39"/>
          <p:cNvSpPr/>
          <p:nvPr/>
        </p:nvSpPr>
        <p:spPr>
          <a:xfrm>
            <a:off x="9819088" y="4617720"/>
            <a:ext cx="717543" cy="201168"/>
          </a:xfrm>
          <a:prstGeom prst="roundRect">
            <a:avLst>
              <a:gd name="adj" fmla="val 22727"/>
            </a:avLst>
          </a:prstGeom>
          <a:solidFill>
            <a:schemeClr val="accent6"/>
          </a:solidFill>
          <a:ln/>
        </p:spPr>
      </p:sp>
      <p:sp>
        <p:nvSpPr>
          <p:cNvPr id="43" name="Text 40"/>
          <p:cNvSpPr txBox="1"/>
          <p:nvPr/>
        </p:nvSpPr>
        <p:spPr>
          <a:xfrm>
            <a:off x="10591495" y="4535424"/>
            <a:ext cx="1051560" cy="365760"/>
          </a:xfrm>
          <a:prstGeom prst="rect">
            <a:avLst/>
          </a:prstGeom>
          <a:noFill/>
          <a:ln/>
        </p:spPr>
        <p:txBody>
          <a:bodyPr wrap="square" lIns="0" tIns="0" rIns="0" bIns="0" rtlCol="0" anchor="ctr"/>
          <a:lstStyle/>
          <a:p>
            <a:pPr marL="0" indent="0" algn="ctr">
              <a:buNone/>
            </a:pPr>
            <a:r>
              <a:rPr lang="en-US" sz="1200" b="1" dirty="0">
                <a:solidFill>
                  <a:schemeClr val="accent6"/>
                </a:solidFill>
              </a:rPr>
              <a:t>Planned</a:t>
            </a:r>
            <a:endParaRPr lang="en-US" sz="1200" dirty="0"/>
          </a:p>
        </p:txBody>
      </p:sp>
      <p:sp>
        <p:nvSpPr>
          <p:cNvPr id="44" name="Shape 41"/>
          <p:cNvSpPr/>
          <p:nvPr/>
        </p:nvSpPr>
        <p:spPr>
          <a:xfrm>
            <a:off x="548640" y="5074920"/>
            <a:ext cx="3545738" cy="1216152"/>
          </a:xfrm>
          <a:prstGeom prst="roundRect">
            <a:avLst>
              <a:gd name="adj" fmla="val 6015"/>
            </a:avLst>
          </a:prstGeom>
          <a:solidFill>
            <a:schemeClr val="bg2"/>
          </a:solidFill>
          <a:ln/>
        </p:spPr>
      </p:sp>
      <p:sp>
        <p:nvSpPr>
          <p:cNvPr id="45" name="Shape 42"/>
          <p:cNvSpPr/>
          <p:nvPr/>
        </p:nvSpPr>
        <p:spPr>
          <a:xfrm>
            <a:off x="685800" y="5166360"/>
            <a:ext cx="384048" cy="384048"/>
          </a:xfrm>
          <a:prstGeom prst="ellipse">
            <a:avLst/>
          </a:prstGeom>
          <a:solidFill>
            <a:schemeClr val="accent2"/>
          </a:solidFill>
          <a:ln/>
        </p:spPr>
      </p:sp>
      <p:pic>
        <p:nvPicPr>
          <p:cNvPr id="46" name="Image 0" descr="Laptop icon"/>
          <p:cNvPicPr>
            <a:picLocks noChangeAspect="1"/>
          </p:cNvPicPr>
          <p:nvPr/>
        </p:nvPicPr>
        <p:blipFill>
          <a:blip r:embed="rId3"/>
          <a:stretch>
            <a:fillRect/>
          </a:stretch>
        </p:blipFill>
        <p:spPr>
          <a:xfrm>
            <a:off x="777972" y="5258532"/>
            <a:ext cx="199705" cy="199705"/>
          </a:xfrm>
          <a:prstGeom prst="rect">
            <a:avLst/>
          </a:prstGeom>
        </p:spPr>
      </p:pic>
      <p:sp>
        <p:nvSpPr>
          <p:cNvPr id="47" name="Text 43"/>
          <p:cNvSpPr txBox="1"/>
          <p:nvPr/>
        </p:nvSpPr>
        <p:spPr>
          <a:xfrm>
            <a:off x="1170432" y="5166360"/>
            <a:ext cx="2814218" cy="384048"/>
          </a:xfrm>
          <a:prstGeom prst="rect">
            <a:avLst/>
          </a:prstGeom>
          <a:noFill/>
          <a:ln/>
        </p:spPr>
        <p:txBody>
          <a:bodyPr wrap="square" lIns="0" tIns="0" rIns="0" bIns="0" rtlCol="0" anchor="ctr"/>
          <a:lstStyle/>
          <a:p>
            <a:pPr marL="0" indent="0" algn="l">
              <a:buNone/>
            </a:pPr>
            <a:r>
              <a:rPr lang="en-US" sz="1300" b="1" dirty="0">
                <a:solidFill>
                  <a:schemeClr val="accent2"/>
                </a:solidFill>
              </a:rPr>
              <a:t>Laptop (offline)</a:t>
            </a:r>
            <a:endParaRPr lang="en-US" sz="1300" dirty="0"/>
          </a:p>
        </p:txBody>
      </p:sp>
      <p:sp>
        <p:nvSpPr>
          <p:cNvPr id="48" name="Text 44"/>
          <p:cNvSpPr txBox="1"/>
          <p:nvPr/>
        </p:nvSpPr>
        <p:spPr>
          <a:xfrm>
            <a:off x="731520" y="5596128"/>
            <a:ext cx="3225698" cy="658368"/>
          </a:xfrm>
          <a:prstGeom prst="rect">
            <a:avLst/>
          </a:prstGeom>
          <a:noFill/>
          <a:ln/>
        </p:spPr>
        <p:txBody>
          <a:bodyPr wrap="square" lIns="0" tIns="0" rIns="0" bIns="0" rtlCol="0" anchor="t"/>
          <a:lstStyle/>
          <a:p>
            <a:pPr marL="0" indent="0" algn="l">
              <a:buNone/>
            </a:pPr>
            <a:r>
              <a:rPr lang="en-US" sz="1100" dirty="0">
                <a:solidFill>
                  <a:schemeClr val="tx1"/>
                </a:solidFill>
                <a:latin typeface="Courier New" pitchFamily="34" charset="0"/>
                <a:ea typeface="Courier New" pitchFamily="34" charset="-122"/>
                <a:cs typeface="Courier New" pitchFamily="34" charset="-120"/>
              </a:rPr>
              <a:t>pip install -r requirements.txt</a:t>
            </a:r>
            <a:endParaRPr lang="en-US" sz="1200" dirty="0"/>
          </a:p>
          <a:p>
            <a:pPr marL="0" indent="0" algn="l">
              <a:buNone/>
            </a:pPr>
            <a:r>
              <a:rPr lang="en-US" sz="1100" dirty="0">
                <a:solidFill>
                  <a:schemeClr val="tx1"/>
                </a:solidFill>
                <a:latin typeface="Courier New" pitchFamily="34" charset="0"/>
                <a:ea typeface="Courier New" pitchFamily="34" charset="-122"/>
                <a:cs typeface="Courier New" pitchFamily="34" charset="-120"/>
              </a:rPr>
              <a:t>python run.py demo</a:t>
            </a:r>
            <a:endParaRPr lang="en-US" sz="1200" dirty="0"/>
          </a:p>
          <a:p>
            <a:pPr marL="0" indent="0" algn="l">
              <a:buNone/>
            </a:pPr>
            <a:r>
              <a:rPr lang="en-US" sz="1100" dirty="0">
                <a:solidFill>
                  <a:schemeClr val="tx1"/>
                </a:solidFill>
                <a:latin typeface="Courier New" pitchFamily="34" charset="0"/>
                <a:ea typeface="Courier New" pitchFamily="34" charset="-122"/>
                <a:cs typeface="Courier New" pitchFamily="34" charset="-120"/>
              </a:rPr>
              <a:t>streamlit run app.py (port 8080)</a:t>
            </a:r>
            <a:endParaRPr lang="en-US" sz="1200" dirty="0"/>
          </a:p>
        </p:txBody>
      </p:sp>
      <p:sp>
        <p:nvSpPr>
          <p:cNvPr id="49" name="Shape 45"/>
          <p:cNvSpPr/>
          <p:nvPr/>
        </p:nvSpPr>
        <p:spPr>
          <a:xfrm>
            <a:off x="4322978" y="5074920"/>
            <a:ext cx="3545738" cy="1216152"/>
          </a:xfrm>
          <a:prstGeom prst="roundRect">
            <a:avLst>
              <a:gd name="adj" fmla="val 6015"/>
            </a:avLst>
          </a:prstGeom>
          <a:solidFill>
            <a:schemeClr val="bg2"/>
          </a:solidFill>
          <a:ln/>
        </p:spPr>
      </p:sp>
      <p:sp>
        <p:nvSpPr>
          <p:cNvPr id="50" name="Shape 46"/>
          <p:cNvSpPr/>
          <p:nvPr/>
        </p:nvSpPr>
        <p:spPr>
          <a:xfrm>
            <a:off x="4460138" y="5166360"/>
            <a:ext cx="384048" cy="384048"/>
          </a:xfrm>
          <a:prstGeom prst="ellipse">
            <a:avLst/>
          </a:prstGeom>
          <a:solidFill>
            <a:schemeClr val="accent2"/>
          </a:solidFill>
          <a:ln/>
        </p:spPr>
      </p:sp>
      <p:pic>
        <p:nvPicPr>
          <p:cNvPr id="51" name="Image 1" descr="Globe icon"/>
          <p:cNvPicPr>
            <a:picLocks noChangeAspect="1"/>
          </p:cNvPicPr>
          <p:nvPr/>
        </p:nvPicPr>
        <p:blipFill>
          <a:blip r:embed="rId4"/>
          <a:stretch>
            <a:fillRect/>
          </a:stretch>
        </p:blipFill>
        <p:spPr>
          <a:xfrm>
            <a:off x="4552310" y="5258532"/>
            <a:ext cx="199705" cy="199705"/>
          </a:xfrm>
          <a:prstGeom prst="rect">
            <a:avLst/>
          </a:prstGeom>
        </p:spPr>
      </p:pic>
      <p:sp>
        <p:nvSpPr>
          <p:cNvPr id="52" name="Text 47"/>
          <p:cNvSpPr txBox="1"/>
          <p:nvPr/>
        </p:nvSpPr>
        <p:spPr>
          <a:xfrm>
            <a:off x="4944770" y="5166360"/>
            <a:ext cx="2814218" cy="384048"/>
          </a:xfrm>
          <a:prstGeom prst="rect">
            <a:avLst/>
          </a:prstGeom>
          <a:noFill/>
          <a:ln/>
        </p:spPr>
        <p:txBody>
          <a:bodyPr wrap="square" lIns="0" tIns="0" rIns="0" bIns="0" rtlCol="0" anchor="ctr"/>
          <a:lstStyle/>
          <a:p>
            <a:pPr marL="0" indent="0" algn="l">
              <a:buNone/>
            </a:pPr>
            <a:r>
              <a:rPr lang="en-US" sz="1300" b="1" dirty="0">
                <a:solidFill>
                  <a:schemeClr val="accent2"/>
                </a:solidFill>
              </a:rPr>
              <a:t>Browser (zero-install)</a:t>
            </a:r>
            <a:endParaRPr lang="en-US" sz="1300" dirty="0"/>
          </a:p>
        </p:txBody>
      </p:sp>
      <p:sp>
        <p:nvSpPr>
          <p:cNvPr id="53" name="Text 48"/>
          <p:cNvSpPr txBox="1"/>
          <p:nvPr/>
        </p:nvSpPr>
        <p:spPr>
          <a:xfrm>
            <a:off x="4505858" y="5596128"/>
            <a:ext cx="3225698" cy="658368"/>
          </a:xfrm>
          <a:prstGeom prst="rect">
            <a:avLst/>
          </a:prstGeom>
          <a:noFill/>
          <a:ln/>
        </p:spPr>
        <p:txBody>
          <a:bodyPr wrap="square" lIns="0" tIns="0" rIns="0" bIns="0" rtlCol="0" anchor="t"/>
          <a:lstStyle/>
          <a:p>
            <a:pPr marL="0" indent="0" algn="l">
              <a:buNone/>
            </a:pPr>
            <a:r>
              <a:rPr lang="en-US" sz="1200" dirty="0">
                <a:solidFill>
                  <a:schemeClr val="tx1"/>
                </a:solidFill>
              </a:rPr>
              <a:t>Static app on AppDeploy; hashing and analysis run in the browser:</a:t>
            </a:r>
            <a:endParaRPr lang="en-US" sz="1200" dirty="0"/>
          </a:p>
          <a:p>
            <a:pPr marL="0" indent="0" algn="l">
              <a:buNone/>
            </a:pPr>
            <a:r>
              <a:rPr lang="en-US" sz="1200" u="sng" dirty="0">
                <a:solidFill>
                  <a:schemeClr val="accent1"/>
                </a:solidFill>
                <a:hlinkClick r:id="rId5">
                  <a:extLst>
                    <a:ext uri="{A12FA001-AC4F-418D-AE19-62706E023703}">
                      <ahyp:hlinkClr xmlns:ahyp="http://schemas.microsoft.com/office/drawing/2018/hyperlinkcolor" val="tx"/>
                    </a:ext>
                  </a:extLst>
                </a:hlinkClick>
              </a:rPr>
              <a:t>forensic-timeline-showcase-xwfgup.v2.appdeploy.ai</a:t>
            </a:r>
            <a:endParaRPr lang="en-US" sz="1200" dirty="0"/>
          </a:p>
        </p:txBody>
      </p:sp>
      <p:sp>
        <p:nvSpPr>
          <p:cNvPr id="54" name="Shape 49"/>
          <p:cNvSpPr/>
          <p:nvPr/>
        </p:nvSpPr>
        <p:spPr>
          <a:xfrm>
            <a:off x="8097317" y="5074920"/>
            <a:ext cx="3545738" cy="1216152"/>
          </a:xfrm>
          <a:prstGeom prst="roundRect">
            <a:avLst>
              <a:gd name="adj" fmla="val 6015"/>
            </a:avLst>
          </a:prstGeom>
          <a:solidFill>
            <a:schemeClr val="bg2"/>
          </a:solidFill>
          <a:ln/>
        </p:spPr>
      </p:sp>
      <p:sp>
        <p:nvSpPr>
          <p:cNvPr id="55" name="Shape 50"/>
          <p:cNvSpPr/>
          <p:nvPr/>
        </p:nvSpPr>
        <p:spPr>
          <a:xfrm>
            <a:off x="8234477" y="5166360"/>
            <a:ext cx="384048" cy="384048"/>
          </a:xfrm>
          <a:prstGeom prst="ellipse">
            <a:avLst/>
          </a:prstGeom>
          <a:solidFill>
            <a:schemeClr val="accent2"/>
          </a:solidFill>
          <a:ln/>
        </p:spPr>
      </p:sp>
      <p:pic>
        <p:nvPicPr>
          <p:cNvPr id="56" name="Image 2" descr="Vial icon"/>
          <p:cNvPicPr>
            <a:picLocks noChangeAspect="1"/>
          </p:cNvPicPr>
          <p:nvPr/>
        </p:nvPicPr>
        <p:blipFill>
          <a:blip r:embed="rId6"/>
          <a:stretch>
            <a:fillRect/>
          </a:stretch>
        </p:blipFill>
        <p:spPr>
          <a:xfrm>
            <a:off x="8326648" y="5258532"/>
            <a:ext cx="199705" cy="199705"/>
          </a:xfrm>
          <a:prstGeom prst="rect">
            <a:avLst/>
          </a:prstGeom>
        </p:spPr>
      </p:pic>
      <p:sp>
        <p:nvSpPr>
          <p:cNvPr id="57" name="Text 51"/>
          <p:cNvSpPr txBox="1"/>
          <p:nvPr/>
        </p:nvSpPr>
        <p:spPr>
          <a:xfrm>
            <a:off x="8719109" y="5166360"/>
            <a:ext cx="2814218" cy="384048"/>
          </a:xfrm>
          <a:prstGeom prst="rect">
            <a:avLst/>
          </a:prstGeom>
          <a:noFill/>
          <a:ln/>
        </p:spPr>
        <p:txBody>
          <a:bodyPr wrap="square" lIns="0" tIns="0" rIns="0" bIns="0" rtlCol="0" anchor="ctr"/>
          <a:lstStyle/>
          <a:p>
            <a:pPr marL="0" indent="0" algn="l">
              <a:buNone/>
            </a:pPr>
            <a:r>
              <a:rPr lang="en-US" sz="1300" b="1" dirty="0">
                <a:solidFill>
                  <a:schemeClr val="accent2"/>
                </a:solidFill>
              </a:rPr>
              <a:t>Quality gates</a:t>
            </a:r>
            <a:endParaRPr lang="en-US" sz="1300" dirty="0"/>
          </a:p>
        </p:txBody>
      </p:sp>
      <p:sp>
        <p:nvSpPr>
          <p:cNvPr id="58" name="Text 52"/>
          <p:cNvSpPr txBox="1"/>
          <p:nvPr/>
        </p:nvSpPr>
        <p:spPr>
          <a:xfrm>
            <a:off x="8280197" y="5596128"/>
            <a:ext cx="3225698" cy="658368"/>
          </a:xfrm>
          <a:prstGeom prst="rect">
            <a:avLst/>
          </a:prstGeom>
          <a:noFill/>
          <a:ln/>
        </p:spPr>
        <p:txBody>
          <a:bodyPr wrap="square" lIns="0" tIns="0" rIns="0" bIns="0" rtlCol="0" anchor="t"/>
          <a:lstStyle/>
          <a:p>
            <a:pPr marL="0" indent="0" algn="l">
              <a:buNone/>
            </a:pPr>
            <a:r>
              <a:rPr lang="en-US" sz="1200" dirty="0">
                <a:solidFill>
                  <a:schemeClr val="tx1"/>
                </a:solidFill>
              </a:rPr>
              <a:t>14 pytest tests, validation scorecard, real-world cross-checks, Python ↔ TypeScript parity</a:t>
            </a:r>
            <a:endParaRPr lang="en-US" sz="1200" dirty="0"/>
          </a:p>
        </p:txBody>
      </p:sp>
      <p:sp>
        <p:nvSpPr>
          <p:cNvPr id="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91440"/>
            <a:ext cx="11094415" cy="274320"/>
          </a:xfrm>
          <a:prstGeom prst="rect">
            <a:avLst/>
          </a:prstGeom>
          <a:noFill/>
          <a:ln/>
        </p:spPr>
        <p:txBody>
          <a:bodyPr wrap="square" lIns="0" tIns="0" rIns="0" bIns="0" rtlCol="0" anchor="ctr"/>
          <a:lstStyle/>
          <a:p>
            <a:pPr marL="0" indent="0" algn="ctr">
              <a:buNone/>
            </a:pPr>
            <a:r>
              <a:rPr lang="en-US" sz="1000" b="1" dirty="0">
                <a:solidFill>
                  <a:schemeClr val="accent1"/>
                </a:solidFill>
              </a:rPr>
              <a:t>AIORI 3</a:t>
            </a:r>
            <a:r>
              <a:rPr lang="en-US" sz="1000" dirty="0">
                <a:solidFill>
                  <a:schemeClr val="accent1"/>
                </a:solidFill>
              </a:rPr>
              <a:t>      Bibliography</a:t>
            </a:r>
            <a:endParaRPr lang="en-US" sz="1000" dirty="0"/>
          </a:p>
        </p:txBody>
      </p:sp>
      <p:sp>
        <p:nvSpPr>
          <p:cNvPr id="3" name="Text 0"/>
          <p:cNvSpPr>
            <a:spLocks noGrp="1"/>
          </p:cNvSpPr>
          <p:nvPr>
            <p:ph type="title" idx="101" hasCustomPrompt="1"/>
          </p:nvPr>
        </p:nvSpPr>
        <p:spPr>
          <a:xfrm>
            <a:off x="548640" y="384048"/>
            <a:ext cx="11094415" cy="640080"/>
          </a:xfrm>
          <a:prstGeom prst="rect">
            <a:avLst/>
          </a:prstGeom>
          <a:noFill/>
          <a:ln/>
        </p:spPr>
        <p:txBody>
          <a:bodyPr wrap="square" lIns="0" tIns="0" rIns="0" bIns="0" rtlCol="0" anchor="ctr"/>
          <a:lstStyle/>
          <a:p>
            <a:pPr marL="0" indent="0" algn="l">
              <a:buNone/>
            </a:pPr>
            <a:r>
              <a:rPr lang="en-US" sz="3000" b="1" dirty="0">
                <a:solidFill>
                  <a:schemeClr val="accent1"/>
                </a:solidFill>
              </a:rPr>
              <a:t>Bibliography</a:t>
            </a:r>
            <a:endParaRPr lang="en-US" sz="3000" dirty="0"/>
          </a:p>
        </p:txBody>
      </p:sp>
      <p:sp>
        <p:nvSpPr>
          <p:cNvPr id="4" name="Text 0"/>
          <p:cNvSpPr>
            <a:spLocks noGrp="1"/>
          </p:cNvSpPr>
          <p:nvPr>
            <p:ph type="body" idx="102" hasCustomPrompt="1"/>
          </p:nvPr>
        </p:nvSpPr>
        <p:spPr>
          <a:xfrm>
            <a:off x="548640" y="1024128"/>
            <a:ext cx="11094415" cy="502920"/>
          </a:xfrm>
          <a:prstGeom prst="rect">
            <a:avLst/>
          </a:prstGeom>
          <a:noFill/>
          <a:ln/>
        </p:spPr>
        <p:txBody>
          <a:bodyPr wrap="square" lIns="0" tIns="0" rIns="0" bIns="0" rtlCol="0" anchor="ctr"/>
          <a:lstStyle/>
          <a:p>
            <a:pPr marL="0" indent="0" algn="l">
              <a:buNone/>
            </a:pPr>
            <a:r>
              <a:rPr lang="en-US" sz="1600" b="1" dirty="0">
                <a:solidFill>
                  <a:schemeClr val="tx1"/>
                </a:solidFill>
              </a:rPr>
              <a:t>Standards, RFCs, research papers, datasets and tools cited in this proposal</a:t>
            </a:r>
            <a:endParaRPr lang="en-US" sz="1600" dirty="0"/>
          </a:p>
        </p:txBody>
      </p:sp>
      <p:sp>
        <p:nvSpPr>
          <p:cNvPr id="6" name="Text 3"/>
          <p:cNvSpPr txBox="1"/>
          <p:nvPr/>
        </p:nvSpPr>
        <p:spPr>
          <a:xfrm>
            <a:off x="548640" y="1627632"/>
            <a:ext cx="5440680" cy="4663440"/>
          </a:xfrm>
          <a:prstGeom prst="rect">
            <a:avLst/>
          </a:prstGeom>
          <a:noFill/>
          <a:ln/>
        </p:spPr>
        <p:txBody>
          <a:bodyPr wrap="square" lIns="0" tIns="0" rIns="0" bIns="0" rtlCol="0" anchor="t"/>
          <a:lstStyle/>
          <a:p>
            <a:pPr marL="0" indent="0">
              <a:spcAft>
                <a:spcPts val="500"/>
              </a:spcAft>
              <a:buNone/>
            </a:pPr>
            <a:r>
              <a:rPr lang="en-US" sz="1100" b="1" dirty="0">
                <a:solidFill>
                  <a:schemeClr val="accent1"/>
                </a:solidFill>
              </a:rPr>
              <a:t>[1]  </a:t>
            </a:r>
            <a:r>
              <a:rPr lang="en-US" sz="1100" dirty="0">
                <a:solidFill>
                  <a:schemeClr val="tx1"/>
                </a:solidFill>
              </a:rPr>
              <a:t>K. Kent, S. Chevalier, T. Grance and H. Dang, “Guide to Integrating Forensic Techniques into Incident Response,” NIST SP 800-86, 2006.</a:t>
            </a:r>
            <a:endParaRPr lang="en-US" sz="1100" dirty="0"/>
          </a:p>
          <a:p>
            <a:pPr marL="0" indent="0">
              <a:spcAft>
                <a:spcPts val="500"/>
              </a:spcAft>
              <a:buNone/>
            </a:pPr>
            <a:r>
              <a:rPr lang="en-US" sz="1100" b="1" dirty="0">
                <a:solidFill>
                  <a:schemeClr val="accent1"/>
                </a:solidFill>
              </a:rPr>
              <a:t>[2]  </a:t>
            </a:r>
            <a:r>
              <a:rPr lang="en-US" sz="1100" dirty="0">
                <a:solidFill>
                  <a:schemeClr val="tx1"/>
                </a:solidFill>
              </a:rPr>
              <a:t>P. Cichonski, T. Millar, T. Grance and K. Scarfone, “Computer Security Incident Handling Guide,” NIST SP 800-61 Rev. 2, 2012.</a:t>
            </a:r>
            <a:endParaRPr lang="en-US" sz="1100" dirty="0"/>
          </a:p>
          <a:p>
            <a:pPr marL="0" indent="0">
              <a:spcAft>
                <a:spcPts val="500"/>
              </a:spcAft>
              <a:buNone/>
            </a:pPr>
            <a:r>
              <a:rPr lang="en-US" sz="1100" b="1" dirty="0">
                <a:solidFill>
                  <a:schemeClr val="accent1"/>
                </a:solidFill>
              </a:rPr>
              <a:t>[3]  </a:t>
            </a:r>
            <a:r>
              <a:rPr lang="en-US" sz="1100" dirty="0">
                <a:solidFill>
                  <a:schemeClr val="tx1"/>
                </a:solidFill>
              </a:rPr>
              <a:t>K. Kent and M. Souppaya, “Guide to Computer Security Log Management,” NIST SP 800-92, 2006.</a:t>
            </a:r>
            <a:endParaRPr lang="en-US" sz="1100" dirty="0"/>
          </a:p>
          <a:p>
            <a:pPr marL="0" indent="0">
              <a:spcAft>
                <a:spcPts val="500"/>
              </a:spcAft>
              <a:buNone/>
            </a:pPr>
            <a:r>
              <a:rPr lang="en-US" sz="1100" b="1" dirty="0">
                <a:solidFill>
                  <a:schemeClr val="accent1"/>
                </a:solidFill>
              </a:rPr>
              <a:t>[4]  </a:t>
            </a:r>
            <a:r>
              <a:rPr lang="en-US" sz="1100" dirty="0">
                <a:solidFill>
                  <a:schemeClr val="tx1"/>
                </a:solidFill>
              </a:rPr>
              <a:t>D. Brezinski and T. Killalea, “Guidelines for Evidence Collection and Archiving,” RFC 3227 (BCP 55), IETF, 2002.</a:t>
            </a:r>
            <a:endParaRPr lang="en-US" sz="1100" dirty="0"/>
          </a:p>
          <a:p>
            <a:pPr marL="0" indent="0">
              <a:spcAft>
                <a:spcPts val="500"/>
              </a:spcAft>
              <a:buNone/>
            </a:pPr>
            <a:r>
              <a:rPr lang="en-US" sz="1100" b="1" dirty="0">
                <a:solidFill>
                  <a:schemeClr val="accent1"/>
                </a:solidFill>
              </a:rPr>
              <a:t>[5]  </a:t>
            </a:r>
            <a:r>
              <a:rPr lang="en-US" sz="1100" dirty="0">
                <a:solidFill>
                  <a:schemeClr val="tx1"/>
                </a:solidFill>
              </a:rPr>
              <a:t>ISO/IEC 27037:2012, “Guidelines for identification, collection, acquisition and preservation of digital evidence.”</a:t>
            </a:r>
            <a:endParaRPr lang="en-US" sz="1100" dirty="0"/>
          </a:p>
          <a:p>
            <a:pPr marL="0" indent="0">
              <a:spcAft>
                <a:spcPts val="500"/>
              </a:spcAft>
              <a:buNone/>
            </a:pPr>
            <a:r>
              <a:rPr lang="en-US" sz="1100" b="1" dirty="0">
                <a:solidFill>
                  <a:schemeClr val="accent1"/>
                </a:solidFill>
              </a:rPr>
              <a:t>[6]  </a:t>
            </a:r>
            <a:r>
              <a:rPr lang="en-US" sz="1100" dirty="0">
                <a:solidFill>
                  <a:schemeClr val="tx1"/>
                </a:solidFill>
              </a:rPr>
              <a:t>C. Lonvick, “The BSD syslog Protocol,” RFC 3164, IETF, 2001.</a:t>
            </a:r>
            <a:endParaRPr lang="en-US" sz="1100" dirty="0"/>
          </a:p>
          <a:p>
            <a:pPr marL="0" indent="0">
              <a:spcAft>
                <a:spcPts val="500"/>
              </a:spcAft>
              <a:buNone/>
            </a:pPr>
            <a:r>
              <a:rPr lang="en-US" sz="1100" b="1" dirty="0">
                <a:solidFill>
                  <a:schemeClr val="accent1"/>
                </a:solidFill>
              </a:rPr>
              <a:t>[7]  </a:t>
            </a:r>
            <a:r>
              <a:rPr lang="en-US" sz="1100" dirty="0">
                <a:solidFill>
                  <a:schemeClr val="tx1"/>
                </a:solidFill>
              </a:rPr>
              <a:t>R. Gerhards, “The Syslog Protocol,” RFC 5424, IETF, 2009.</a:t>
            </a:r>
            <a:endParaRPr lang="en-US" sz="1100" dirty="0"/>
          </a:p>
          <a:p>
            <a:pPr marL="0" indent="0">
              <a:spcAft>
                <a:spcPts val="500"/>
              </a:spcAft>
              <a:buNone/>
            </a:pPr>
            <a:r>
              <a:rPr lang="en-US" sz="1100" b="1" dirty="0">
                <a:solidFill>
                  <a:schemeClr val="accent1"/>
                </a:solidFill>
              </a:rPr>
              <a:t>[8]  </a:t>
            </a:r>
            <a:r>
              <a:rPr lang="en-US" sz="1100" dirty="0">
                <a:solidFill>
                  <a:schemeClr val="tx1"/>
                </a:solidFill>
              </a:rPr>
              <a:t>G. Klyne and C. Newman, “Date and Time on the Internet: Timestamps,” RFC 3339, IETF, 2002.</a:t>
            </a:r>
            <a:endParaRPr lang="en-US" sz="1100" dirty="0"/>
          </a:p>
          <a:p>
            <a:pPr marL="0" indent="0">
              <a:spcAft>
                <a:spcPts val="500"/>
              </a:spcAft>
              <a:buNone/>
            </a:pPr>
            <a:r>
              <a:rPr lang="en-US" sz="1100" b="1" dirty="0">
                <a:solidFill>
                  <a:schemeClr val="accent1"/>
                </a:solidFill>
              </a:rPr>
              <a:t>[9]  </a:t>
            </a:r>
            <a:r>
              <a:rPr lang="en-US" sz="1100" dirty="0">
                <a:solidFill>
                  <a:schemeClr val="tx1"/>
                </a:solidFill>
              </a:rPr>
              <a:t>D. Mills, J. Martin, J. Burbank and W. Kasch, “Network Time Protocol Version 4,” RFC 5905, IETF, 2010.</a:t>
            </a:r>
            <a:endParaRPr lang="en-US" sz="1100" dirty="0"/>
          </a:p>
          <a:p>
            <a:pPr marL="0" indent="0">
              <a:spcAft>
                <a:spcPts val="500"/>
              </a:spcAft>
              <a:buNone/>
            </a:pPr>
            <a:r>
              <a:rPr lang="en-US" sz="1100" b="1" dirty="0">
                <a:solidFill>
                  <a:schemeClr val="accent1"/>
                </a:solidFill>
              </a:rPr>
              <a:t>[10]  </a:t>
            </a:r>
            <a:r>
              <a:rPr lang="en-US" sz="1100" dirty="0">
                <a:solidFill>
                  <a:schemeClr val="tx1"/>
                </a:solidFill>
              </a:rPr>
              <a:t>E. Lear and P. Eggert, “Procedures for Maintaining the Time Zone Database,” RFC 6557 (BCP 175), IETF, 2012.</a:t>
            </a:r>
            <a:endParaRPr lang="en-US" sz="1100" dirty="0"/>
          </a:p>
          <a:p>
            <a:pPr marL="0" indent="0">
              <a:spcAft>
                <a:spcPts val="500"/>
              </a:spcAft>
              <a:buNone/>
            </a:pPr>
            <a:r>
              <a:rPr lang="en-US" sz="1100" b="1" dirty="0">
                <a:solidFill>
                  <a:schemeClr val="accent1"/>
                </a:solidFill>
              </a:rPr>
              <a:t>[11]  </a:t>
            </a:r>
            <a:r>
              <a:rPr lang="en-US" sz="1100" dirty="0">
                <a:solidFill>
                  <a:schemeClr val="tx1"/>
                </a:solidFill>
              </a:rPr>
              <a:t>NIST, “Secure Hash Standard (SHS),” FIPS PUB 180-4, 2015.</a:t>
            </a:r>
            <a:endParaRPr lang="en-US" sz="1100" dirty="0"/>
          </a:p>
          <a:p>
            <a:pPr marL="0" indent="0">
              <a:spcAft>
                <a:spcPts val="500"/>
              </a:spcAft>
              <a:buNone/>
            </a:pPr>
            <a:r>
              <a:rPr lang="en-US" sz="1100" b="1" dirty="0">
                <a:solidFill>
                  <a:schemeClr val="accent1"/>
                </a:solidFill>
              </a:rPr>
              <a:t>[12]  </a:t>
            </a:r>
            <a:r>
              <a:rPr lang="en-US" sz="1100" dirty="0">
                <a:solidFill>
                  <a:schemeClr val="tx1"/>
                </a:solidFill>
              </a:rPr>
              <a:t>R. Fielding, M. Nottingham and J. Reschke, “HTTP Semantics,” RFC 9110 (STD 97), IETF, 2022.</a:t>
            </a:r>
            <a:endParaRPr lang="en-US" sz="1100" dirty="0"/>
          </a:p>
        </p:txBody>
      </p:sp>
      <p:sp>
        <p:nvSpPr>
          <p:cNvPr id="7" name="Text 4"/>
          <p:cNvSpPr txBox="1"/>
          <p:nvPr/>
        </p:nvSpPr>
        <p:spPr>
          <a:xfrm>
            <a:off x="6199632" y="1627632"/>
            <a:ext cx="5440680" cy="4663440"/>
          </a:xfrm>
          <a:prstGeom prst="rect">
            <a:avLst/>
          </a:prstGeom>
          <a:noFill/>
          <a:ln/>
        </p:spPr>
        <p:txBody>
          <a:bodyPr wrap="square" lIns="0" tIns="0" rIns="0" bIns="0" rtlCol="0" anchor="t"/>
          <a:lstStyle/>
          <a:p>
            <a:pPr marL="0" indent="0">
              <a:spcAft>
                <a:spcPts val="500"/>
              </a:spcAft>
              <a:buNone/>
            </a:pPr>
            <a:r>
              <a:rPr lang="en-US" sz="1100" b="1" dirty="0">
                <a:solidFill>
                  <a:schemeClr val="accent1"/>
                </a:solidFill>
              </a:rPr>
              <a:t>[13]  </a:t>
            </a:r>
            <a:r>
              <a:rPr lang="en-US" sz="1100" dirty="0">
                <a:solidFill>
                  <a:schemeClr val="tx1"/>
                </a:solidFill>
              </a:rPr>
              <a:t>B. E. Strom et al., “MITRE ATT&amp;CK: Design and Philosophy,” The MITRE Corporation, 2018 (rev. 2020).</a:t>
            </a:r>
            <a:endParaRPr lang="en-US" sz="1100" dirty="0"/>
          </a:p>
          <a:p>
            <a:pPr marL="0" indent="0">
              <a:spcAft>
                <a:spcPts val="500"/>
              </a:spcAft>
              <a:buNone/>
            </a:pPr>
            <a:r>
              <a:rPr lang="en-US" sz="1100" b="1" dirty="0">
                <a:solidFill>
                  <a:schemeClr val="accent1"/>
                </a:solidFill>
              </a:rPr>
              <a:t>[14]  </a:t>
            </a:r>
            <a:r>
              <a:rPr lang="en-US" sz="1100" dirty="0">
                <a:solidFill>
                  <a:schemeClr val="tx1"/>
                </a:solidFill>
              </a:rPr>
              <a:t>E. M. Hutchins, M. J. Cloppert and R. M. Amin, “Intelligence-Driven Computer Network Defense Informed by Analysis of Adversary Campaigns and Intrusion Kill Chains,” 2011.</a:t>
            </a:r>
            <a:endParaRPr lang="en-US" sz="1100" dirty="0"/>
          </a:p>
          <a:p>
            <a:pPr marL="0" indent="0">
              <a:spcAft>
                <a:spcPts val="500"/>
              </a:spcAft>
              <a:buNone/>
            </a:pPr>
            <a:r>
              <a:rPr lang="en-US" sz="1100" b="1" dirty="0">
                <a:solidFill>
                  <a:schemeClr val="accent1"/>
                </a:solidFill>
              </a:rPr>
              <a:t>[15]  </a:t>
            </a:r>
            <a:r>
              <a:rPr lang="en-US" sz="1100" dirty="0">
                <a:solidFill>
                  <a:schemeClr val="tx1"/>
                </a:solidFill>
              </a:rPr>
              <a:t>C. Boyd and P. Forster, “Time and date issues in forensic computing: a case study,” Digital Investigation 1(1), pp. 18–23, 2004.</a:t>
            </a:r>
            <a:endParaRPr lang="en-US" sz="1100" dirty="0"/>
          </a:p>
          <a:p>
            <a:pPr marL="0" indent="0">
              <a:spcAft>
                <a:spcPts val="500"/>
              </a:spcAft>
              <a:buNone/>
            </a:pPr>
            <a:r>
              <a:rPr lang="en-US" sz="1100" b="1" dirty="0">
                <a:solidFill>
                  <a:schemeClr val="accent1"/>
                </a:solidFill>
              </a:rPr>
              <a:t>[16]  </a:t>
            </a:r>
            <a:r>
              <a:rPr lang="en-US" sz="1100" dirty="0">
                <a:solidFill>
                  <a:schemeClr val="tx1"/>
                </a:solidFill>
              </a:rPr>
              <a:t>B. Schatz, G. Mohay and A. Clark, “A correlation method for establishing provenance of timestamps in digital evidence,” Digital Investigation 3S, pp. 98–107, 2006.</a:t>
            </a:r>
            <a:endParaRPr lang="en-US" sz="1100" dirty="0"/>
          </a:p>
          <a:p>
            <a:pPr marL="0" indent="0">
              <a:spcAft>
                <a:spcPts val="500"/>
              </a:spcAft>
              <a:buNone/>
            </a:pPr>
            <a:r>
              <a:rPr lang="en-US" sz="1100" b="1" dirty="0">
                <a:solidFill>
                  <a:schemeClr val="accent1"/>
                </a:solidFill>
              </a:rPr>
              <a:t>[17]  </a:t>
            </a:r>
            <a:r>
              <a:rPr lang="en-US" sz="1100" dirty="0">
                <a:solidFill>
                  <a:schemeClr val="tx1"/>
                </a:solidFill>
              </a:rPr>
              <a:t>C. Hargreaves and J. Patterson, “An automated timeline reconstruction approach for digital forensic investigations,” Digital Investigation 9S, pp. S69–S79, 2012.</a:t>
            </a:r>
            <a:endParaRPr lang="en-US" sz="1100" dirty="0"/>
          </a:p>
          <a:p>
            <a:pPr marL="0" indent="0">
              <a:spcAft>
                <a:spcPts val="500"/>
              </a:spcAft>
              <a:buNone/>
            </a:pPr>
            <a:r>
              <a:rPr lang="en-US" sz="1100" b="1" dirty="0">
                <a:solidFill>
                  <a:schemeClr val="accent1"/>
                </a:solidFill>
              </a:rPr>
              <a:t>[18]  </a:t>
            </a:r>
            <a:r>
              <a:rPr lang="en-US" sz="1100" dirty="0">
                <a:solidFill>
                  <a:schemeClr val="tx1"/>
                </a:solidFill>
              </a:rPr>
              <a:t>K. Gudjonsson, “Mastering the Super Timeline With log2timeline,” SANS Institute, 2010.</a:t>
            </a:r>
            <a:endParaRPr lang="en-US" sz="1100" dirty="0"/>
          </a:p>
          <a:p>
            <a:pPr marL="0" indent="0">
              <a:spcAft>
                <a:spcPts val="500"/>
              </a:spcAft>
              <a:buNone/>
            </a:pPr>
            <a:r>
              <a:rPr lang="en-US" sz="1100" b="1" dirty="0">
                <a:solidFill>
                  <a:schemeClr val="accent1"/>
                </a:solidFill>
              </a:rPr>
              <a:t>[19]  </a:t>
            </a:r>
            <a:r>
              <a:rPr lang="en-US" sz="1100" dirty="0">
                <a:solidFill>
                  <a:schemeClr val="tx1"/>
                </a:solidFill>
              </a:rPr>
              <a:t>J. Zhu, S. He, P. He, J. Liu and M. R. Lyu, “Loghub: A Large Collection of System Log Datasets for AI-driven Log Analytics,” IEEE ISSRE, 2023.</a:t>
            </a:r>
            <a:endParaRPr lang="en-US" sz="1100" dirty="0"/>
          </a:p>
          <a:p>
            <a:pPr marL="0" indent="0">
              <a:spcAft>
                <a:spcPts val="500"/>
              </a:spcAft>
              <a:buNone/>
            </a:pPr>
            <a:r>
              <a:rPr lang="en-US" sz="1100" b="1" dirty="0">
                <a:solidFill>
                  <a:schemeClr val="accent1"/>
                </a:solidFill>
              </a:rPr>
              <a:t>[20]  </a:t>
            </a:r>
            <a:r>
              <a:rPr lang="en-US" sz="1100" dirty="0">
                <a:solidFill>
                  <a:schemeClr val="tx1"/>
                </a:solidFill>
              </a:rPr>
              <a:t>OWASP Foundation, “OWASP Top 10 for Large Language Model Applications,” v2025.</a:t>
            </a:r>
            <a:endParaRPr lang="en-US" sz="1100" dirty="0"/>
          </a:p>
          <a:p>
            <a:pPr marL="0" indent="0">
              <a:spcAft>
                <a:spcPts val="500"/>
              </a:spcAft>
              <a:buNone/>
            </a:pPr>
            <a:r>
              <a:rPr lang="en-US" sz="1100" b="1" dirty="0">
                <a:solidFill>
                  <a:schemeClr val="accent1"/>
                </a:solidFill>
              </a:rPr>
              <a:t>[21]  </a:t>
            </a:r>
            <a:r>
              <a:rPr lang="en-US" sz="1100" dirty="0">
                <a:solidFill>
                  <a:schemeClr val="tx1"/>
                </a:solidFill>
              </a:rPr>
              <a:t>Elastic, “elastic/examples: Common Data Formats, nginx_logs,” GitHub (Apache-2.0).</a:t>
            </a:r>
            <a:endParaRPr lang="en-US" sz="1100" dirty="0"/>
          </a:p>
          <a:p>
            <a:pPr marL="0" indent="0">
              <a:spcAft>
                <a:spcPts val="500"/>
              </a:spcAft>
              <a:buNone/>
            </a:pPr>
            <a:r>
              <a:rPr lang="en-US" sz="1100" b="1" dirty="0">
                <a:solidFill>
                  <a:schemeClr val="accent1"/>
                </a:solidFill>
              </a:rPr>
              <a:t>[22]  </a:t>
            </a:r>
            <a:r>
              <a:rPr lang="en-US" sz="1100" dirty="0">
                <a:solidFill>
                  <a:schemeClr val="tx1"/>
                </a:solidFill>
              </a:rPr>
              <a:t>Google, “Timesketch: collaborative forensic timeline analysis,” GitHub google/timesketch.</a:t>
            </a:r>
            <a:endParaRPr lang="en-US" sz="1100" dirty="0"/>
          </a:p>
          <a:p>
            <a:pPr marL="0" indent="0">
              <a:spcAft>
                <a:spcPts val="500"/>
              </a:spcAft>
              <a:buNone/>
            </a:pPr>
            <a:r>
              <a:rPr lang="en-US" sz="1100" b="1" dirty="0">
                <a:solidFill>
                  <a:schemeClr val="accent1"/>
                </a:solidFill>
              </a:rPr>
              <a:t>[23]  </a:t>
            </a:r>
            <a:r>
              <a:rPr lang="en-US" sz="1100" dirty="0">
                <a:solidFill>
                  <a:schemeClr val="tx1"/>
                </a:solidFill>
              </a:rPr>
              <a:t>log2timeline project, “Plaso: super timeline all the things,” GitHub log2timeline/plaso.</a:t>
            </a:r>
            <a:endParaRPr lang="en-US" sz="1100" dirty="0"/>
          </a:p>
        </p:txBody>
      </p:sp>
      <p:sp>
        <p:nvSpPr>
          <p:cNvPr id="25" name="Slide Number Placeholder 0"/>
          <p:cNvSpPr>
            <a:spLocks noGrp="1"/>
          </p:cNvSpPr>
          <p:nvPr>
            <p:ph type="sldNum" sz="quarter" idx="4294967295"/>
          </p:nvPr>
        </p:nvSpPr>
        <p:spPr>
          <a:xfrm>
            <a:off x="10442448" y="6473952"/>
            <a:ext cx="64008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0000DC"/>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148840"/>
            <a:ext cx="11094415" cy="822960"/>
          </a:xfrm>
          <a:prstGeom prst="rect">
            <a:avLst/>
          </a:prstGeom>
          <a:noFill/>
          <a:ln/>
        </p:spPr>
        <p:txBody>
          <a:bodyPr wrap="square" lIns="0" tIns="0" rIns="0" bIns="0" rtlCol="0" anchor="ctr"/>
          <a:lstStyle/>
          <a:p>
            <a:pPr marL="0" indent="0" algn="ctr">
              <a:buNone/>
            </a:pPr>
            <a:r>
              <a:rPr lang="en-US" sz="3600" b="1" dirty="0">
                <a:solidFill>
                  <a:schemeClr val="accent1"/>
                </a:solidFill>
              </a:rPr>
              <a:t>Thank You for Your Attention!</a:t>
            </a:r>
            <a:endParaRPr lang="en-US" sz="3600" dirty="0"/>
          </a:p>
        </p:txBody>
      </p:sp>
      <p:sp>
        <p:nvSpPr>
          <p:cNvPr id="3" name="Text 0"/>
          <p:cNvSpPr>
            <a:spLocks noGrp="1"/>
          </p:cNvSpPr>
          <p:nvPr>
            <p:ph type="body" idx="101" hasCustomPrompt="1"/>
          </p:nvPr>
        </p:nvSpPr>
        <p:spPr>
          <a:xfrm>
            <a:off x="1463040" y="3108960"/>
            <a:ext cx="9262872" cy="2194560"/>
          </a:xfrm>
          <a:prstGeom prst="rect">
            <a:avLst/>
          </a:prstGeom>
          <a:noFill/>
          <a:ln/>
        </p:spPr>
        <p:txBody>
          <a:bodyPr wrap="square" lIns="0" tIns="0" rIns="0" bIns="0" rtlCol="0" anchor="t"/>
          <a:lstStyle/>
          <a:p>
            <a:pPr marL="0" indent="0" algn="ctr">
              <a:spcAft>
                <a:spcPts val="800"/>
              </a:spcAft>
              <a:buNone/>
            </a:pPr>
            <a:r>
              <a:rPr lang="en-US" sz="1600" b="1" dirty="0">
                <a:solidFill>
                  <a:schemeClr val="tx1"/>
                </a:solidFill>
              </a:rPr>
              <a:t>ARIXA Forensic Timeline  ·  A3-PS013-TC479</a:t>
            </a:r>
            <a:endParaRPr lang="en-US" sz="1600" dirty="0"/>
          </a:p>
          <a:p>
            <a:pPr marL="0" indent="0" algn="ctr">
              <a:spcAft>
                <a:spcPts val="800"/>
              </a:spcAft>
              <a:buNone/>
            </a:pPr>
            <a:r>
              <a:rPr lang="en-US" sz="1600" dirty="0">
                <a:solidFill>
                  <a:schemeClr val="tx1"/>
                </a:solidFill>
              </a:rPr>
              <a:t>Incident Timeline and Evidence Collection for Small Teams (PS-013)</a:t>
            </a:r>
            <a:endParaRPr lang="en-US" sz="1600" dirty="0"/>
          </a:p>
          <a:p>
            <a:pPr marL="0" indent="0" algn="ctr">
              <a:spcAft>
                <a:spcPts val="800"/>
              </a:spcAft>
              <a:buNone/>
            </a:pPr>
            <a:r>
              <a:rPr lang="en-US" sz="1600" dirty="0">
                <a:solidFill>
                  <a:schemeClr val="tx1"/>
                </a:solidFill>
              </a:rPr>
              <a:t>Komal Ganjave  ·  Yash Bhosale</a:t>
            </a:r>
            <a:endParaRPr lang="en-US" sz="1600" dirty="0"/>
          </a:p>
          <a:p>
            <a:pPr marL="0" indent="0" algn="ctr">
              <a:spcAft>
                <a:spcPts val="800"/>
              </a:spcAft>
              <a:buNone/>
            </a:pPr>
            <a:r>
              <a:rPr lang="en-US" sz="1600" dirty="0">
                <a:solidFill>
                  <a:schemeClr val="tx1"/>
                </a:solidFill>
              </a:rPr>
              <a:t>Live demo: </a:t>
            </a:r>
            <a:r>
              <a:rPr lang="en-US" sz="1600" u="sng" dirty="0">
                <a:solidFill>
                  <a:schemeClr val="accent1"/>
                </a:solidFill>
                <a:hlinkClick r:id="rId3">
                  <a:extLst>
                    <a:ext uri="{A12FA001-AC4F-418D-AE19-62706E023703}">
                      <ahyp:hlinkClr xmlns:ahyp="http://schemas.microsoft.com/office/drawing/2018/hyperlinkcolor" val="tx"/>
                    </a:ext>
                  </a:extLst>
                </a:hlinkClick>
              </a:rPr>
              <a:t>https://forensic-timeline-showcase-xwfgup.v2.appdeploy.ai/</a:t>
            </a:r>
            <a:endParaRPr lang="en-US" sz="1600" dirty="0"/>
          </a:p>
        </p:txBody>
      </p:sp>
      <p:pic>
        <p:nvPicPr>
          <p:cNvPr id="4" name="Image 0" descr="AIORI logo"/>
          <p:cNvPicPr>
            <a:picLocks noChangeAspect="1"/>
          </p:cNvPicPr>
          <p:nvPr/>
        </p:nvPicPr>
        <p:blipFill>
          <a:blip r:embed="rId4"/>
          <a:stretch>
            <a:fillRect/>
          </a:stretch>
        </p:blipFill>
        <p:spPr>
          <a:xfrm>
            <a:off x="5638648" y="868680"/>
            <a:ext cx="914400" cy="905256"/>
          </a:xfrm>
          <a:prstGeom prst="rect">
            <a:avLst/>
          </a:prstGeom>
        </p:spPr>
      </p:pic>
    </p:spTree>
  </p:cSld>
  <p:clrMapOvr>
    <a:masterClrMapping/>
  </p:clrMapOvr>
</p:sld>
</file>

<file path=ppt/theme/theme1.xml><?xml version="1.0" encoding="utf-8"?>
<a:theme xmlns:a="http://schemas.openxmlformats.org/drawingml/2006/main" name="AIORI 3 ARIXA">
  <a:themeElements>
    <a:clrScheme name="AIORI 3 ARIXA">
      <a:dk1>
        <a:srgbClr val="1A1A2E"/>
      </a:dk1>
      <a:lt1>
        <a:srgbClr val="FFFFFF"/>
      </a:lt1>
      <a:dk2>
        <a:srgbClr val="0B1F4D"/>
      </a:dk2>
      <a:lt2>
        <a:srgbClr val="EEF1FC"/>
      </a:lt2>
      <a:accent1>
        <a:srgbClr val="0000DC"/>
      </a:accent1>
      <a:accent2>
        <a:srgbClr val="0F766E"/>
      </a:accent2>
      <a:accent3>
        <a:srgbClr val="C2410C"/>
      </a:accent3>
      <a:accent4>
        <a:srgbClr val="B91C1C"/>
      </a:accent4>
      <a:accent5>
        <a:srgbClr val="15803D"/>
      </a:accent5>
      <a:accent6>
        <a:srgbClr val="64748B"/>
      </a:accent6>
      <a:hlink>
        <a:srgbClr val="0000DC"/>
      </a:hlink>
      <a:folHlink>
        <a:srgbClr val="5B21B6"/>
      </a:folHlink>
    </a:clrScheme>
    <a:fontScheme name="AIORI 3 ARIX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3569</Words>
  <Application>Microsoft Office PowerPoint</Application>
  <PresentationFormat>Widescreen</PresentationFormat>
  <Paragraphs>411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AIORI 3 ARIXA</vt:lpstr>
      <vt:lpstr>A3-PS013-TC479</vt:lpstr>
      <vt:lpstr>Problem Description</vt:lpstr>
      <vt:lpstr>Background</vt:lpstr>
      <vt:lpstr>Literature &amp; RFC Review</vt:lpstr>
      <vt:lpstr>Proposed Solution</vt:lpstr>
      <vt:lpstr>Optimization Proposed</vt:lpstr>
      <vt:lpstr>Solution Architecture &amp; Design</vt:lpstr>
      <vt:lpstr>Data Flow Diagram</vt:lpstr>
      <vt:lpstr>Deployment Timeline</vt:lpstr>
      <vt:lpstr>Bibliography</vt:lpstr>
      <vt:lpstr>Thank You for Your Attention!</vt:lpstr>
    </vt:vector>
  </TitlesOfParts>
  <Company>AIORI Hackathon 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A3-PS013-TC479 - Incident Timeline and Evidence Collection for Small Teams (ARIXA Forensic Timeline)</dc:title>
  <dc:subject>AIORI Hackathon 3 - PS-013 proposal: DFIR incident timeline reconstruction, evidence collection, chain of custody, UTC normalisation, MITRE ATT&amp;CK detection</dc:subject>
  <dc:creator>Komal Ganjave;Yash Bhosale</dc:creator>
  <cp:keywords>DFIR; digital forensics; incident response; incident timeline; timeline reconstruction; evidence collection; chain of custody; SHA-256; evidence integrity; log analysis; log parsing; log normalisation; UTC; time zones; DST; clock skew; MITRE ATT&amp;CK; kill chain; threat detection; SOC; blue team; Linux auth.log; Nginx; Apache; syslog; RFC 3164; RFC 5424; RFC 3339; RFC 3227; NIST SP 800-86; Python; Streamlit; SQLite; TypeScript; Google Gemini; responsible AI; AIORI-3; PS-013; A3-PS013-TC479; ARIXA Forensic Timeline</cp:keywords>
  <dc:description>AIORI Hackathon 3 proposal for PS-013, Incident Timeline and Evidence Collection for Small Teams, by team A3-PS013-TC479 (Komal Ganjave, Yash Bhosale). ARIXA Forensic Timeline hashes collected logs with SHA-256, keeps a chain of custody, normalises Linux auth.log and Nginx/Apache access logs to one UTC timeline with time-zone, DST and clock-skew correction, flags attacks with MITRE ATT&amp;CK-mapped rules and exports an incident report.</dc:description>
  <cp:lastModifiedBy>yash bhosale</cp:lastModifiedBy>
  <cp:revision>2</cp:revision>
  <dcterms:created xsi:type="dcterms:W3CDTF">2026-10-14T10:00:54Z</dcterms:created>
  <dcterms:modified xsi:type="dcterms:W3CDTF">2026-10-14T10:17:52Z</dcterms:modified>
</cp:coreProperties>
</file>